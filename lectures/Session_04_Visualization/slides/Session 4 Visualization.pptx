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</p:sldIdLst>
  <p:sldSz cx="12192000" cy="6858000"/>
  <p:notesSz cx="6858000" cy="9144000"/>
  <p:embeddedFontLst>
    <p:embeddedFont>
      <p:font typeface="Merriweather" pitchFamily="2" charset="77"/>
      <p:regular r:id="rId33"/>
      <p:bold r:id="rId34"/>
      <p:italic r:id="rId35"/>
      <p:boldItalic r:id="rId36"/>
    </p:embeddedFont>
    <p:embeddedFont>
      <p:font typeface="Merriweather Black" pitchFamily="2" charset="77"/>
      <p:bold r:id="rId37"/>
      <p:italic r:id="rId38"/>
      <p:boldItalic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886866"/>
            <a:ext cx="11049000" cy="508411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2050" y="1648866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5352" y="2018407"/>
            <a:ext cx="10361295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Session 4: Visualizing Clinical Data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62050" y="3709987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Building Dashboards and QC Charts with ggplot2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4456658"/>
            <a:ext cx="9867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Instructor: Dr. Gu Haogao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62050" y="4963269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January 14, 2026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95325" y="1010690"/>
            <a:ext cx="10801350" cy="4836471"/>
          </a:xfrm>
          <a:prstGeom prst="rect">
            <a:avLst/>
          </a:prstGeom>
          <a:noFill/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Table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10,000 rows of numbers.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Computers love it.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Humans cannot spot errors.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Plot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Visual patterns.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Humans love it.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91C1C"/>
                </a:solidFill>
                <a:latin typeface="Open Sans"/>
                <a:ea typeface="Open Sans"/>
                <a:cs typeface="Open Sans"/>
                <a:sym typeface="Open Sans"/>
              </a:rPr>
              <a:t>"The outlier screams at you."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5480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75480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"Black Box" Problem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216943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"Grammar of Graphics"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76165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build a plot layer by layer, just like Photoshop or a sandwich.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333500" y="358437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Reproducible: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Code-based (not point-and-click).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333500" y="4492823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Scalable: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Handles millions of points.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333500" y="5066109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Standardized: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Consistent look for every report.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Introducing ggplot2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62247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53092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10420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ata visualization with R and ggplot2 | the R Graph Gallery">
            <a:extLst>
              <a:ext uri="{FF2B5EF4-FFF2-40B4-BE49-F238E27FC236}">
                <a16:creationId xmlns:a16="http://schemas.microsoft.com/office/drawing/2014/main" id="{6C16B5A3-3751-842B-912F-8D45707B9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504" y="81021"/>
            <a:ext cx="939954" cy="109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visualization with ggplot2 :: Cheat Sheet">
            <a:extLst>
              <a:ext uri="{FF2B5EF4-FFF2-40B4-BE49-F238E27FC236}">
                <a16:creationId xmlns:a16="http://schemas.microsoft.com/office/drawing/2014/main" id="{EA2E35D5-FE46-10F1-57D5-B7A2F4C93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1915770"/>
            <a:ext cx="6138662" cy="47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5144"/>
            <a:ext cx="3492549" cy="281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85144"/>
            <a:ext cx="3492549" cy="281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85144"/>
            <a:ext cx="3492549" cy="281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94225" y="3718619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1. Data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4413944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raw dataframe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72524" y="3718619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2. Aesthetics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45074" y="4413944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Mapping data to visuals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50824" y="3718619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3. Geometry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3374" y="4413944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shape of the data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966144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9661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96614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3 Pillars of a Plot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984920" y="4542532"/>
            <a:ext cx="8222009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Golden Rule: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+ sign connects the layers. It MUST go at the end of the line!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Syntax Template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3305175" y="3085207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ggplot2 is not in "Base R". We must load it from the shelf.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0: Load the Library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2826246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Check if patient data follows a Normal Distribution.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488721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Is it skewed? Are there two peaks (batch effect)?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Geom 1: The Histogram (Distribution)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2BE3DF-5BF4-C389-EF07-51EAC9347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650" y="1187450"/>
            <a:ext cx="6591300" cy="572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3548062" y="297566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Make it look scientific by adding color and binwidth.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Customizing the Histogram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260717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Compare results between groups (Male vs Female, Machine A vs B).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510629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Shows Median, IQR, and Outliers.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Geom 2: The Boxplot (Comparisons)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406692-DC33-5E98-B682-FAA3E5E23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825" y="1743075"/>
            <a:ext cx="63246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71500" y="288428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Comparing two continuous variables.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482917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Are older patients getting sicker?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Geom 3: The Scatter Plot (Correlation)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AC0E47-E735-C56B-470B-D0C536443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084489"/>
            <a:ext cx="5773511" cy="5773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4362450" y="2741414"/>
            <a:ext cx="3467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QC Levey-Jennings Chart.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3695700" y="497205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Tracking values over time to spot trends or drifts.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Geom 4: The Line Plot (Time Series)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3733800" y="2522339"/>
            <a:ext cx="47244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 chart needs context. We draw the "Limit Line".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2990850" y="5191125"/>
            <a:ext cx="62103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Any point above the red line is instantly recognizable as critical.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Layering: Adding Thresholds</a:t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3971925" y="2522339"/>
            <a:ext cx="42481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Don't just color it blue. Color it by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meaning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2600325" y="5191125"/>
            <a:ext cx="6991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 automatically creates a legend and assigns colors to each Instrument.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Mapping Color to Data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571500" y="286047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Problem: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10 instruments on one chart is messy.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571500" y="340518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Faceting.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Faceting (Small Multiples)</a:t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CFB3FD-6582-D54E-C922-0853C42E3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725" y="1470025"/>
            <a:ext cx="61468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/>
        </p:nvSpPr>
        <p:spPr>
          <a:xfrm>
            <a:off x="3148012" y="2508051"/>
            <a:ext cx="5895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Remove the default grey background for a professional look.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3228826" y="5176837"/>
            <a:ext cx="573434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theme_bw() is best for clinical reports (saves printer ink).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Themes (Publication Ready)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 txBox="1"/>
          <p:nvPr/>
        </p:nvSpPr>
        <p:spPr>
          <a:xfrm>
            <a:off x="2886075" y="3085207"/>
            <a:ext cx="6419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Don't take screenshots. Export high-res images programmatically.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Saving Plots</a:t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09019"/>
            <a:ext cx="3492549" cy="1763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109019"/>
            <a:ext cx="3492549" cy="1763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109019"/>
            <a:ext cx="3492549" cy="176391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/>
        </p:nvSpPr>
        <p:spPr>
          <a:xfrm>
            <a:off x="794225" y="340429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1. Base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866775" y="409961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Plot Points &amp; Lines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4572524" y="340429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2. Context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4645074" y="409961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Add Mean Line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8350824" y="340429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3. Limits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8423374" y="409961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Add +/- 2SD Lines</a:t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Practice: The Levey-Jennings Plan</a:t>
            </a:r>
            <a:endParaRPr dirty="0"/>
          </a:p>
        </p:txBody>
      </p:sp>
      <p:sp>
        <p:nvSpPr>
          <p:cNvPr id="274" name="Google Shape;274;p2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4625131" y="2486322"/>
            <a:ext cx="3703736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geom_point(): Scatter Plot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4625131" y="3088183"/>
            <a:ext cx="3703736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geom_line(): Time Series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4625131" y="3690044"/>
            <a:ext cx="3703736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geom_bar(): Counts</a:t>
            </a:r>
            <a:endParaRPr/>
          </a:p>
        </p:txBody>
      </p:sp>
      <p:sp>
        <p:nvSpPr>
          <p:cNvPr id="283" name="Google Shape;283;p30"/>
          <p:cNvSpPr txBox="1"/>
          <p:nvPr/>
        </p:nvSpPr>
        <p:spPr>
          <a:xfrm>
            <a:off x="4625131" y="4291905"/>
            <a:ext cx="3703736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geom_boxplot(): Stats Comparison</a:t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>
            <a:off x="4625131" y="4893766"/>
            <a:ext cx="3703736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geom_histogram(): Distribution</a:t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of Geometries</a:t>
            </a:r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131" y="25244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131" y="312628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131" y="37281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131" y="43300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131" y="493186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1"/>
          <p:cNvSpPr txBox="1"/>
          <p:nvPr/>
        </p:nvSpPr>
        <p:spPr>
          <a:xfrm>
            <a:off x="4367063" y="2486322"/>
            <a:ext cx="421972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x, y: Position coordinates</a:t>
            </a:r>
            <a:endParaRPr/>
          </a:p>
        </p:txBody>
      </p:sp>
      <p:sp>
        <p:nvSpPr>
          <p:cNvPr id="298" name="Google Shape;298;p31"/>
          <p:cNvSpPr txBox="1"/>
          <p:nvPr/>
        </p:nvSpPr>
        <p:spPr>
          <a:xfrm>
            <a:off x="4367063" y="3088183"/>
            <a:ext cx="421972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color: Line/Point color (outline)</a:t>
            </a:r>
            <a:endParaRPr/>
          </a:p>
        </p:txBody>
      </p:sp>
      <p:sp>
        <p:nvSpPr>
          <p:cNvPr id="299" name="Google Shape;299;p31"/>
          <p:cNvSpPr txBox="1"/>
          <p:nvPr/>
        </p:nvSpPr>
        <p:spPr>
          <a:xfrm>
            <a:off x="4367063" y="3690044"/>
            <a:ext cx="421972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fill: Bar/Box color (inside)</a:t>
            </a: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4367063" y="4291905"/>
            <a:ext cx="421972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size: Size of points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4367063" y="4893766"/>
            <a:ext cx="421972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alpha: Transparency (0=invisible, 1=solid)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of Aesthetics</a:t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063" y="25244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063" y="312628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063" y="37281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063" y="43300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063" y="493186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86953"/>
            <a:ext cx="8839200" cy="608409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 txBox="1"/>
          <p:nvPr/>
        </p:nvSpPr>
        <p:spPr>
          <a:xfrm>
            <a:off x="2255519" y="1148953"/>
            <a:ext cx="768096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EFCE8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4: The QC Trend Analysis</a:t>
            </a:r>
            <a:endParaRPr/>
          </a:p>
        </p:txBody>
      </p:sp>
      <p:sp>
        <p:nvSpPr>
          <p:cNvPr id="316" name="Google Shape;316;p32"/>
          <p:cNvSpPr/>
          <p:nvPr/>
        </p:nvSpPr>
        <p:spPr>
          <a:xfrm>
            <a:off x="5619750" y="2768203"/>
            <a:ext cx="952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2438400" y="3073003"/>
            <a:ext cx="73152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Goal: Build a Monthly Levey-Jennings Chart to compare two instruments.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5057775" y="4141589"/>
            <a:ext cx="20764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1. Load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5057775" y="4686300"/>
            <a:ext cx="20764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2. Visualize Trend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5057775" y="5231010"/>
            <a:ext cx="20764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3. Add QC Limits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321" name="Google Shape;32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7775" y="420826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57775" y="47529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57775" y="529768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Load Data</a:t>
            </a:r>
            <a:endParaRPr/>
          </a:p>
        </p:txBody>
      </p:sp>
      <p:sp>
        <p:nvSpPr>
          <p:cNvPr id="330" name="Google Shape;330;p3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571500" y="3436979"/>
            <a:ext cx="1104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library(ggplot2)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&lt;- "https://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raw.githubusercontent.com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/.../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daily_qc_trend.csv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qc_data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&lt;-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read.csv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# Check head(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qc_data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endParaRPr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4300537" y="2647057"/>
            <a:ext cx="3590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Ensure Date is recognized, then plot.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Basic Time Series</a:t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5"/>
          <p:cNvSpPr txBox="1"/>
          <p:nvPr/>
        </p:nvSpPr>
        <p:spPr>
          <a:xfrm>
            <a:off x="3167062" y="3438525"/>
            <a:ext cx="5857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lines overlap. It is hard to see which machine is drifting.</a:t>
            </a:r>
            <a:endParaRPr/>
          </a:p>
        </p:txBody>
      </p:sp>
      <p:sp>
        <p:nvSpPr>
          <p:cNvPr id="346" name="Google Shape;346;p35"/>
          <p:cNvSpPr txBox="1"/>
          <p:nvPr/>
        </p:nvSpPr>
        <p:spPr>
          <a:xfrm>
            <a:off x="4876800" y="4183260"/>
            <a:ext cx="24384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Solution: Faceting.</a:t>
            </a:r>
            <a:endParaRPr/>
          </a:p>
        </p:txBody>
      </p:sp>
      <p:sp>
        <p:nvSpPr>
          <p:cNvPr id="347" name="Google Shape;347;p3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Interpreting the Mess</a:t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6"/>
          <p:cNvSpPr txBox="1"/>
          <p:nvPr/>
        </p:nvSpPr>
        <p:spPr>
          <a:xfrm>
            <a:off x="4576762" y="2756594"/>
            <a:ext cx="3038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Split into two panels for clarity.</a:t>
            </a:r>
            <a:endParaRPr/>
          </a:p>
        </p:txBody>
      </p:sp>
      <p:sp>
        <p:nvSpPr>
          <p:cNvPr id="355" name="Google Shape;355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Faceting</a:t>
            </a:r>
            <a:endParaRPr/>
          </a:p>
        </p:txBody>
      </p:sp>
      <p:sp>
        <p:nvSpPr>
          <p:cNvPr id="356" name="Google Shape;356;p3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7"/>
          <p:cNvSpPr txBox="1"/>
          <p:nvPr/>
        </p:nvSpPr>
        <p:spPr>
          <a:xfrm>
            <a:off x="4295775" y="2844403"/>
            <a:ext cx="3600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Known Values: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Mean = 5.0, SD = 0.2</a:t>
            </a:r>
            <a:endParaRPr/>
          </a:p>
        </p:txBody>
      </p:sp>
      <p:sp>
        <p:nvSpPr>
          <p:cNvPr id="363" name="Google Shape;363;p37"/>
          <p:cNvSpPr txBox="1"/>
          <p:nvPr/>
        </p:nvSpPr>
        <p:spPr>
          <a:xfrm>
            <a:off x="5343525" y="3474839"/>
            <a:ext cx="2266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Mean: 5.0 (Black Line)</a:t>
            </a:r>
            <a:endParaRPr/>
          </a:p>
        </p:txBody>
      </p:sp>
      <p:sp>
        <p:nvSpPr>
          <p:cNvPr id="364" name="Google Shape;364;p37"/>
          <p:cNvSpPr txBox="1"/>
          <p:nvPr/>
        </p:nvSpPr>
        <p:spPr>
          <a:xfrm>
            <a:off x="5343525" y="4048125"/>
            <a:ext cx="2266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+2SD: 5.4 (Red Dashed)</a:t>
            </a:r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5343525" y="4621410"/>
            <a:ext cx="2266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-2SD: 4.6 (Red Dashed)</a:t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Adding QC Limits</a:t>
            </a:r>
            <a:endParaRPr/>
          </a:p>
        </p:txBody>
      </p:sp>
      <p:sp>
        <p:nvSpPr>
          <p:cNvPr id="367" name="Google Shape;367;p3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351293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40862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4659510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6: Code for Limits</a:t>
            </a:r>
            <a:endParaRPr/>
          </a:p>
        </p:txBody>
      </p:sp>
      <p:sp>
        <p:nvSpPr>
          <p:cNvPr id="377" name="Google Shape;377;p3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8"/>
          <p:cNvSpPr txBox="1"/>
          <p:nvPr/>
        </p:nvSpPr>
        <p:spPr>
          <a:xfrm>
            <a:off x="571500" y="3683199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geom_hline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yintercept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5.0, color = "black")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geom_hline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yintercept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5.4, color = "red",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linetype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"dashed")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geom_hline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yintercept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4.6, color = "red",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linetype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"dashed") </a:t>
            </a:r>
            <a:endParaRPr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9"/>
          <p:cNvSpPr txBox="1"/>
          <p:nvPr/>
        </p:nvSpPr>
        <p:spPr>
          <a:xfrm>
            <a:off x="4810125" y="2866132"/>
            <a:ext cx="2571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Add title and clean theme.</a:t>
            </a:r>
            <a:endParaRPr/>
          </a:p>
        </p:txBody>
      </p:sp>
      <p:sp>
        <p:nvSpPr>
          <p:cNvPr id="385" name="Google Shape;385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7: Final Polish</a:t>
            </a:r>
            <a:endParaRPr/>
          </a:p>
        </p:txBody>
      </p:sp>
      <p:sp>
        <p:nvSpPr>
          <p:cNvPr id="386" name="Google Shape;386;p3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0"/>
          <p:cNvSpPr txBox="1"/>
          <p:nvPr/>
        </p:nvSpPr>
        <p:spPr>
          <a:xfrm>
            <a:off x="96202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B</a:t>
            </a:r>
            <a:endParaRPr/>
          </a:p>
        </p:txBody>
      </p:sp>
      <p:sp>
        <p:nvSpPr>
          <p:cNvPr id="395" name="Google Shape;395;p40"/>
          <p:cNvSpPr txBox="1"/>
          <p:nvPr/>
        </p:nvSpPr>
        <p:spPr>
          <a:xfrm>
            <a:off x="96202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Flat line.</a:t>
            </a:r>
            <a:endParaRPr/>
          </a:p>
        </p:txBody>
      </p:sp>
      <p:sp>
        <p:nvSpPr>
          <p:cNvPr id="396" name="Google Shape;396;p40"/>
          <p:cNvSpPr txBox="1"/>
          <p:nvPr/>
        </p:nvSpPr>
        <p:spPr>
          <a:xfrm>
            <a:off x="96202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Very precise.</a:t>
            </a:r>
            <a:endParaRPr/>
          </a:p>
        </p:txBody>
      </p:sp>
      <p:sp>
        <p:nvSpPr>
          <p:cNvPr id="397" name="Google Shape;397;p40"/>
          <p:cNvSpPr txBox="1"/>
          <p:nvPr/>
        </p:nvSpPr>
        <p:spPr>
          <a:xfrm>
            <a:off x="96202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PASS</a:t>
            </a:r>
            <a:endParaRPr/>
          </a:p>
        </p:txBody>
      </p:sp>
      <p:sp>
        <p:nvSpPr>
          <p:cNvPr id="398" name="Google Shape;398;p40"/>
          <p:cNvSpPr txBox="1"/>
          <p:nvPr/>
        </p:nvSpPr>
        <p:spPr>
          <a:xfrm>
            <a:off x="677227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A</a:t>
            </a: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677227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Bouncing around.</a:t>
            </a:r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677227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Point on Jan 14 is 5.8 (&gt; 3SD).</a:t>
            </a:r>
            <a:endParaRPr/>
          </a:p>
        </p:txBody>
      </p:sp>
      <p:sp>
        <p:nvSpPr>
          <p:cNvPr id="401" name="Google Shape;401;p40"/>
          <p:cNvSpPr txBox="1"/>
          <p:nvPr/>
        </p:nvSpPr>
        <p:spPr>
          <a:xfrm>
            <a:off x="677227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91C1C"/>
                </a:solidFill>
                <a:latin typeface="Open Sans"/>
                <a:ea typeface="Open Sans"/>
                <a:cs typeface="Open Sans"/>
                <a:sym typeface="Open Sans"/>
              </a:rPr>
              <a:t>FAIL (Outlier)</a:t>
            </a:r>
            <a:endParaRPr/>
          </a:p>
        </p:txBody>
      </p:sp>
      <p:sp>
        <p:nvSpPr>
          <p:cNvPr id="402" name="Google Shape;402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Analysis: The Diagnosis</a:t>
            </a:r>
            <a:endParaRPr/>
          </a:p>
        </p:txBody>
      </p:sp>
      <p:sp>
        <p:nvSpPr>
          <p:cNvPr id="403" name="Google Shape;403;p4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1"/>
          <p:cNvSpPr txBox="1"/>
          <p:nvPr/>
        </p:nvSpPr>
        <p:spPr>
          <a:xfrm>
            <a:off x="4886325" y="3085207"/>
            <a:ext cx="2419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Save your clinical report.</a:t>
            </a:r>
            <a:endParaRPr/>
          </a:p>
        </p:txBody>
      </p:sp>
      <p:sp>
        <p:nvSpPr>
          <p:cNvPr id="410" name="Google Shape;410;p4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8: Export</a:t>
            </a:r>
            <a:endParaRPr/>
          </a:p>
        </p:txBody>
      </p:sp>
      <p:sp>
        <p:nvSpPr>
          <p:cNvPr id="411" name="Google Shape;411;p4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B60BC-805B-15D2-81A8-C2618EF9B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81" y="0"/>
            <a:ext cx="685060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42837-DB2E-C209-80C5-7FD40180A23E}"/>
              </a:ext>
            </a:extLst>
          </p:cNvPr>
          <p:cNvSpPr txBox="1"/>
          <p:nvPr/>
        </p:nvSpPr>
        <p:spPr>
          <a:xfrm>
            <a:off x="285750" y="208508"/>
            <a:ext cx="47226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https://</a:t>
            </a:r>
            <a:r>
              <a:rPr lang="en-US" sz="4400" dirty="0" err="1"/>
              <a:t>github.com</a:t>
            </a:r>
            <a:r>
              <a:rPr lang="en-US" sz="4400" dirty="0"/>
              <a:t>/</a:t>
            </a:r>
            <a:r>
              <a:rPr lang="en-US" sz="4400" dirty="0" err="1"/>
              <a:t>Koohoko</a:t>
            </a:r>
            <a:r>
              <a:rPr lang="en-US" sz="4400" dirty="0"/>
              <a:t>/MSc_Module3_Programming_BioData_HKUSpacce_2026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4FA4A-E022-C026-F4BD-729C7300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89" y="3686383"/>
            <a:ext cx="3061389" cy="30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0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820</Words>
  <Application>Microsoft Macintosh PowerPoint</Application>
  <PresentationFormat>Widescreen</PresentationFormat>
  <Paragraphs>113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Open Sans</vt:lpstr>
      <vt:lpstr>Merriweather Black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8</cp:revision>
  <dcterms:modified xsi:type="dcterms:W3CDTF">2026-01-05T06:17:12Z</dcterms:modified>
</cp:coreProperties>
</file>