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embeddedFontLst>
    <p:embeddedFont>
      <p:font typeface="Merriweather" pitchFamily="2" charset="77"/>
      <p:regular r:id="rId36"/>
      <p:bold r:id="rId37"/>
      <p:italic r:id="rId38"/>
      <p:boldItalic r:id="rId39"/>
    </p:embeddedFont>
    <p:embeddedFont>
      <p:font typeface="Merriweather Black" pitchFamily="2" charset="77"/>
      <p:bold r:id="rId40"/>
      <p:boldItalic r:id=""/>
    </p:embeddedFont>
    <p:embeddedFont>
      <p:font typeface="Open Sans" panose="020B060603050402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9D7603D-504B-419E-8346-39DC652AA468}">
  <a:tblStyle styleId="{C9D7603D-504B-419E-8346-39DC652AA46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04"/>
    <p:restoredTop sz="94706"/>
  </p:normalViewPr>
  <p:slideViewPr>
    <p:cSldViewPr snapToGrid="0">
      <p:cViewPr varScale="1">
        <p:scale>
          <a:sx n="150" d="100"/>
          <a:sy n="150" d="100"/>
        </p:scale>
        <p:origin x="160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886866"/>
            <a:ext cx="11049000" cy="508411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62050" y="1648866"/>
            <a:ext cx="98679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MODULE 3: PROGRAMMING FOR BIOLOGICAL DATA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15352" y="2018407"/>
            <a:ext cx="10361295" cy="146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0F172A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Session 3: Logic and Control Flow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62050" y="3709987"/>
            <a:ext cx="98679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Building the "Auto-Verifier": If/Else and Loops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162050" y="4456658"/>
            <a:ext cx="98679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Instructor: Dr. Gu Haogao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162050" y="4963269"/>
            <a:ext cx="98679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January 12, 2026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695325" y="1010690"/>
            <a:ext cx="10801350" cy="4836471"/>
          </a:xfrm>
          <a:prstGeom prst="rect">
            <a:avLst/>
          </a:prstGeom>
          <a:noFill/>
          <a:ln w="95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6183"/>
            <a:ext cx="5238750" cy="3329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326183"/>
            <a:ext cx="5238750" cy="332958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962025" y="2716708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Session 1 &amp; 2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62025" y="3412033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We built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"Test Tubes"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(Variables).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62025" y="4099619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We built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"Batches"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(Vectors).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62025" y="4787205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We built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"Worksheets"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(Data Frames).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772275" y="2716708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The Missing Link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72275" y="3412033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Right now, R is just a powerful calculator.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772275" y="4099619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We need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Automation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772275" y="4787205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B91C1C"/>
                </a:solidFill>
                <a:latin typeface="Open Sans"/>
                <a:ea typeface="Open Sans"/>
                <a:cs typeface="Open Sans"/>
                <a:sym typeface="Open Sans"/>
              </a:rPr>
              <a:t>"IF result &gt; 6.5, THEN flag it."</a:t>
            </a:r>
            <a:endParaRPr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754808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2754808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Recap: The Digital Lab So Far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859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1500" y="2585442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Every time you sign off a result, you run a logical test in your brain.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5128021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In programming, this is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Boolean Logic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333500" y="3408164"/>
            <a:ext cx="4476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Is the QC within 2SD? (Yes/No)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333500" y="3981450"/>
            <a:ext cx="4476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Is the patient HbA1c &gt; 6.5%? (Yes/No)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333500" y="4554735"/>
            <a:ext cx="4476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Is the sample hemolyzed? (Yes/No)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Concept: Logic in the Lab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344626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401955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459283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Flowchart - Wikipedia">
            <a:extLst>
              <a:ext uri="{FF2B5EF4-FFF2-40B4-BE49-F238E27FC236}">
                <a16:creationId xmlns:a16="http://schemas.microsoft.com/office/drawing/2014/main" id="{ADFE6359-D3D5-940F-8471-679AE40C4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00" y="1676400"/>
            <a:ext cx="31750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18482"/>
            <a:ext cx="5381625" cy="2811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618482"/>
            <a:ext cx="5381625" cy="281166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3557587" y="1997571"/>
            <a:ext cx="5076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There are two reserved words in R that define truth.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4400550" y="5715892"/>
            <a:ext cx="33909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Note: Must be all CAPS. No quotes.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34866" y="3751957"/>
            <a:ext cx="494061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TRUE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952500" y="4447282"/>
            <a:ext cx="47053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condition is met.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502241" y="3751957"/>
            <a:ext cx="494061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FALSE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619875" y="4447282"/>
            <a:ext cx="47053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condition is not met.</a:t>
            </a:r>
            <a:endParaRPr/>
          </a:p>
        </p:txBody>
      </p:sp>
      <p:pic>
        <p:nvPicPr>
          <p:cNvPr id="141" name="Google Shape;14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95625" y="2999482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96337" y="2999482"/>
            <a:ext cx="35242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Boolean Logic: The Foundation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889051"/>
            <a:ext cx="5238750" cy="220384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1" name="Google Shape;151;p17"/>
          <p:cNvGraphicFramePr/>
          <p:nvPr>
            <p:extLst>
              <p:ext uri="{D42A27DB-BD31-4B8C-83A1-F6EECF244321}">
                <p14:modId xmlns:p14="http://schemas.microsoft.com/office/powerpoint/2010/main" val="227862911"/>
              </p:ext>
            </p:extLst>
          </p:nvPr>
        </p:nvGraphicFramePr>
        <p:xfrm>
          <a:off x="571500" y="2924175"/>
          <a:ext cx="3829050" cy="2377440"/>
        </p:xfrm>
        <a:graphic>
          <a:graphicData uri="http://schemas.openxmlformats.org/drawingml/2006/table">
            <a:tbl>
              <a:tblPr firstRow="1" bandRow="1">
                <a:noFill/>
                <a:tableStyleId>{C9D7603D-504B-419E-8346-39DC652AA468}</a:tableStyleId>
              </a:tblPr>
              <a:tblGrid>
                <a:gridCol w="1071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Symbol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Meaning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==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Is equal to? (Double equals!)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!=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Is NOT equal to?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&lt;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Less than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&gt;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Greater than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&gt;=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Greater than or equal to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2" name="Google Shape;152;p17"/>
          <p:cNvSpPr txBox="1"/>
          <p:nvPr/>
        </p:nvSpPr>
        <p:spPr>
          <a:xfrm>
            <a:off x="6667500" y="3174801"/>
            <a:ext cx="490061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B91C1C"/>
                </a:solidFill>
                <a:latin typeface="Merriweather"/>
                <a:ea typeface="Merriweather"/>
                <a:cs typeface="Merriweather"/>
                <a:sym typeface="Merriweather"/>
              </a:rPr>
              <a:t>Common Mistake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667500" y="3727251"/>
            <a:ext cx="4667250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= assigns a value.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667500" y="4300537"/>
            <a:ext cx="4667250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== compares values.</a:t>
            </a:r>
            <a:endParaRPr/>
          </a:p>
        </p:txBody>
      </p:sp>
      <p:pic>
        <p:nvPicPr>
          <p:cNvPr id="155" name="Google Shape;15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0" y="321290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Asking Questions (Operators)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4291012" y="2427982"/>
            <a:ext cx="36099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We give R numbers, it gives us Truth.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Practice: Asking R Questions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8597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859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1333500" y="2661642"/>
            <a:ext cx="4476750" cy="698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&amp;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(AND)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: Both must be TRUE.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1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"QC Pass AND Patient Negative"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1333500" y="3598664"/>
            <a:ext cx="4476750" cy="698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|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(OR)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: At least one must be TRUE.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1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"Result Low OR Result High"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1333500" y="4535685"/>
            <a:ext cx="4476750" cy="698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!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(NOT)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: Reverse the logic.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1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"NOT Healthy"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Logical Operators (Combining)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269974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363676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4573785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571500" y="2702421"/>
            <a:ext cx="5238750" cy="698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if statement is a gatekeeper. Code inside is a restricted area.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571500" y="5011042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 only opens the gate if the condition is TRUE.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Conditional: if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Conditional operating using if-else in R">
            <a:extLst>
              <a:ext uri="{FF2B5EF4-FFF2-40B4-BE49-F238E27FC236}">
                <a16:creationId xmlns:a16="http://schemas.microsoft.com/office/drawing/2014/main" id="{0BA07895-0682-0755-A75E-030030142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08792"/>
            <a:ext cx="5815541" cy="296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3651498" y="4479726"/>
            <a:ext cx="4889003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Output: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[1] "CRITICAL ALERT: CALL WARD"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3538537" y="5195887"/>
            <a:ext cx="51149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If potassium was 4.0, nothing would happen. Silence.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Example: The Safety Guard</a:t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2910780" y="2508051"/>
            <a:ext cx="6370439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else block catches everything that didn't pass the first test.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3814762" y="5205412"/>
            <a:ext cx="45624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This ensures every sample gets a classification.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Alternative: else</a:t>
            </a: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3"/>
          <p:cNvSpPr txBox="1"/>
          <p:nvPr/>
        </p:nvSpPr>
        <p:spPr>
          <a:xfrm>
            <a:off x="2700337" y="2303264"/>
            <a:ext cx="6791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Medicine isn't just High/Low. It's often Low, Normal, Borderline, High.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3676650" y="5410200"/>
            <a:ext cx="4838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 checks in order. The first one that is TRUE wins.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Clinical Ladder: else if</a:t>
            </a:r>
            <a:endParaRPr/>
          </a:p>
        </p:txBody>
      </p:sp>
      <p:sp>
        <p:nvSpPr>
          <p:cNvPr id="218" name="Google Shape;218;p23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0" y="2093714"/>
            <a:ext cx="8839200" cy="3030587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 txBox="1"/>
          <p:nvPr/>
        </p:nvSpPr>
        <p:spPr>
          <a:xfrm>
            <a:off x="2462212" y="5410051"/>
            <a:ext cx="72675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Keep this logic in mind. We will build an auto-verifier for this in the tutorial.</a:t>
            </a:r>
            <a:endParaRPr/>
          </a:p>
        </p:txBody>
      </p:sp>
      <p:sp>
        <p:nvSpPr>
          <p:cNvPr id="226" name="Google Shape;226;p24"/>
          <p:cNvSpPr txBox="1"/>
          <p:nvPr/>
        </p:nvSpPr>
        <p:spPr>
          <a:xfrm>
            <a:off x="1855469" y="2474714"/>
            <a:ext cx="84810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Diagnostic Criteria (ADA)</a:t>
            </a:r>
            <a:endParaRPr/>
          </a:p>
        </p:txBody>
      </p:sp>
      <p:sp>
        <p:nvSpPr>
          <p:cNvPr id="227" name="Google Shape;227;p24"/>
          <p:cNvSpPr txBox="1"/>
          <p:nvPr/>
        </p:nvSpPr>
        <p:spPr>
          <a:xfrm>
            <a:off x="2057400" y="3046214"/>
            <a:ext cx="80772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Normal: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&lt; 5.7%</a:t>
            </a:r>
            <a:endParaRPr/>
          </a:p>
        </p:txBody>
      </p:sp>
      <p:sp>
        <p:nvSpPr>
          <p:cNvPr id="228" name="Google Shape;228;p24"/>
          <p:cNvSpPr txBox="1"/>
          <p:nvPr/>
        </p:nvSpPr>
        <p:spPr>
          <a:xfrm>
            <a:off x="2057400" y="3640484"/>
            <a:ext cx="80772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Prediabetes: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5.7% – 6.4%</a:t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2057400" y="4234755"/>
            <a:ext cx="80772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Diabetes: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&gt;= 6.5%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Challenge: HbA1c Rules</a:t>
            </a:r>
            <a:endParaRPr/>
          </a:p>
        </p:txBody>
      </p:sp>
      <p:sp>
        <p:nvSpPr>
          <p:cNvPr id="231" name="Google Shape;231;p24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859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5"/>
          <p:cNvSpPr txBox="1"/>
          <p:nvPr/>
        </p:nvSpPr>
        <p:spPr>
          <a:xfrm>
            <a:off x="571500" y="3130153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Sometimes we need to pick up each sample, check it, tag it, and put it back.</a:t>
            </a:r>
            <a:endParaRPr/>
          </a:p>
        </p:txBody>
      </p:sp>
      <p:sp>
        <p:nvSpPr>
          <p:cNvPr id="239" name="Google Shape;239;p25"/>
          <p:cNvSpPr txBox="1"/>
          <p:nvPr/>
        </p:nvSpPr>
        <p:spPr>
          <a:xfrm>
            <a:off x="571500" y="4010025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"Conveyor Belt"</a:t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>
            <a:off x="571500" y="4554735"/>
            <a:ext cx="5238750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Operator: for</a:t>
            </a:r>
            <a:endParaRPr/>
          </a:p>
        </p:txBody>
      </p:sp>
      <p:pic>
        <p:nvPicPr>
          <p:cNvPr id="241" name="Google Shape;241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859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Part 2: Iteration (Loops)</a:t>
            </a:r>
            <a:endParaRPr/>
          </a:p>
        </p:txBody>
      </p:sp>
      <p:sp>
        <p:nvSpPr>
          <p:cNvPr id="243" name="Google Shape;243;p25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6"/>
          <p:cNvSpPr txBox="1"/>
          <p:nvPr/>
        </p:nvSpPr>
        <p:spPr>
          <a:xfrm>
            <a:off x="3742283" y="4236839"/>
            <a:ext cx="5088284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1:5: The sequence (the rack of tubes).</a:t>
            </a:r>
            <a:endParaRPr/>
          </a:p>
        </p:txBody>
      </p:sp>
      <p:sp>
        <p:nvSpPr>
          <p:cNvPr id="250" name="Google Shape;250;p26"/>
          <p:cNvSpPr txBox="1"/>
          <p:nvPr/>
        </p:nvSpPr>
        <p:spPr>
          <a:xfrm>
            <a:off x="3742283" y="4838700"/>
            <a:ext cx="5088284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i: The placeholder (the current tube in your hand).</a:t>
            </a:r>
            <a:endParaRPr/>
          </a:p>
        </p:txBody>
      </p:sp>
      <p:sp>
        <p:nvSpPr>
          <p:cNvPr id="251" name="Google Shape;251;p2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for Loop Syntax</a:t>
            </a:r>
            <a:endParaRPr/>
          </a:p>
        </p:txBody>
      </p:sp>
      <p:sp>
        <p:nvSpPr>
          <p:cNvPr id="252" name="Google Shape;252;p26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61283" y="4274939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61283" y="4876800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7"/>
          <p:cNvSpPr txBox="1"/>
          <p:nvPr/>
        </p:nvSpPr>
        <p:spPr>
          <a:xfrm>
            <a:off x="5172075" y="4503539"/>
            <a:ext cx="18478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Output: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55, 62, 48</a:t>
            </a:r>
            <a:endParaRPr/>
          </a:p>
        </p:txBody>
      </p:sp>
      <p:sp>
        <p:nvSpPr>
          <p:cNvPr id="261" name="Google Shape;261;p27"/>
          <p:cNvSpPr txBox="1"/>
          <p:nvPr/>
        </p:nvSpPr>
        <p:spPr>
          <a:xfrm>
            <a:off x="2443162" y="5191125"/>
            <a:ext cx="73056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 grabs 5.5, multiplies it. Then grabs 6.2, multiplies it. Repeats until empty.</a:t>
            </a:r>
            <a:endParaRPr/>
          </a:p>
        </p:txBody>
      </p:sp>
      <p:sp>
        <p:nvSpPr>
          <p:cNvPr id="262" name="Google Shape;262;p2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Looping through a Vector</a:t>
            </a:r>
            <a:endParaRPr/>
          </a:p>
        </p:txBody>
      </p:sp>
      <p:sp>
        <p:nvSpPr>
          <p:cNvPr id="263" name="Google Shape;263;p27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34729"/>
            <a:ext cx="5238750" cy="3329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834729"/>
            <a:ext cx="5238750" cy="3329582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8"/>
          <p:cNvSpPr txBox="1"/>
          <p:nvPr/>
        </p:nvSpPr>
        <p:spPr>
          <a:xfrm>
            <a:off x="3238351" y="2084189"/>
            <a:ext cx="5715297" cy="46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Power Move: Putting an if inside a for.</a:t>
            </a:r>
            <a:endParaRPr/>
          </a:p>
        </p:txBody>
      </p:sp>
      <p:sp>
        <p:nvSpPr>
          <p:cNvPr id="272" name="Google Shape;272;p28"/>
          <p:cNvSpPr txBox="1"/>
          <p:nvPr/>
        </p:nvSpPr>
        <p:spPr>
          <a:xfrm>
            <a:off x="962025" y="3225254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The Auto-Verifier</a:t>
            </a:r>
            <a:endParaRPr/>
          </a:p>
        </p:txBody>
      </p:sp>
      <p:sp>
        <p:nvSpPr>
          <p:cNvPr id="273" name="Google Shape;273;p28"/>
          <p:cNvSpPr txBox="1"/>
          <p:nvPr/>
        </p:nvSpPr>
        <p:spPr>
          <a:xfrm>
            <a:off x="962025" y="3920579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Iterate through the daily list.</a:t>
            </a:r>
            <a:endParaRPr/>
          </a:p>
        </p:txBody>
      </p:sp>
      <p:sp>
        <p:nvSpPr>
          <p:cNvPr id="274" name="Google Shape;274;p28"/>
          <p:cNvSpPr txBox="1"/>
          <p:nvPr/>
        </p:nvSpPr>
        <p:spPr>
          <a:xfrm>
            <a:off x="962025" y="4608165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Check rules for each patient.</a:t>
            </a:r>
            <a:endParaRPr/>
          </a:p>
        </p:txBody>
      </p:sp>
      <p:sp>
        <p:nvSpPr>
          <p:cNvPr id="275" name="Google Shape;275;p28"/>
          <p:cNvSpPr txBox="1"/>
          <p:nvPr/>
        </p:nvSpPr>
        <p:spPr>
          <a:xfrm>
            <a:off x="962025" y="5295751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Assign a flag.</a:t>
            </a:r>
            <a:endParaRPr/>
          </a:p>
        </p:txBody>
      </p:sp>
      <p:sp>
        <p:nvSpPr>
          <p:cNvPr id="276" name="Google Shape;276;p28"/>
          <p:cNvSpPr txBox="1"/>
          <p:nvPr/>
        </p:nvSpPr>
        <p:spPr>
          <a:xfrm>
            <a:off x="6772275" y="3745259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LIS Logic</a:t>
            </a:r>
            <a:endParaRPr/>
          </a:p>
        </p:txBody>
      </p:sp>
      <p:sp>
        <p:nvSpPr>
          <p:cNvPr id="277" name="Google Shape;277;p28"/>
          <p:cNvSpPr txBox="1"/>
          <p:nvPr/>
        </p:nvSpPr>
        <p:spPr>
          <a:xfrm>
            <a:off x="6772275" y="4440584"/>
            <a:ext cx="44577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This is the core logic of Laboratory Information Systems.</a:t>
            </a:r>
            <a:endParaRPr/>
          </a:p>
        </p:txBody>
      </p:sp>
      <p:sp>
        <p:nvSpPr>
          <p:cNvPr id="278" name="Google Shape;278;p2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Combining Logic and Loops</a:t>
            </a:r>
            <a:endParaRPr/>
          </a:p>
        </p:txBody>
      </p:sp>
      <p:sp>
        <p:nvSpPr>
          <p:cNvPr id="279" name="Google Shape;279;p28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9"/>
          <p:cNvSpPr txBox="1"/>
          <p:nvPr/>
        </p:nvSpPr>
        <p:spPr>
          <a:xfrm>
            <a:off x="2871787" y="5614094"/>
            <a:ext cx="64484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Flow: Pick up sample -&gt; Check value -&gt; Print Label -&gt; Next sample.</a:t>
            </a:r>
            <a:endParaRPr/>
          </a:p>
        </p:txBody>
      </p:sp>
      <p:sp>
        <p:nvSpPr>
          <p:cNvPr id="286" name="Google Shape;286;p2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Auto-Verifier Pattern</a:t>
            </a:r>
            <a:endParaRPr/>
          </a:p>
        </p:txBody>
      </p:sp>
      <p:sp>
        <p:nvSpPr>
          <p:cNvPr id="287" name="Google Shape;287;p29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0"/>
          <p:cNvSpPr txBox="1"/>
          <p:nvPr/>
        </p:nvSpPr>
        <p:spPr>
          <a:xfrm>
            <a:off x="3752850" y="2303264"/>
            <a:ext cx="46863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Printing isn't enough. We need to save the data.</a:t>
            </a:r>
            <a:endParaRPr/>
          </a:p>
        </p:txBody>
      </p:sp>
      <p:sp>
        <p:nvSpPr>
          <p:cNvPr id="294" name="Google Shape;294;p30"/>
          <p:cNvSpPr txBox="1"/>
          <p:nvPr/>
        </p:nvSpPr>
        <p:spPr>
          <a:xfrm>
            <a:off x="3148012" y="5410200"/>
            <a:ext cx="58959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Always set up an empty rack (vector) before starting the run.</a:t>
            </a:r>
            <a:endParaRPr/>
          </a:p>
        </p:txBody>
      </p:sp>
      <p:sp>
        <p:nvSpPr>
          <p:cNvPr id="295" name="Google Shape;295;p3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Storing Results (The Empty Bucket)</a:t>
            </a:r>
            <a:endParaRPr/>
          </a:p>
        </p:txBody>
      </p:sp>
      <p:sp>
        <p:nvSpPr>
          <p:cNvPr id="296" name="Google Shape;296;p30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1"/>
          <p:cNvSpPr txBox="1"/>
          <p:nvPr/>
        </p:nvSpPr>
        <p:spPr>
          <a:xfrm>
            <a:off x="2545853" y="2274689"/>
            <a:ext cx="7100143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Instead of writing the if/else ladder 100 times, write it once as a tool.</a:t>
            </a:r>
            <a:endParaRPr/>
          </a:p>
        </p:txBody>
      </p:sp>
      <p:sp>
        <p:nvSpPr>
          <p:cNvPr id="303" name="Google Shape;303;p31"/>
          <p:cNvSpPr txBox="1"/>
          <p:nvPr/>
        </p:nvSpPr>
        <p:spPr>
          <a:xfrm>
            <a:off x="2930574" y="5410200"/>
            <a:ext cx="6330701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You are building your own instrument named check_sugar().</a:t>
            </a:r>
            <a:endParaRPr/>
          </a:p>
        </p:txBody>
      </p:sp>
      <p:sp>
        <p:nvSpPr>
          <p:cNvPr id="304" name="Google Shape;304;p3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Functions: Reusable Protocols</a:t>
            </a:r>
            <a:endParaRPr/>
          </a:p>
        </p:txBody>
      </p:sp>
      <p:sp>
        <p:nvSpPr>
          <p:cNvPr id="305" name="Google Shape;305;p31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71875"/>
            <a:ext cx="11049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71875"/>
            <a:ext cx="110490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Applying Functions</a:t>
            </a:r>
            <a:endParaRPr/>
          </a:p>
        </p:txBody>
      </p:sp>
      <p:sp>
        <p:nvSpPr>
          <p:cNvPr id="314" name="Google Shape;314;p32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44315"/>
            <a:ext cx="5238750" cy="3693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144315"/>
            <a:ext cx="5238750" cy="3693318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3"/>
          <p:cNvSpPr txBox="1"/>
          <p:nvPr/>
        </p:nvSpPr>
        <p:spPr>
          <a:xfrm>
            <a:off x="962025" y="2702421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Vectorization (The R Way)</a:t>
            </a:r>
            <a:endParaRPr/>
          </a:p>
        </p:txBody>
      </p:sp>
      <p:sp>
        <p:nvSpPr>
          <p:cNvPr id="323" name="Google Shape;323;p33"/>
          <p:cNvSpPr txBox="1"/>
          <p:nvPr/>
        </p:nvSpPr>
        <p:spPr>
          <a:xfrm>
            <a:off x="962025" y="3397746"/>
            <a:ext cx="4457700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df$Res &gt; 5</a:t>
            </a:r>
            <a:endParaRPr/>
          </a:p>
        </p:txBody>
      </p:sp>
      <p:sp>
        <p:nvSpPr>
          <p:cNvPr id="324" name="Google Shape;324;p33"/>
          <p:cNvSpPr txBox="1"/>
          <p:nvPr/>
        </p:nvSpPr>
        <p:spPr>
          <a:xfrm>
            <a:off x="962025" y="4113907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Faster for math.</a:t>
            </a:r>
            <a:endParaRPr/>
          </a:p>
        </p:txBody>
      </p:sp>
      <p:sp>
        <p:nvSpPr>
          <p:cNvPr id="325" name="Google Shape;325;p33"/>
          <p:cNvSpPr txBox="1"/>
          <p:nvPr/>
        </p:nvSpPr>
        <p:spPr>
          <a:xfrm>
            <a:off x="962025" y="4801492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Best for simple calculations.</a:t>
            </a:r>
            <a:endParaRPr/>
          </a:p>
        </p:txBody>
      </p:sp>
      <p:sp>
        <p:nvSpPr>
          <p:cNvPr id="326" name="Google Shape;326;p33"/>
          <p:cNvSpPr txBox="1"/>
          <p:nvPr/>
        </p:nvSpPr>
        <p:spPr>
          <a:xfrm>
            <a:off x="6772275" y="2534840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Loops</a:t>
            </a:r>
            <a:endParaRPr/>
          </a:p>
        </p:txBody>
      </p:sp>
      <p:sp>
        <p:nvSpPr>
          <p:cNvPr id="327" name="Google Shape;327;p33"/>
          <p:cNvSpPr txBox="1"/>
          <p:nvPr/>
        </p:nvSpPr>
        <p:spPr>
          <a:xfrm>
            <a:off x="6772275" y="3230165"/>
            <a:ext cx="4457700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for (i in list)</a:t>
            </a:r>
            <a:endParaRPr/>
          </a:p>
        </p:txBody>
      </p:sp>
      <p:sp>
        <p:nvSpPr>
          <p:cNvPr id="328" name="Google Shape;328;p33"/>
          <p:cNvSpPr txBox="1"/>
          <p:nvPr/>
        </p:nvSpPr>
        <p:spPr>
          <a:xfrm>
            <a:off x="6772275" y="3946326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Essential for complex logic.</a:t>
            </a:r>
            <a:endParaRPr/>
          </a:p>
        </p:txBody>
      </p:sp>
      <p:sp>
        <p:nvSpPr>
          <p:cNvPr id="329" name="Google Shape;329;p33"/>
          <p:cNvSpPr txBox="1"/>
          <p:nvPr/>
        </p:nvSpPr>
        <p:spPr>
          <a:xfrm>
            <a:off x="6772275" y="4633912"/>
            <a:ext cx="44577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Necessary for file handling (e.g., reading 100 CSVs).</a:t>
            </a:r>
            <a:endParaRPr/>
          </a:p>
        </p:txBody>
      </p:sp>
      <p:sp>
        <p:nvSpPr>
          <p:cNvPr id="330" name="Google Shape;330;p3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Vectorization vs. Loops</a:t>
            </a:r>
            <a:endParaRPr/>
          </a:p>
        </p:txBody>
      </p:sp>
      <p:sp>
        <p:nvSpPr>
          <p:cNvPr id="331" name="Google Shape;331;p33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4"/>
          <p:cNvSpPr txBox="1"/>
          <p:nvPr/>
        </p:nvSpPr>
        <p:spPr>
          <a:xfrm>
            <a:off x="3739157" y="2863453"/>
            <a:ext cx="5094684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Boolean: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TRUE / FALSE</a:t>
            </a:r>
            <a:endParaRPr/>
          </a:p>
        </p:txBody>
      </p:sp>
      <p:sp>
        <p:nvSpPr>
          <p:cNvPr id="338" name="Google Shape;338;p34"/>
          <p:cNvSpPr txBox="1"/>
          <p:nvPr/>
        </p:nvSpPr>
        <p:spPr>
          <a:xfrm>
            <a:off x="3739157" y="3465314"/>
            <a:ext cx="5094684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Operators: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==, &gt;, &amp;, |</a:t>
            </a:r>
            <a:endParaRPr/>
          </a:p>
        </p:txBody>
      </p:sp>
      <p:sp>
        <p:nvSpPr>
          <p:cNvPr id="339" name="Google Shape;339;p34"/>
          <p:cNvSpPr txBox="1"/>
          <p:nvPr/>
        </p:nvSpPr>
        <p:spPr>
          <a:xfrm>
            <a:off x="3739157" y="4067175"/>
            <a:ext cx="5094684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Conditional: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if (...) { ... } else { ... }</a:t>
            </a:r>
            <a:endParaRPr/>
          </a:p>
        </p:txBody>
      </p:sp>
      <p:sp>
        <p:nvSpPr>
          <p:cNvPr id="340" name="Google Shape;340;p34"/>
          <p:cNvSpPr txBox="1"/>
          <p:nvPr/>
        </p:nvSpPr>
        <p:spPr>
          <a:xfrm>
            <a:off x="3739157" y="4669035"/>
            <a:ext cx="5094684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Loop: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for (x in list) { ... }</a:t>
            </a:r>
            <a:endParaRPr/>
          </a:p>
        </p:txBody>
      </p:sp>
      <p:sp>
        <p:nvSpPr>
          <p:cNvPr id="341" name="Google Shape;341;p3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Summary: Your Logic Toolkit</a:t>
            </a:r>
            <a:endParaRPr/>
          </a:p>
        </p:txBody>
      </p:sp>
      <p:sp>
        <p:nvSpPr>
          <p:cNvPr id="342" name="Google Shape;342;p34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3" name="Google Shape;343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58157" y="2901553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58157" y="350341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58157" y="410527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58157" y="4707135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0" y="219372"/>
            <a:ext cx="8839200" cy="6419254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5"/>
          <p:cNvSpPr txBox="1"/>
          <p:nvPr/>
        </p:nvSpPr>
        <p:spPr>
          <a:xfrm>
            <a:off x="2255519" y="981372"/>
            <a:ext cx="768096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EFCE8"/>
                </a:solidFill>
                <a:latin typeface="Merriweather"/>
                <a:ea typeface="Merriweather"/>
                <a:cs typeface="Merriweather"/>
                <a:sym typeface="Merriweather"/>
              </a:rPr>
              <a:t>Tutorial 3: The HbA1c Auto-Verifier</a:t>
            </a:r>
            <a:endParaRPr/>
          </a:p>
        </p:txBody>
      </p:sp>
      <p:sp>
        <p:nvSpPr>
          <p:cNvPr id="354" name="Google Shape;354;p35"/>
          <p:cNvSpPr/>
          <p:nvPr/>
        </p:nvSpPr>
        <p:spPr>
          <a:xfrm>
            <a:off x="5619750" y="2600622"/>
            <a:ext cx="95250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5"/>
          <p:cNvSpPr txBox="1"/>
          <p:nvPr/>
        </p:nvSpPr>
        <p:spPr>
          <a:xfrm>
            <a:off x="2438400" y="2905422"/>
            <a:ext cx="731520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rPr>
              <a:t>Goal: Build a script that mimics an LIS validation rule using real patient data.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56" name="Google Shape;356;p35"/>
          <p:cNvSpPr txBox="1"/>
          <p:nvPr/>
        </p:nvSpPr>
        <p:spPr>
          <a:xfrm>
            <a:off x="4738687" y="4309169"/>
            <a:ext cx="27146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rPr>
              <a:t>1. Import Data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57" name="Google Shape;357;p35"/>
          <p:cNvSpPr txBox="1"/>
          <p:nvPr/>
        </p:nvSpPr>
        <p:spPr>
          <a:xfrm>
            <a:off x="4738687" y="4853880"/>
            <a:ext cx="27146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rPr>
              <a:t>2. Write Diagnosis Loop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358" name="Google Shape;358;p35"/>
          <p:cNvSpPr txBox="1"/>
          <p:nvPr/>
        </p:nvSpPr>
        <p:spPr>
          <a:xfrm>
            <a:off x="4738687" y="5398591"/>
            <a:ext cx="27146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rPr>
              <a:t>3. Generate Report</a:t>
            </a:r>
            <a:endParaRPr dirty="0">
              <a:solidFill>
                <a:srgbClr val="FFC000"/>
              </a:solidFill>
            </a:endParaRPr>
          </a:p>
        </p:txBody>
      </p:sp>
      <p:pic>
        <p:nvPicPr>
          <p:cNvPr id="359" name="Google Shape;359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38687" y="4375844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38687" y="4920555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38687" y="5465266"/>
            <a:ext cx="2095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6"/>
          <p:cNvSpPr txBox="1"/>
          <p:nvPr/>
        </p:nvSpPr>
        <p:spPr>
          <a:xfrm>
            <a:off x="3685571" y="2237118"/>
            <a:ext cx="4820708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Load the 50-patient dataset from GitHub.</a:t>
            </a:r>
            <a:endParaRPr dirty="0"/>
          </a:p>
        </p:txBody>
      </p:sp>
      <p:sp>
        <p:nvSpPr>
          <p:cNvPr id="368" name="Google Shape;368;p36"/>
          <p:cNvSpPr txBox="1"/>
          <p:nvPr/>
        </p:nvSpPr>
        <p:spPr>
          <a:xfrm>
            <a:off x="4037409" y="5176837"/>
            <a:ext cx="4117032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Check: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Ensure HbA1c_Level is numeric.</a:t>
            </a:r>
            <a:endParaRPr/>
          </a:p>
        </p:txBody>
      </p:sp>
      <p:sp>
        <p:nvSpPr>
          <p:cNvPr id="369" name="Google Shape;369;p3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1: Load the Data</a:t>
            </a:r>
            <a:endParaRPr/>
          </a:p>
        </p:txBody>
      </p:sp>
      <p:sp>
        <p:nvSpPr>
          <p:cNvPr id="370" name="Google Shape;370;p36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7"/>
          <p:cNvSpPr txBox="1"/>
          <p:nvPr/>
        </p:nvSpPr>
        <p:spPr>
          <a:xfrm>
            <a:off x="2971800" y="2866132"/>
            <a:ext cx="62484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We need a place to put our diagnoses. Create an empty column.</a:t>
            </a:r>
            <a:endParaRPr/>
          </a:p>
        </p:txBody>
      </p:sp>
      <p:sp>
        <p:nvSpPr>
          <p:cNvPr id="377" name="Google Shape;377;p3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2: Initialize Storage</a:t>
            </a:r>
            <a:endParaRPr/>
          </a:p>
        </p:txBody>
      </p:sp>
      <p:sp>
        <p:nvSpPr>
          <p:cNvPr id="378" name="Google Shape;378;p37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95762" y="3255764"/>
            <a:ext cx="3800475" cy="2158007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8"/>
          <p:cNvSpPr txBox="1"/>
          <p:nvPr/>
        </p:nvSpPr>
        <p:spPr>
          <a:xfrm>
            <a:off x="2786062" y="2777728"/>
            <a:ext cx="6619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Write the logic for one number (e.g., 6.0) on paper or in a comment.</a:t>
            </a:r>
            <a:endParaRPr/>
          </a:p>
        </p:txBody>
      </p:sp>
      <p:sp>
        <p:nvSpPr>
          <p:cNvPr id="386" name="Google Shape;386;p38"/>
          <p:cNvSpPr txBox="1"/>
          <p:nvPr/>
        </p:nvSpPr>
        <p:spPr>
          <a:xfrm>
            <a:off x="4386262" y="3655814"/>
            <a:ext cx="34194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IF val &gt;= 6.5 -&gt;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"Diabetes"</a:t>
            </a:r>
            <a:endParaRPr/>
          </a:p>
        </p:txBody>
      </p:sp>
      <p:sp>
        <p:nvSpPr>
          <p:cNvPr id="387" name="Google Shape;387;p38"/>
          <p:cNvSpPr txBox="1"/>
          <p:nvPr/>
        </p:nvSpPr>
        <p:spPr>
          <a:xfrm>
            <a:off x="4386262" y="4200525"/>
            <a:ext cx="34194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ELSE IF val &gt;= 5.7 -&gt;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"Prediabetes"</a:t>
            </a:r>
            <a:endParaRPr/>
          </a:p>
        </p:txBody>
      </p:sp>
      <p:sp>
        <p:nvSpPr>
          <p:cNvPr id="388" name="Google Shape;388;p38"/>
          <p:cNvSpPr txBox="1"/>
          <p:nvPr/>
        </p:nvSpPr>
        <p:spPr>
          <a:xfrm>
            <a:off x="4386262" y="4745235"/>
            <a:ext cx="34194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ELSE -&gt;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"Normal"</a:t>
            </a:r>
            <a:endParaRPr/>
          </a:p>
        </p:txBody>
      </p:sp>
      <p:sp>
        <p:nvSpPr>
          <p:cNvPr id="389" name="Google Shape;389;p3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3: The Logic (Mental Draft)</a:t>
            </a:r>
            <a:endParaRPr/>
          </a:p>
        </p:txBody>
      </p:sp>
      <p:sp>
        <p:nvSpPr>
          <p:cNvPr id="390" name="Google Shape;390;p38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9"/>
          <p:cNvSpPr txBox="1"/>
          <p:nvPr/>
        </p:nvSpPr>
        <p:spPr>
          <a:xfrm>
            <a:off x="3914775" y="2537519"/>
            <a:ext cx="43624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Set up the loop to iterate through every row.</a:t>
            </a:r>
            <a:endParaRPr/>
          </a:p>
        </p:txBody>
      </p:sp>
      <p:sp>
        <p:nvSpPr>
          <p:cNvPr id="397" name="Google Shape;397;p3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4: The Loop (Structure)</a:t>
            </a:r>
            <a:endParaRPr/>
          </a:p>
        </p:txBody>
      </p:sp>
      <p:sp>
        <p:nvSpPr>
          <p:cNvPr id="398" name="Google Shape;398;p39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5: Combining Logic &amp; Loop</a:t>
            </a:r>
            <a:endParaRPr/>
          </a:p>
        </p:txBody>
      </p:sp>
      <p:sp>
        <p:nvSpPr>
          <p:cNvPr id="405" name="Google Shape;405;p40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40"/>
          <p:cNvSpPr txBox="1"/>
          <p:nvPr/>
        </p:nvSpPr>
        <p:spPr>
          <a:xfrm>
            <a:off x="571500" y="1695450"/>
            <a:ext cx="11049000" cy="459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 (i in 1:nrow(df)) { val &lt;- df$HbA1c_Level[i] if (val &gt;= 6.5) { df$Diagnosis[i] &lt;- "Diabetes" } else if (val &gt;= 5.7) { df$Diagnosis[i] &lt;- "Prediabetes" } else { df$Diagnosis[i] &lt;- "Normal" } }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41"/>
          <p:cNvSpPr txBox="1"/>
          <p:nvPr/>
        </p:nvSpPr>
        <p:spPr>
          <a:xfrm>
            <a:off x="3795712" y="2960489"/>
            <a:ext cx="46005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Check if the loop worked. Look at the top rows.</a:t>
            </a:r>
            <a:endParaRPr/>
          </a:p>
        </p:txBody>
      </p:sp>
      <p:sp>
        <p:nvSpPr>
          <p:cNvPr id="413" name="Google Shape;413;p41"/>
          <p:cNvSpPr txBox="1"/>
          <p:nvPr/>
        </p:nvSpPr>
        <p:spPr>
          <a:xfrm>
            <a:off x="1833562" y="4752975"/>
            <a:ext cx="8524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Sanity Check: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Does Patient P-004 (11.2) say "Diabetes"? Does P-001 (5.2) say "Normal"?</a:t>
            </a:r>
            <a:endParaRPr/>
          </a:p>
        </p:txBody>
      </p:sp>
      <p:sp>
        <p:nvSpPr>
          <p:cNvPr id="414" name="Google Shape;414;p4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6: Verify Results</a:t>
            </a:r>
            <a:endParaRPr/>
          </a:p>
        </p:txBody>
      </p:sp>
      <p:sp>
        <p:nvSpPr>
          <p:cNvPr id="415" name="Google Shape;415;p41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2"/>
          <p:cNvSpPr txBox="1"/>
          <p:nvPr/>
        </p:nvSpPr>
        <p:spPr>
          <a:xfrm>
            <a:off x="3910012" y="2975669"/>
            <a:ext cx="43719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Count how many of each category we found.</a:t>
            </a:r>
            <a:endParaRPr/>
          </a:p>
        </p:txBody>
      </p:sp>
      <p:sp>
        <p:nvSpPr>
          <p:cNvPr id="422" name="Google Shape;422;p4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7: Summary Stats</a:t>
            </a:r>
            <a:endParaRPr/>
          </a:p>
        </p:txBody>
      </p:sp>
      <p:sp>
        <p:nvSpPr>
          <p:cNvPr id="423" name="Google Shape;423;p42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4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8: Visualization (Bonus)</a:t>
            </a:r>
            <a:endParaRPr/>
          </a:p>
        </p:txBody>
      </p:sp>
      <p:sp>
        <p:nvSpPr>
          <p:cNvPr id="430" name="Google Shape;430;p43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43"/>
          <p:cNvSpPr txBox="1"/>
          <p:nvPr/>
        </p:nvSpPr>
        <p:spPr>
          <a:xfrm>
            <a:off x="571500" y="3344646"/>
            <a:ext cx="110490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library(ggplot2)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ggplot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df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aes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(x=Diagnosis, fill=Diagnosis)) +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geom_bar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() + labs(title="Batch Summary: HbA1c") </a:t>
            </a:r>
            <a:endParaRPr sz="3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4"/>
          <p:cNvSpPr txBox="1"/>
          <p:nvPr/>
        </p:nvSpPr>
        <p:spPr>
          <a:xfrm>
            <a:off x="4486275" y="2970014"/>
            <a:ext cx="32194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Save the fully verified worksheet.</a:t>
            </a:r>
            <a:endParaRPr/>
          </a:p>
        </p:txBody>
      </p:sp>
      <p:sp>
        <p:nvSpPr>
          <p:cNvPr id="438" name="Google Shape;438;p44"/>
          <p:cNvSpPr txBox="1"/>
          <p:nvPr/>
        </p:nvSpPr>
        <p:spPr>
          <a:xfrm>
            <a:off x="3328987" y="4743450"/>
            <a:ext cx="55340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2C55E"/>
                </a:solidFill>
                <a:latin typeface="Open Sans"/>
                <a:ea typeface="Open Sans"/>
                <a:cs typeface="Open Sans"/>
                <a:sym typeface="Open Sans"/>
              </a:rPr>
              <a:t>You have just built a functioning Auto-Verifier script!</a:t>
            </a:r>
            <a:endParaRPr/>
          </a:p>
        </p:txBody>
      </p:sp>
      <p:sp>
        <p:nvSpPr>
          <p:cNvPr id="439" name="Google Shape;439;p4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9: Export</a:t>
            </a:r>
            <a:endParaRPr/>
          </a:p>
        </p:txBody>
      </p:sp>
      <p:sp>
        <p:nvSpPr>
          <p:cNvPr id="440" name="Google Shape;440;p44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4B60BC-805B-15D2-81A8-C2618EF9B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081" y="0"/>
            <a:ext cx="685060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542837-DB2E-C209-80C5-7FD40180A23E}"/>
              </a:ext>
            </a:extLst>
          </p:cNvPr>
          <p:cNvSpPr txBox="1"/>
          <p:nvPr/>
        </p:nvSpPr>
        <p:spPr>
          <a:xfrm>
            <a:off x="285750" y="208508"/>
            <a:ext cx="472266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https://</a:t>
            </a:r>
            <a:r>
              <a:rPr lang="en-US" sz="4400" dirty="0" err="1"/>
              <a:t>github.com</a:t>
            </a:r>
            <a:r>
              <a:rPr lang="en-US" sz="4400" dirty="0"/>
              <a:t>/</a:t>
            </a:r>
            <a:r>
              <a:rPr lang="en-US" sz="4400" dirty="0" err="1"/>
              <a:t>Koohoko</a:t>
            </a:r>
            <a:r>
              <a:rPr lang="en-US" sz="4400" dirty="0"/>
              <a:t>/MSc_Module3_Programming_BioData_HKUSpacce_2026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F4FA4A-E022-C026-F4BD-729C7300D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389" y="3686383"/>
            <a:ext cx="3061389" cy="304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008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1138</Words>
  <Application>Microsoft Macintosh PowerPoint</Application>
  <PresentationFormat>Widescreen</PresentationFormat>
  <Paragraphs>139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Calibri</vt:lpstr>
      <vt:lpstr>Open Sans</vt:lpstr>
      <vt:lpstr>Merriweather Black</vt:lpstr>
      <vt:lpstr>Arial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Haogao Gu</cp:lastModifiedBy>
  <cp:revision>10</cp:revision>
  <dcterms:modified xsi:type="dcterms:W3CDTF">2026-01-05T06:06:20Z</dcterms:modified>
</cp:coreProperties>
</file>