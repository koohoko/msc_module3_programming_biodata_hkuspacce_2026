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embeddedFontLst>
    <p:embeddedFont>
      <p:font typeface="Fira Code" panose="020B0809050000020004" pitchFamily="49" charset="0"/>
      <p:regular r:id="rId41"/>
      <p:bold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Lato Light" panose="020F0302020204030204" pitchFamily="34" charset="0"/>
      <p:regular r:id="rId47"/>
      <p:bold r:id="rId48"/>
      <p:italic r:id="rId49"/>
      <p:boldItalic r:id="rId50"/>
    </p:embeddedFont>
    <p:embeddedFont>
      <p:font typeface="Playfair Display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624288-51BB-4970-B2F0-A445DA519057}">
  <a:tblStyle styleId="{A1624288-51BB-4970-B2F0-A445DA5190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21"/>
    <p:restoredTop sz="94658"/>
  </p:normalViewPr>
  <p:slideViewPr>
    <p:cSldViewPr snapToGrid="0">
      <p:cViewPr varScale="1">
        <p:scale>
          <a:sx n="107" d="100"/>
          <a:sy n="107" d="100"/>
        </p:scale>
        <p:origin x="192" y="4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743325" y="2067966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25691" y="2395537"/>
            <a:ext cx="494061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Phylogenetics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490912"/>
            <a:ext cx="952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43325" y="3814762"/>
            <a:ext cx="47053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Multiple Sequence Alignment &amp; Tree Building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43325" y="4591942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February 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4815"/>
            <a:ext cx="2547937" cy="338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334815"/>
            <a:ext cx="2547937" cy="338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34815"/>
            <a:ext cx="2547937" cy="338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334815"/>
            <a:ext cx="2547937" cy="3388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17840" y="3373040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Alignment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963590"/>
            <a:ext cx="1957387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 Multiple Sequence Alignment (MSA) using the msa package.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651527" y="3373040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Distance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700462" y="3963590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Calculate genetic distance matrices between sequences.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85215" y="3373040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Trees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34150" y="3963590"/>
            <a:ext cx="1957387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and root Neighbor-Joining trees using ape.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18902" y="3373040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Outbreaks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367837" y="3963590"/>
            <a:ext cx="195738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 phylogenetic clusters for outbreak investigation.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5443" y="26777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93406" y="267771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2818" y="26777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17931" y="26777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Objectives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2155477"/>
            <a:ext cx="10048875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440418" y="2746027"/>
            <a:ext cx="9311163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1: Multiple Sequence Alignment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662112" y="3689002"/>
            <a:ext cx="88677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Finding Homology in Chaos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240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31874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65991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Multiple Sequence Alignment (MSA)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process of arranging three or more sequences to identify homologous regions.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02907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Mechanism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39399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Algorithms insert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gaps (-)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shift sequences so that similar bases align vertically, maximizing the overall similarity score.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MSA?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Multiple Sequence Alignment (DNA) | BioRender Science Templates">
            <a:extLst>
              <a:ext uri="{FF2B5EF4-FFF2-40B4-BE49-F238E27FC236}">
                <a16:creationId xmlns:a16="http://schemas.microsoft.com/office/drawing/2014/main" id="{84656B3B-31C5-03C5-9C1F-5C5D4358E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604" y="2128405"/>
            <a:ext cx="6286396" cy="332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937"/>
            <a:ext cx="5286375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28937"/>
            <a:ext cx="5286375" cy="285928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200150" y="2479476"/>
            <a:ext cx="104203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Alignment is the only way to accurately compare sequences of different lengths or with insertions/deletions.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3224212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Raw (Unaligned)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6775" y="504348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 to compare positions.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29400" y="3224212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Aligned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29400" y="504348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Reveals mutations and gaps.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Do We Align?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18"/>
          <p:cNvGraphicFramePr/>
          <p:nvPr/>
        </p:nvGraphicFramePr>
        <p:xfrm>
          <a:off x="571500" y="2881312"/>
          <a:ext cx="11039450" cy="2486000"/>
        </p:xfrm>
        <a:graphic>
          <a:graphicData uri="http://schemas.openxmlformats.org/drawingml/2006/table">
            <a:tbl>
              <a:tblPr firstRow="1" bandRow="1">
                <a:noFill/>
                <a:tableStyleId>{A1624288-51BB-4970-B2F0-A445DA519057}</a:tableStyleId>
              </a:tblPr>
              <a:tblGrid>
                <a:gridCol w="20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ClustalW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Small datasets, classic method.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Good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 datasets, general purpose.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MAFFT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Fast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datasets (e.g., viral genomes).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Google Shape;160;p18"/>
          <p:cNvSpPr/>
          <p:nvPr/>
        </p:nvSpPr>
        <p:spPr>
          <a:xfrm>
            <a:off x="576262" y="3495675"/>
            <a:ext cx="2005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581423" y="3495675"/>
            <a:ext cx="18957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477196" y="3495675"/>
            <a:ext cx="2056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533405" y="3495675"/>
            <a:ext cx="5082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6262" y="4114800"/>
            <a:ext cx="2005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581423" y="4114800"/>
            <a:ext cx="18957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477196" y="4114800"/>
            <a:ext cx="2056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533405" y="4114800"/>
            <a:ext cx="5082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6262" y="4733925"/>
            <a:ext cx="2005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581423" y="4733925"/>
            <a:ext cx="18957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477196" y="4733925"/>
            <a:ext cx="2056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533405" y="4733925"/>
            <a:ext cx="5082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Popular Alignment Algorithms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3205162" y="3032819"/>
            <a:ext cx="685323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unified R interface for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ClustalW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ClustalOmega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and MUSCLE.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359658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Installation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348228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Usage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msa Package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Loading Sequences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3721298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Biostrings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# Option 1: Read from File seqs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readDNAStringSet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virus_seqs.fasta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# Option 2: Create manually seqs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DNAStringSet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(c( "Sample1" = "ATGCATGC", "Sample2" = "ATGGATGC" ))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0300"/>
            <a:ext cx="528637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00300"/>
            <a:ext cx="5286375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866775" y="269557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Running the function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629400" y="269557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Output Object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29400" y="3286125"/>
            <a:ext cx="469582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Returns an MsaDNAMultipleAlignment object containing the aligned sequences (with gaps).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Performing the Alignment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966912" y="4823519"/>
            <a:ext cx="916026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print output shows sequences stacked on top of each other, making mismatches visible.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Viewing Results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3454896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msa package produces its own object type.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4009132"/>
            <a:ext cx="5286375" cy="68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build trees with the ape package, we must convert it to DNAbin format.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Converting for Tree Building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3625" y="2155477"/>
            <a:ext cx="7524750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765583" y="2746027"/>
            <a:ext cx="666083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2: Phylogenetic Trees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2924175" y="3689002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Visualizing Evolutionary Relationships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1432"/>
            <a:ext cx="3492549" cy="199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361432"/>
            <a:ext cx="3492549" cy="199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361432"/>
            <a:ext cx="3492549" cy="199429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962024" y="2911971"/>
            <a:ext cx="1078267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branching diagram showing the inferred evolutionary relationships among various biological species or entities.</a:t>
            </a:r>
            <a:endParaRPr dirty="0"/>
          </a:p>
        </p:txBody>
      </p:sp>
      <p:sp>
        <p:nvSpPr>
          <p:cNvPr id="245" name="Google Shape;245;p25"/>
          <p:cNvSpPr txBox="1"/>
          <p:nvPr/>
        </p:nvSpPr>
        <p:spPr>
          <a:xfrm>
            <a:off x="794225" y="3685282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Tips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866775" y="4275832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sequences/samples (Leaves).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4572524" y="3685282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Nodes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4645074" y="4275832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Common ancestors (divergence points).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8350824" y="3685282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Branches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8423374" y="4275832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Length often represents genetic change.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 Phylogenetic Tree?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2250" y="2124075"/>
            <a:ext cx="123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Anatomy of a Tree</a:t>
            </a:r>
            <a:endParaRPr dirty="0"/>
          </a:p>
        </p:txBody>
      </p:sp>
      <p:sp>
        <p:nvSpPr>
          <p:cNvPr id="263" name="Google Shape;263;p26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Phylogenetic trees | Evolutionary tree (article) | Khan Academy">
            <a:extLst>
              <a:ext uri="{FF2B5EF4-FFF2-40B4-BE49-F238E27FC236}">
                <a16:creationId xmlns:a16="http://schemas.microsoft.com/office/drawing/2014/main" id="{9CCBD031-CF71-16BD-91BF-2F8496CA5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546" y="407070"/>
            <a:ext cx="11048999" cy="604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1503"/>
            <a:ext cx="5286375" cy="305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01503"/>
            <a:ext cx="5286375" cy="305514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866775" y="2796778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Concept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866775" y="3387328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building a tree, we must quantify "how different" every pair of sequences is.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6629400" y="2796778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p-distance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6629400" y="3387328"/>
            <a:ext cx="4991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simplest measure: Proportion of sites that differ.</a:t>
            </a:r>
            <a:endParaRPr dirty="0"/>
          </a:p>
        </p:txBody>
      </p:sp>
      <p:sp>
        <p:nvSpPr>
          <p:cNvPr id="276" name="Google Shape;276;p27"/>
          <p:cNvSpPr txBox="1"/>
          <p:nvPr/>
        </p:nvSpPr>
        <p:spPr>
          <a:xfrm>
            <a:off x="6629400" y="4267200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Distance = Differences / Total Sites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6629400" y="4811910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2 diffs in 10 sites = 0.20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Genetic Distance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1514475" y="5161657"/>
            <a:ext cx="91630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output is a symmetric matrix where every cell [i, j] is the distance between sequence i and j.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Calculating Distance Matrix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2714625" y="2261294"/>
            <a:ext cx="739127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Evolution isn't always simple. Different models correct for hidden changes.</a:t>
            </a:r>
            <a:endParaRPr dirty="0"/>
          </a:p>
        </p:txBody>
      </p:sp>
      <p:graphicFrame>
        <p:nvGraphicFramePr>
          <p:cNvPr id="296" name="Google Shape;296;p29"/>
          <p:cNvGraphicFramePr/>
          <p:nvPr/>
        </p:nvGraphicFramePr>
        <p:xfrm>
          <a:off x="571500" y="2901255"/>
          <a:ext cx="11039475" cy="3105125"/>
        </p:xfrm>
        <a:graphic>
          <a:graphicData uri="http://schemas.openxmlformats.org/drawingml/2006/table">
            <a:tbl>
              <a:tblPr firstRow="1" bandRow="1">
                <a:noFill/>
                <a:tableStyleId>{A1624288-51BB-4970-B2F0-A445DA519057}</a:tableStyleId>
              </a:tblPr>
              <a:tblGrid>
                <a:gridCol w="164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 p-distance (observed differences).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JC69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Jukes-Cantor. Assumes equal mutation rates.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Kimura 2-parameter. Distinguishes Transitions vs Transversions.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TN93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Tamura-Nei. More realistic for viral evolution.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" name="Google Shape;297;p29"/>
          <p:cNvSpPr/>
          <p:nvPr/>
        </p:nvSpPr>
        <p:spPr>
          <a:xfrm>
            <a:off x="576262" y="3515617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2223492" y="3515617"/>
            <a:ext cx="939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576262" y="4134742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2223492" y="4134742"/>
            <a:ext cx="939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576262" y="4753867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2223492" y="4753867"/>
            <a:ext cx="939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576262" y="5372992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2223492" y="5372992"/>
            <a:ext cx="939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Evolutionary Models</a:t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4346"/>
            <a:ext cx="3492549" cy="2329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64346"/>
            <a:ext cx="3492549" cy="2329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64346"/>
            <a:ext cx="3492549" cy="23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794225" y="3188196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Neighbor-Joining (NJ)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866775" y="3778746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Distance-based. Good for large initial datasets.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4572524" y="3188196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UPGMA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4645074" y="3778746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Very Fast.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Assumes constant molecular clock (often unrealistic).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8350824" y="3188196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Maximum Likelihood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8423374" y="3778746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Slow.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Statistical model-based. Most accurate standard method.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Tree Building Methods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2967037" y="5185171"/>
            <a:ext cx="744762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 unrooted tree with branch lengths proportional to change.</a:t>
            </a:r>
            <a:endParaRPr dirty="0"/>
          </a:p>
        </p:txBody>
      </p:sp>
      <p:sp>
        <p:nvSpPr>
          <p:cNvPr id="331" name="Google Shape;331;p31"/>
          <p:cNvSpPr txBox="1"/>
          <p:nvPr/>
        </p:nvSpPr>
        <p:spPr>
          <a:xfrm>
            <a:off x="3633787" y="257686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3805237" y="2575917"/>
            <a:ext cx="584940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Start with a star-like tree (all tips connected to center).</a:t>
            </a:r>
            <a:endParaRPr dirty="0"/>
          </a:p>
        </p:txBody>
      </p:sp>
      <p:sp>
        <p:nvSpPr>
          <p:cNvPr id="333" name="Google Shape;333;p31"/>
          <p:cNvSpPr txBox="1"/>
          <p:nvPr/>
        </p:nvSpPr>
        <p:spPr>
          <a:xfrm>
            <a:off x="3633787" y="302633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3805237" y="3025378"/>
            <a:ext cx="4962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 the pair of taxa with the shortest distance.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3633787" y="347579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3805237" y="3474839"/>
            <a:ext cx="4962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Join them into a new node (neighbors).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3633787" y="392525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3805237" y="3924300"/>
            <a:ext cx="550501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Calculate distance from new node to everything else.</a:t>
            </a:r>
            <a:endParaRPr dirty="0"/>
          </a:p>
        </p:txBody>
      </p:sp>
      <p:sp>
        <p:nvSpPr>
          <p:cNvPr id="339" name="Google Shape;339;p31"/>
          <p:cNvSpPr txBox="1"/>
          <p:nvPr/>
        </p:nvSpPr>
        <p:spPr>
          <a:xfrm>
            <a:off x="3633787" y="437471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3805237" y="4373760"/>
            <a:ext cx="4962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Repeat until all taxa are joined.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Neighbor-Joining Algorithm</a:t>
            </a: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the Tree in R</a:t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571500" y="3721298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1. Calculate distance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dist_mat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dist.dna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dna_bin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model = "raw") # 2. Build tree tree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dist_mat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# 3. Basic Plot plot(tree)</a:t>
            </a:r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571500" y="334148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Root?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571500" y="393203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NJ trees are unrooted (no time direction). We use an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Outgroup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 known distant relative) to define the root.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Rooting the Tree</a:t>
            </a:r>
            <a:endParaRPr/>
          </a:p>
        </p:txBody>
      </p:sp>
      <p:sp>
        <p:nvSpPr>
          <p:cNvPr id="361" name="Google Shape;361;p33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240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571500" y="278844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Trees can be visualized in many ways to highlight different aspects.</a:t>
            </a:r>
            <a:endParaRPr dirty="0"/>
          </a:p>
        </p:txBody>
      </p:sp>
      <p:pic>
        <p:nvPicPr>
          <p:cNvPr id="370" name="Google Shape;37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7262" y="2124075"/>
            <a:ext cx="5079950" cy="380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4"/>
          <p:cNvSpPr txBox="1"/>
          <p:nvPr/>
        </p:nvSpPr>
        <p:spPr>
          <a:xfrm>
            <a:off x="638175" y="385292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762000" y="385196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Phylogram: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Branch lengths = distance.</a:t>
            </a:r>
            <a:endParaRPr dirty="0"/>
          </a:p>
        </p:txBody>
      </p:sp>
      <p:sp>
        <p:nvSpPr>
          <p:cNvPr id="373" name="Google Shape;373;p34"/>
          <p:cNvSpPr txBox="1"/>
          <p:nvPr/>
        </p:nvSpPr>
        <p:spPr>
          <a:xfrm>
            <a:off x="638175" y="43023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762000" y="430143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Cladogram: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shows branching order.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638175" y="475184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762000" y="4750891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Fan/Radial: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Good for large trees.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Tree Layouts</a:t>
            </a:r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8633"/>
            <a:ext cx="5286375" cy="230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78633"/>
            <a:ext cx="5286375" cy="230088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866775" y="3173908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Question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866775" y="3764458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Are these patients part of the same transmission chain?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629400" y="3173908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Logic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6629400" y="3764458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patient sequences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cluster together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 the tree (monophyletic group) with very short branch lengths, they are likely epidemiologically linked.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Clinical Application: Outbreaks</a:t>
            </a:r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3052762" y="2905422"/>
            <a:ext cx="69913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Imagine we have patients from Hong Kong (HK) and Shenzhen (SZ).</a:t>
            </a:r>
            <a:endParaRPr dirty="0"/>
          </a:p>
        </p:txBody>
      </p:sp>
      <p:sp>
        <p:nvSpPr>
          <p:cNvPr id="400" name="Google Shape;400;p36"/>
          <p:cNvSpPr txBox="1"/>
          <p:nvPr/>
        </p:nvSpPr>
        <p:spPr>
          <a:xfrm>
            <a:off x="2600324" y="3564433"/>
            <a:ext cx="819434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sequence them and build a tree with reference variants (Delta, Omicron).</a:t>
            </a:r>
            <a:endParaRPr dirty="0"/>
          </a:p>
        </p:txBody>
      </p:sp>
      <p:sp>
        <p:nvSpPr>
          <p:cNvPr id="401" name="Google Shape;401;p36"/>
          <p:cNvSpPr txBox="1"/>
          <p:nvPr/>
        </p:nvSpPr>
        <p:spPr>
          <a:xfrm>
            <a:off x="2900362" y="401484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3024187" y="4013894"/>
            <a:ext cx="6334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HK patients group with Omicron...</a:t>
            </a:r>
            <a:endParaRPr dirty="0"/>
          </a:p>
        </p:txBody>
      </p:sp>
      <p:sp>
        <p:nvSpPr>
          <p:cNvPr id="403" name="Google Shape;403;p36"/>
          <p:cNvSpPr txBox="1"/>
          <p:nvPr/>
        </p:nvSpPr>
        <p:spPr>
          <a:xfrm>
            <a:off x="2900362" y="446430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3024187" y="4463355"/>
            <a:ext cx="6334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 SZ patients group with Delta...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2900362" y="491376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3024187" y="4912816"/>
            <a:ext cx="6334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Two independent outbreaks caused by different variants.</a:t>
            </a:r>
            <a:endParaRPr dirty="0"/>
          </a:p>
        </p:txBody>
      </p:sp>
      <p:sp>
        <p:nvSpPr>
          <p:cNvPr id="407" name="Google Shape;407;p36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Example: HK vs SZ Outbreak</a:t>
            </a:r>
            <a:endParaRPr/>
          </a:p>
        </p:txBody>
      </p:sp>
      <p:sp>
        <p:nvSpPr>
          <p:cNvPr id="408" name="Google Shape;408;p36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3009900" y="4672210"/>
            <a:ext cx="67246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Patients 1 &amp; 2 are linked. Patients 3 is unrelated.</a:t>
            </a:r>
            <a:endParaRPr dirty="0"/>
          </a:p>
        </p:txBody>
      </p:sp>
      <p:sp>
        <p:nvSpPr>
          <p:cNvPr id="417" name="Google Shape;417;p37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Interpreting Clusters</a:t>
            </a:r>
            <a:endParaRPr/>
          </a:p>
        </p:txBody>
      </p:sp>
      <p:sp>
        <p:nvSpPr>
          <p:cNvPr id="418" name="Google Shape;418;p37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E2284-1E47-878A-95C2-95CC3807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40" y="1841500"/>
            <a:ext cx="8608885" cy="23798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2971799" y="2994719"/>
            <a:ext cx="728848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can save trees to open in other software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FigTree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Dendroscope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426" name="Google Shape;426;p38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Saving Your Tree</a:t>
            </a:r>
            <a:endParaRPr/>
          </a:p>
        </p:txBody>
      </p:sp>
      <p:sp>
        <p:nvSpPr>
          <p:cNvPr id="427" name="Google Shape;427;p38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Complete Workflow</a:t>
            </a:r>
            <a:endParaRPr/>
          </a:p>
        </p:txBody>
      </p:sp>
      <p:sp>
        <p:nvSpPr>
          <p:cNvPr id="435" name="Google Shape;435;p39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>
            <a:off x="571500" y="3567410"/>
            <a:ext cx="11049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1. Load Sequences seqs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readDNAStringSet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data.fasta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# 2. Align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(seqs) # 3. Convert &amp; Distance bin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as.DNAbin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(as(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DNAStringSet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dist.dna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(bin) # 4. Build &amp; Plot tree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plot(tree)</a:t>
            </a:r>
            <a:endParaRPr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2843212" y="290637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2967037" y="2905422"/>
            <a:ext cx="707948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MSA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foundation of phylogenetics; it identifies homologous sites.</a:t>
            </a:r>
            <a:endParaRPr dirty="0"/>
          </a:p>
        </p:txBody>
      </p:sp>
      <p:sp>
        <p:nvSpPr>
          <p:cNvPr id="445" name="Google Shape;445;p40"/>
          <p:cNvSpPr txBox="1"/>
          <p:nvPr/>
        </p:nvSpPr>
        <p:spPr>
          <a:xfrm>
            <a:off x="2843212" y="335583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6" name="Google Shape;446;p40"/>
          <p:cNvSpPr txBox="1"/>
          <p:nvPr/>
        </p:nvSpPr>
        <p:spPr>
          <a:xfrm>
            <a:off x="2967037" y="3354883"/>
            <a:ext cx="644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Genetic Distance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matrices quantify sequence differences.</a:t>
            </a:r>
            <a:endParaRPr/>
          </a:p>
        </p:txBody>
      </p:sp>
      <p:sp>
        <p:nvSpPr>
          <p:cNvPr id="447" name="Google Shape;447;p40"/>
          <p:cNvSpPr txBox="1"/>
          <p:nvPr/>
        </p:nvSpPr>
        <p:spPr>
          <a:xfrm>
            <a:off x="2843212" y="380529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2967037" y="3804344"/>
            <a:ext cx="747137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Neighbor-Joining (NJ)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a fast, reliable method for initial tree building.</a:t>
            </a:r>
            <a:endParaRPr dirty="0"/>
          </a:p>
        </p:txBody>
      </p:sp>
      <p:sp>
        <p:nvSpPr>
          <p:cNvPr id="449" name="Google Shape;449;p40"/>
          <p:cNvSpPr txBox="1"/>
          <p:nvPr/>
        </p:nvSpPr>
        <p:spPr>
          <a:xfrm>
            <a:off x="2843212" y="42547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0" name="Google Shape;450;p40"/>
          <p:cNvSpPr txBox="1"/>
          <p:nvPr/>
        </p:nvSpPr>
        <p:spPr>
          <a:xfrm>
            <a:off x="2967037" y="4253805"/>
            <a:ext cx="644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Clustering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 a tree indicates evolutionary relatedness.</a:t>
            </a:r>
            <a:endParaRPr/>
          </a:p>
        </p:txBody>
      </p:sp>
      <p:sp>
        <p:nvSpPr>
          <p:cNvPr id="451" name="Google Shape;451;p40"/>
          <p:cNvSpPr txBox="1"/>
          <p:nvPr/>
        </p:nvSpPr>
        <p:spPr>
          <a:xfrm>
            <a:off x="2843212" y="47042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2967037" y="4703266"/>
            <a:ext cx="644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workflow allows us to trace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pathogen transmission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paths.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Takeaways</a:t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3387" y="2031652"/>
            <a:ext cx="3705225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4770834" y="2622202"/>
            <a:ext cx="265033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Tutorial 11</a:t>
            </a:r>
            <a:endParaRPr/>
          </a:p>
        </p:txBody>
      </p:sp>
      <p:sp>
        <p:nvSpPr>
          <p:cNvPr id="463" name="Google Shape;463;p41"/>
          <p:cNvSpPr txBox="1"/>
          <p:nvPr/>
        </p:nvSpPr>
        <p:spPr>
          <a:xfrm>
            <a:off x="4833937" y="3565177"/>
            <a:ext cx="2524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Constructing the Tree</a:t>
            </a:r>
            <a:endParaRPr/>
          </a:p>
        </p:txBody>
      </p:sp>
      <p:sp>
        <p:nvSpPr>
          <p:cNvPr id="464" name="Google Shape;464;p41"/>
          <p:cNvSpPr txBox="1"/>
          <p:nvPr/>
        </p:nvSpPr>
        <p:spPr>
          <a:xfrm>
            <a:off x="4833937" y="4121348"/>
            <a:ext cx="2524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2"/>
          <p:cNvSpPr txBox="1"/>
          <p:nvPr/>
        </p:nvSpPr>
        <p:spPr>
          <a:xfrm>
            <a:off x="2440543" y="2087909"/>
            <a:ext cx="7310913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Tutorial 11: Constructing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Tree</a:t>
            </a:r>
            <a:endParaRPr/>
          </a:p>
        </p:txBody>
      </p:sp>
      <p:sp>
        <p:nvSpPr>
          <p:cNvPr id="472" name="Google Shape;472;p42"/>
          <p:cNvSpPr/>
          <p:nvPr/>
        </p:nvSpPr>
        <p:spPr>
          <a:xfrm>
            <a:off x="5619750" y="3992909"/>
            <a:ext cx="952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 txBox="1"/>
          <p:nvPr/>
        </p:nvSpPr>
        <p:spPr>
          <a:xfrm>
            <a:off x="2614612" y="4316759"/>
            <a:ext cx="69627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Building a Phylogenetic Tree from Outbreak Sequences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240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3"/>
          <p:cNvSpPr txBox="1"/>
          <p:nvPr/>
        </p:nvSpPr>
        <p:spPr>
          <a:xfrm>
            <a:off x="571500" y="251489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Task</a:t>
            </a:r>
            <a:endParaRPr/>
          </a:p>
        </p:txBody>
      </p:sp>
      <p:sp>
        <p:nvSpPr>
          <p:cNvPr id="482" name="Google Shape;482;p43"/>
          <p:cNvSpPr txBox="1"/>
          <p:nvPr/>
        </p:nvSpPr>
        <p:spPr>
          <a:xfrm>
            <a:off x="571500" y="310544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are investigating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SARS-CoV-2 outbreak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83" name="Google Shape;483;p43"/>
          <p:cNvSpPr txBox="1"/>
          <p:nvPr/>
        </p:nvSpPr>
        <p:spPr>
          <a:xfrm>
            <a:off x="571500" y="3650158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endParaRPr/>
          </a:p>
        </p:txBody>
      </p:sp>
      <p:sp>
        <p:nvSpPr>
          <p:cNvPr id="484" name="Google Shape;484;p43"/>
          <p:cNvSpPr txBox="1"/>
          <p:nvPr/>
        </p:nvSpPr>
        <p:spPr>
          <a:xfrm>
            <a:off x="571500" y="509379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Assign patients to variants.</a:t>
            </a:r>
            <a:endParaRPr/>
          </a:p>
        </p:txBody>
      </p:sp>
      <p:sp>
        <p:nvSpPr>
          <p:cNvPr id="486" name="Google Shape;486;p43"/>
          <p:cNvSpPr txBox="1"/>
          <p:nvPr/>
        </p:nvSpPr>
        <p:spPr>
          <a:xfrm>
            <a:off x="638175" y="410057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7" name="Google Shape;487;p43"/>
          <p:cNvSpPr txBox="1"/>
          <p:nvPr/>
        </p:nvSpPr>
        <p:spPr>
          <a:xfrm>
            <a:off x="762000" y="409961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 Reference Variants (Wuhan, Alpha, Delta, Omicron).</a:t>
            </a:r>
            <a:endParaRPr/>
          </a:p>
        </p:txBody>
      </p:sp>
      <p:sp>
        <p:nvSpPr>
          <p:cNvPr id="488" name="Google Shape;488;p43"/>
          <p:cNvSpPr txBox="1"/>
          <p:nvPr/>
        </p:nvSpPr>
        <p:spPr>
          <a:xfrm>
            <a:off x="638175" y="455003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9" name="Google Shape;489;p43"/>
          <p:cNvSpPr txBox="1"/>
          <p:nvPr/>
        </p:nvSpPr>
        <p:spPr>
          <a:xfrm>
            <a:off x="762000" y="454908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 Patient Samples (HK and SZ).</a:t>
            </a:r>
            <a:endParaRPr/>
          </a:p>
        </p:txBody>
      </p:sp>
      <p:sp>
        <p:nvSpPr>
          <p:cNvPr id="490" name="Google Shape;490;p43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Scenario</a:t>
            </a:r>
            <a:endParaRPr/>
          </a:p>
        </p:txBody>
      </p:sp>
      <p:sp>
        <p:nvSpPr>
          <p:cNvPr id="491" name="Google Shape;491;p43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7557"/>
            <a:ext cx="2547937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837557"/>
            <a:ext cx="2547937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837557"/>
            <a:ext cx="2547937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837557"/>
            <a:ext cx="2547937" cy="238303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4"/>
          <p:cNvSpPr txBox="1"/>
          <p:nvPr/>
        </p:nvSpPr>
        <p:spPr>
          <a:xfrm>
            <a:off x="866775" y="3161407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478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03" name="Google Shape;503;p44"/>
          <p:cNvSpPr txBox="1"/>
          <p:nvPr/>
        </p:nvSpPr>
        <p:spPr>
          <a:xfrm>
            <a:off x="817840" y="3875782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Align</a:t>
            </a:r>
            <a:endParaRPr/>
          </a:p>
        </p:txBody>
      </p:sp>
      <p:sp>
        <p:nvSpPr>
          <p:cNvPr id="504" name="Google Shape;504;p44"/>
          <p:cNvSpPr txBox="1"/>
          <p:nvPr/>
        </p:nvSpPr>
        <p:spPr>
          <a:xfrm>
            <a:off x="866775" y="4466332"/>
            <a:ext cx="1957387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msa()</a:t>
            </a:r>
            <a:endParaRPr/>
          </a:p>
        </p:txBody>
      </p:sp>
      <p:sp>
        <p:nvSpPr>
          <p:cNvPr id="505" name="Google Shape;505;p44"/>
          <p:cNvSpPr txBox="1"/>
          <p:nvPr/>
        </p:nvSpPr>
        <p:spPr>
          <a:xfrm>
            <a:off x="3700462" y="3161407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478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06" name="Google Shape;506;p44"/>
          <p:cNvSpPr txBox="1"/>
          <p:nvPr/>
        </p:nvSpPr>
        <p:spPr>
          <a:xfrm>
            <a:off x="3651527" y="3875782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Convert</a:t>
            </a:r>
            <a:endParaRPr/>
          </a:p>
        </p:txBody>
      </p:sp>
      <p:sp>
        <p:nvSpPr>
          <p:cNvPr id="507" name="Google Shape;507;p44"/>
          <p:cNvSpPr txBox="1"/>
          <p:nvPr/>
        </p:nvSpPr>
        <p:spPr>
          <a:xfrm>
            <a:off x="3700462" y="4466332"/>
            <a:ext cx="1957387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DNAbin</a:t>
            </a:r>
            <a:endParaRPr/>
          </a:p>
        </p:txBody>
      </p:sp>
      <p:sp>
        <p:nvSpPr>
          <p:cNvPr id="508" name="Google Shape;508;p44"/>
          <p:cNvSpPr txBox="1"/>
          <p:nvPr/>
        </p:nvSpPr>
        <p:spPr>
          <a:xfrm>
            <a:off x="6534150" y="3161407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478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09" name="Google Shape;509;p44"/>
          <p:cNvSpPr txBox="1"/>
          <p:nvPr/>
        </p:nvSpPr>
        <p:spPr>
          <a:xfrm>
            <a:off x="6485215" y="3875782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Distance</a:t>
            </a:r>
            <a:endParaRPr/>
          </a:p>
        </p:txBody>
      </p:sp>
      <p:sp>
        <p:nvSpPr>
          <p:cNvPr id="510" name="Google Shape;510;p44"/>
          <p:cNvSpPr txBox="1"/>
          <p:nvPr/>
        </p:nvSpPr>
        <p:spPr>
          <a:xfrm>
            <a:off x="6534150" y="4466332"/>
            <a:ext cx="1957387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dist.dna()</a:t>
            </a:r>
            <a:endParaRPr/>
          </a:p>
        </p:txBody>
      </p:sp>
      <p:sp>
        <p:nvSpPr>
          <p:cNvPr id="511" name="Google Shape;511;p44"/>
          <p:cNvSpPr txBox="1"/>
          <p:nvPr/>
        </p:nvSpPr>
        <p:spPr>
          <a:xfrm>
            <a:off x="9367837" y="3161407"/>
            <a:ext cx="19573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478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12" name="Google Shape;512;p44"/>
          <p:cNvSpPr txBox="1"/>
          <p:nvPr/>
        </p:nvSpPr>
        <p:spPr>
          <a:xfrm>
            <a:off x="9318902" y="3875782"/>
            <a:ext cx="2055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Tree</a:t>
            </a:r>
            <a:endParaRPr/>
          </a:p>
        </p:txBody>
      </p:sp>
      <p:sp>
        <p:nvSpPr>
          <p:cNvPr id="513" name="Google Shape;513;p44"/>
          <p:cNvSpPr txBox="1"/>
          <p:nvPr/>
        </p:nvSpPr>
        <p:spPr>
          <a:xfrm>
            <a:off x="9367837" y="4466332"/>
            <a:ext cx="1957387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nj()</a:t>
            </a:r>
            <a:endParaRPr/>
          </a:p>
        </p:txBody>
      </p:sp>
      <p:sp>
        <p:nvSpPr>
          <p:cNvPr id="514" name="Google Shape;514;p44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Workflow</a:t>
            </a:r>
            <a:endParaRPr/>
          </a:p>
        </p:txBody>
      </p:sp>
      <p:sp>
        <p:nvSpPr>
          <p:cNvPr id="515" name="Google Shape;515;p44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5"/>
          <p:cNvSpPr txBox="1"/>
          <p:nvPr/>
        </p:nvSpPr>
        <p:spPr>
          <a:xfrm>
            <a:off x="4319587" y="2880419"/>
            <a:ext cx="430189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First, we create the dataset and align it.</a:t>
            </a:r>
            <a:endParaRPr dirty="0"/>
          </a:p>
        </p:txBody>
      </p:sp>
      <p:sp>
        <p:nvSpPr>
          <p:cNvPr id="523" name="Google Shape;523;p45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Steps 1 &amp; 2: Load and Align</a:t>
            </a:r>
            <a:endParaRPr/>
          </a:p>
        </p:txBody>
      </p:sp>
      <p:sp>
        <p:nvSpPr>
          <p:cNvPr id="524" name="Google Shape;524;p45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6"/>
          <p:cNvSpPr txBox="1"/>
          <p:nvPr/>
        </p:nvSpPr>
        <p:spPr>
          <a:xfrm>
            <a:off x="4386262" y="2875657"/>
            <a:ext cx="517337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Prepare the data for the ape package.</a:t>
            </a:r>
            <a:endParaRPr dirty="0"/>
          </a:p>
        </p:txBody>
      </p:sp>
      <p:sp>
        <p:nvSpPr>
          <p:cNvPr id="532" name="Google Shape;532;p46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Steps 3 &amp; 4: Convert and Distance</a:t>
            </a:r>
            <a:endParaRPr/>
          </a:p>
        </p:txBody>
      </p:sp>
      <p:sp>
        <p:nvSpPr>
          <p:cNvPr id="533" name="Google Shape;533;p46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7"/>
          <p:cNvSpPr txBox="1"/>
          <p:nvPr/>
        </p:nvSpPr>
        <p:spPr>
          <a:xfrm>
            <a:off x="4410075" y="2880419"/>
            <a:ext cx="454392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Construct the Neighbor-Joining tree.</a:t>
            </a:r>
            <a:endParaRPr dirty="0"/>
          </a:p>
        </p:txBody>
      </p:sp>
      <p:sp>
        <p:nvSpPr>
          <p:cNvPr id="541" name="Google Shape;541;p47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5: Build Tree</a:t>
            </a:r>
            <a:endParaRPr/>
          </a:p>
        </p:txBody>
      </p:sp>
      <p:sp>
        <p:nvSpPr>
          <p:cNvPr id="542" name="Google Shape;542;p47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8"/>
          <p:cNvSpPr txBox="1"/>
          <p:nvPr/>
        </p:nvSpPr>
        <p:spPr>
          <a:xfrm>
            <a:off x="4305300" y="2880419"/>
            <a:ext cx="507620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Root the tree using the ancestral strain.</a:t>
            </a:r>
            <a:endParaRPr dirty="0"/>
          </a:p>
        </p:txBody>
      </p:sp>
      <p:sp>
        <p:nvSpPr>
          <p:cNvPr id="550" name="Google Shape;550;p48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6: Rooting</a:t>
            </a:r>
            <a:endParaRPr/>
          </a:p>
        </p:txBody>
      </p:sp>
      <p:sp>
        <p:nvSpPr>
          <p:cNvPr id="551" name="Google Shape;551;p48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9"/>
          <p:cNvSpPr txBox="1"/>
          <p:nvPr/>
        </p:nvSpPr>
        <p:spPr>
          <a:xfrm>
            <a:off x="571500" y="3317676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Look for Clusters</a:t>
            </a:r>
            <a:endParaRPr/>
          </a:p>
        </p:txBody>
      </p:sp>
      <p:sp>
        <p:nvSpPr>
          <p:cNvPr id="559" name="Google Shape;559;p49"/>
          <p:cNvSpPr txBox="1"/>
          <p:nvPr/>
        </p:nvSpPr>
        <p:spPr>
          <a:xfrm>
            <a:off x="6334125" y="334148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560" name="Google Shape;560;p49"/>
          <p:cNvSpPr txBox="1"/>
          <p:nvPr/>
        </p:nvSpPr>
        <p:spPr>
          <a:xfrm>
            <a:off x="6334125" y="393203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suggests two separate introduction events, rather than a single cross-border transmission chain.</a:t>
            </a:r>
            <a:endParaRPr/>
          </a:p>
        </p:txBody>
      </p:sp>
      <p:sp>
        <p:nvSpPr>
          <p:cNvPr id="561" name="Google Shape;561;p49"/>
          <p:cNvSpPr txBox="1"/>
          <p:nvPr/>
        </p:nvSpPr>
        <p:spPr>
          <a:xfrm>
            <a:off x="638175" y="38425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62" name="Google Shape;562;p49"/>
          <p:cNvSpPr txBox="1"/>
          <p:nvPr/>
        </p:nvSpPr>
        <p:spPr>
          <a:xfrm>
            <a:off x="762000" y="3841551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HK Patients (1,2,3):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Should cluster with Omicron.</a:t>
            </a:r>
            <a:endParaRPr/>
          </a:p>
        </p:txBody>
      </p:sp>
      <p:sp>
        <p:nvSpPr>
          <p:cNvPr id="563" name="Google Shape;563;p49"/>
          <p:cNvSpPr txBox="1"/>
          <p:nvPr/>
        </p:nvSpPr>
        <p:spPr>
          <a:xfrm>
            <a:off x="638175" y="429196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64" name="Google Shape;564;p49"/>
          <p:cNvSpPr txBox="1"/>
          <p:nvPr/>
        </p:nvSpPr>
        <p:spPr>
          <a:xfrm>
            <a:off x="762000" y="429101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 Patients (4,5):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Should cluster with Delta.</a:t>
            </a:r>
            <a:endParaRPr/>
          </a:p>
        </p:txBody>
      </p:sp>
      <p:sp>
        <p:nvSpPr>
          <p:cNvPr id="565" name="Google Shape;565;p49"/>
          <p:cNvSpPr txBox="1"/>
          <p:nvPr/>
        </p:nvSpPr>
        <p:spPr>
          <a:xfrm>
            <a:off x="571500" y="62865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Outcome</a:t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571500" y="138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2287" y="2155477"/>
            <a:ext cx="6067425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0"/>
          <p:cNvSpPr txBox="1"/>
          <p:nvPr/>
        </p:nvSpPr>
        <p:spPr>
          <a:xfrm>
            <a:off x="3530679" y="2746027"/>
            <a:ext cx="513064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Session 11 Complete</a:t>
            </a:r>
            <a:endParaRPr/>
          </a:p>
        </p:txBody>
      </p:sp>
      <p:sp>
        <p:nvSpPr>
          <p:cNvPr id="575" name="Google Shape;575;p50"/>
          <p:cNvSpPr txBox="1"/>
          <p:nvPr/>
        </p:nvSpPr>
        <p:spPr>
          <a:xfrm>
            <a:off x="3652837" y="3689002"/>
            <a:ext cx="48863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can now build phylogenetic trees in R!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1204</Words>
  <Application>Microsoft Macintosh PowerPoint</Application>
  <PresentationFormat>Widescreen</PresentationFormat>
  <Paragraphs>198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Playfair Display</vt:lpstr>
      <vt:lpstr>Lato</vt:lpstr>
      <vt:lpstr>Arial</vt:lpstr>
      <vt:lpstr>Fira Code</vt:lpstr>
      <vt:lpstr>Times New Roman</vt:lpstr>
      <vt:lpstr>Lato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20</cp:revision>
  <dcterms:modified xsi:type="dcterms:W3CDTF">2026-01-22T04:07:04Z</dcterms:modified>
</cp:coreProperties>
</file>