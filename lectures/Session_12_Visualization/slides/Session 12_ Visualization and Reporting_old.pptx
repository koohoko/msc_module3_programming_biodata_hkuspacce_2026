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embeddedFontLs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Open Sans Light" panose="020F0302020204030204" pitchFamily="34" charset="0"/>
      <p:regular r:id=""/>
      <p:bold r:id=""/>
      <p:italic r:id=""/>
      <p:boldItalic r:id=""/>
    </p:embeddedFont>
    <p:embeddedFont>
      <p:font typeface="Roboto Slab" pitchFamily="2" charset="0"/>
      <p:regular r:id="rId45"/>
      <p:bold r:id="rId46"/>
    </p:embeddedFont>
    <p:embeddedFont>
      <p:font typeface="Roboto Slab SemiBold" panose="020F0502020204030204" pitchFamily="34" charset="0"/>
      <p:regular r:id=""/>
      <p:bold r:id="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1AF527F-A78C-49EC-8F32-C04FC0C5609C}">
  <a:tblStyle styleId="{81AF527F-A78C-49EC-8F32-C04FC0C560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1"/>
    <p:restoredTop sz="94635"/>
  </p:normalViewPr>
  <p:slideViewPr>
    <p:cSldViewPr snapToGrid="0">
      <p:cViewPr varScale="1">
        <p:scale>
          <a:sx n="106" d="100"/>
          <a:sy n="106" d="100"/>
        </p:scale>
        <p:origin x="184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876675" y="1657350"/>
            <a:ext cx="44386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MODULE 3: PROGRAMMING FOR BIOLOGICAL DATA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65708" y="1984920"/>
            <a:ext cx="466058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Visualization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 Reporting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3870870"/>
            <a:ext cx="952500" cy="381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876675" y="4194720"/>
            <a:ext cx="44386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64748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ggtree and R Markdown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76675" y="5002410"/>
            <a:ext cx="44386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Instructor: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Dr. Haogao Gu | </a:t>
            </a:r>
            <a:r>
              <a:rPr lang="en-US" sz="13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Date:</a:t>
            </a: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February 11,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324397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Journey So Far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358580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Today's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939605"/>
            <a:ext cx="6430879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Making your results look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professional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reproducible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3425" y="3309937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85800" y="283970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283874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Sessions 1-4: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R Fundamentals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5800" y="328916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3288208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Sessions 5-8: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Statistics &amp; Quality Control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5800" y="373862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373766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Sessions 9-11: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Bioinformatics (Sequences, Trees)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Welcome to the Final Session! 🎉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9578"/>
            <a:ext cx="2547937" cy="3369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339578"/>
            <a:ext cx="2547937" cy="3369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339578"/>
            <a:ext cx="2547937" cy="3369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339578"/>
            <a:ext cx="2547937" cy="3369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17840" y="337780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ggtree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3958828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Create publication-quality phylogenetic trees.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651527" y="337780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Metadata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700462" y="3958828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Annotate trees with clinical data (colors, shapes).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85215" y="337780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Export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534150" y="3958828"/>
            <a:ext cx="1957387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Save high-resolution figures (PNG, PDF).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318902" y="3377803"/>
            <a:ext cx="205525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Reporting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367837" y="3958828"/>
            <a:ext cx="1957387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Generate reproducible reports using R Markdown.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45443" y="2682478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50556" y="26824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55668" y="268247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89356" y="2682478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Learning Objectives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07815"/>
            <a:ext cx="11049000" cy="329937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915352" y="2398365"/>
            <a:ext cx="10361295" cy="14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Part 1: Advanced Visualization with ggtree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162050" y="4036665"/>
            <a:ext cx="98679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Beyond Basic Plots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66749" y="2273796"/>
            <a:ext cx="528637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Bioconductor package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that extends ggplot2 specifically for phylogenetic trees.</a:t>
            </a:r>
            <a:endParaRPr dirty="0"/>
          </a:p>
        </p:txBody>
      </p:sp>
      <p:sp>
        <p:nvSpPr>
          <p:cNvPr id="151" name="Google Shape;151;p17"/>
          <p:cNvSpPr txBox="1"/>
          <p:nvPr/>
        </p:nvSpPr>
        <p:spPr>
          <a:xfrm>
            <a:off x="685800" y="362819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3627239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Publication-ready aesthetics.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85800" y="407765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407670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Layer-based syntax (grammar of graphics).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85800" y="452711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4526160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Supports multiple tree file formats.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85800" y="4976574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4975621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Complex annotation capabilities.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What is ggtree?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B40833-A4D1-8958-94AB-D138D0116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480" y="1468934"/>
            <a:ext cx="6772602" cy="530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8"/>
          <p:cNvGraphicFramePr/>
          <p:nvPr/>
        </p:nvGraphicFramePr>
        <p:xfrm>
          <a:off x="571500" y="2566987"/>
          <a:ext cx="11039475" cy="3105125"/>
        </p:xfrm>
        <a:graphic>
          <a:graphicData uri="http://schemas.openxmlformats.org/drawingml/2006/table">
            <a:tbl>
              <a:tblPr firstRow="1" bandRow="1">
                <a:noFill/>
                <a:tableStyleId>{81AF527F-A78C-49EC-8F32-C04FC0C5609C}</a:tableStyleId>
              </a:tblPr>
              <a:tblGrid>
                <a:gridCol w="3185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ape plot()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ggtree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Appearance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Basic, functional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Polished, customizable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Syntax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Base graphics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ggplot2 layers (+)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Metadata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Manual mapping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Easy integration (%&lt;+%)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Learning Curve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Medium (if new to ggplot)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8" name="Google Shape;168;p18"/>
          <p:cNvSpPr/>
          <p:nvPr/>
        </p:nvSpPr>
        <p:spPr>
          <a:xfrm>
            <a:off x="576262" y="3181350"/>
            <a:ext cx="31850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3761333" y="3181350"/>
            <a:ext cx="32733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7034658" y="3181350"/>
            <a:ext cx="45810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576262" y="3800475"/>
            <a:ext cx="31850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761333" y="3800475"/>
            <a:ext cx="32733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7034658" y="3800475"/>
            <a:ext cx="45810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76262" y="4419600"/>
            <a:ext cx="31850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3761333" y="4419600"/>
            <a:ext cx="32733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034658" y="4419600"/>
            <a:ext cx="45810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76262" y="5038725"/>
            <a:ext cx="318507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3761333" y="5038725"/>
            <a:ext cx="3273325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034658" y="5038725"/>
            <a:ext cx="458107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ggtree vs. Base R (ape)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2962275" y="4813994"/>
            <a:ext cx="62674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Just like ggplot(), we start with the base object and add layers.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Basic ggtree Syntax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8729"/>
            <a:ext cx="5286375" cy="3611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18729"/>
            <a:ext cx="5286375" cy="361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66775" y="251400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Code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629400" y="2514004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Explanation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743700" y="302930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819900" y="3028354"/>
            <a:ext cx="45053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geom_tiplab(): Adds text labels to tips.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43700" y="3488293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819900" y="3487340"/>
            <a:ext cx="45053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geom_tippoint(): Adds dots to tips.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743700" y="394727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819900" y="3946326"/>
            <a:ext cx="48006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geom_nodepoint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(): Adds dots to internal nodes.</a:t>
            </a:r>
            <a:endParaRPr dirty="0"/>
          </a:p>
        </p:txBody>
      </p:sp>
      <p:sp>
        <p:nvSpPr>
          <p:cNvPr id="207" name="Google Shape;207;p20"/>
          <p:cNvSpPr txBox="1"/>
          <p:nvPr/>
        </p:nvSpPr>
        <p:spPr>
          <a:xfrm>
            <a:off x="6743700" y="474142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819900" y="4740473"/>
            <a:ext cx="450532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geom_treescale(): Adds a distance scale bar.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Adding Layers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Tree Layouts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3716536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Rectangular (Standard)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(tree, layout = "rectangular") # Circular (Good for large trees)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(tree, layout = "circular") # Fan (Spreads out tips)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(tree, layout = "fan")</a:t>
            </a: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2633662" y="2527994"/>
            <a:ext cx="7677401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 %&lt;+% operator allows you to attach a data frame to the tree object.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Attaching Metadata</a:t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2157412" y="4704457"/>
            <a:ext cx="7877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can map colors, shapes, and sizes to any column in your attached metadata.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Coloring by Metadata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6334125" y="3454896"/>
            <a:ext cx="52863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geom_treescale()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adds a traditional line scale.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334125" y="4009132"/>
            <a:ext cx="528637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theme_tree2()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adds an axis with distance values at the bottom.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Adding a Scale Bar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3128962" y="2660451"/>
            <a:ext cx="59340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Draw attention to specific clusters (e.g., an outbreak cluster).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3190875" y="5148262"/>
            <a:ext cx="5810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need to know the internal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node ID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to highlight a clade.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Highlighting Clades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2505075" y="4818757"/>
            <a:ext cx="7181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Useful when you have &gt;50 sequences, as it utilizes space more efficiently.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Circular Layout Example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Saving High-Quality Figures</a:t>
            </a:r>
            <a:endParaRPr/>
          </a:p>
        </p:txBody>
      </p:sp>
      <p:sp>
        <p:nvSpPr>
          <p:cNvPr id="274" name="Google Shape;274;p2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7"/>
          <p:cNvSpPr txBox="1"/>
          <p:nvPr/>
        </p:nvSpPr>
        <p:spPr>
          <a:xfrm>
            <a:off x="571500" y="3562647"/>
            <a:ext cx="11049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Create plot object p &lt;-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ggtree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(tree) +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geom_tiplab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# Save as PNG (Raster)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ggsave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tree.png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p, width = 8, height = 6, dpi = 300) # Save as PDF (Vector - Best for editing)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ggsave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tree.pdf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p, width = 8, height = 6)</a:t>
            </a: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 txBox="1"/>
          <p:nvPr/>
        </p:nvSpPr>
        <p:spPr>
          <a:xfrm>
            <a:off x="2771775" y="2891135"/>
            <a:ext cx="68389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 theme_tree2() for axis clarity.</a:t>
            </a:r>
            <a:endParaRPr/>
          </a:p>
        </p:txBody>
      </p:sp>
      <p:sp>
        <p:nvSpPr>
          <p:cNvPr id="283" name="Google Shape;283;p28"/>
          <p:cNvSpPr txBox="1"/>
          <p:nvPr/>
        </p:nvSpPr>
        <p:spPr>
          <a:xfrm>
            <a:off x="2771775" y="3350121"/>
            <a:ext cx="68389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Set adequate fig.width and fig.height to prevent label overlap.</a:t>
            </a:r>
            <a:endParaRPr/>
          </a:p>
        </p:txBody>
      </p:sp>
      <p:sp>
        <p:nvSpPr>
          <p:cNvPr id="284" name="Google Shape;284;p28"/>
          <p:cNvSpPr txBox="1"/>
          <p:nvPr/>
        </p:nvSpPr>
        <p:spPr>
          <a:xfrm>
            <a:off x="2771775" y="3809107"/>
            <a:ext cx="683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300 dpi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minimum for print.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2771775" y="4258567"/>
            <a:ext cx="683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Choose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colorblind-friendly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palettes (e.g., viridis).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2771775" y="4708028"/>
            <a:ext cx="6838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Ensure text size is readable after resizing.</a:t>
            </a:r>
            <a:endParaRPr/>
          </a:p>
        </p:txBody>
      </p:sp>
      <p:pic>
        <p:nvPicPr>
          <p:cNvPr id="287" name="Google Shape;287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1775" y="295304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1775" y="3412033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1775" y="387101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1775" y="432048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1775" y="4769941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8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Publication Tips</a:t>
            </a:r>
            <a:endParaRPr/>
          </a:p>
        </p:txBody>
      </p:sp>
      <p:sp>
        <p:nvSpPr>
          <p:cNvPr id="293" name="Google Shape;293;p28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2275" y="2160240"/>
            <a:ext cx="6267450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3425666" y="2750790"/>
            <a:ext cx="534066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Part 2: R Markdown</a:t>
            </a:r>
            <a:endParaRPr/>
          </a:p>
        </p:txBody>
      </p:sp>
      <p:sp>
        <p:nvSpPr>
          <p:cNvPr id="302" name="Google Shape;302;p29"/>
          <p:cNvSpPr txBox="1"/>
          <p:nvPr/>
        </p:nvSpPr>
        <p:spPr>
          <a:xfrm>
            <a:off x="3552825" y="3684240"/>
            <a:ext cx="5086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Reproducible Research &amp; Reporting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571500" y="2938760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 file format that combines: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571500" y="4869953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It "knits" these together into a final output document.</a:t>
            </a:r>
            <a:endParaRPr/>
          </a:p>
        </p:txBody>
      </p:sp>
      <p:sp>
        <p:nvSpPr>
          <p:cNvPr id="313" name="Google Shape;313;p30"/>
          <p:cNvSpPr txBox="1"/>
          <p:nvPr/>
        </p:nvSpPr>
        <p:spPr>
          <a:xfrm>
            <a:off x="771525" y="3427273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952500" y="3426321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Code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(R chunks).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771525" y="3876734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952500" y="387578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Results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(Plots, Tables).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771525" y="4326195"/>
            <a:ext cx="1809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952500" y="4325242"/>
            <a:ext cx="4905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Narrative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(Text, explanations).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What is R Markdown?</a:t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6278"/>
            <a:ext cx="5286375" cy="283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06278"/>
            <a:ext cx="5286375" cy="283606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866775" y="2901553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Traditional Workflow</a:t>
            </a:r>
            <a:endParaRPr/>
          </a:p>
        </p:txBody>
      </p:sp>
      <p:sp>
        <p:nvSpPr>
          <p:cNvPr id="330" name="Google Shape;330;p31"/>
          <p:cNvSpPr txBox="1"/>
          <p:nvPr/>
        </p:nvSpPr>
        <p:spPr>
          <a:xfrm>
            <a:off x="866775" y="3482578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Run R -&gt; Copy Graph -&gt; Paste to Word -&gt; Write Text.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866775" y="4362450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Problem: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Data changes? You have to redo everything manually.</a:t>
            </a:r>
            <a:endParaRPr/>
          </a:p>
        </p:txBody>
      </p:sp>
      <p:sp>
        <p:nvSpPr>
          <p:cNvPr id="332" name="Google Shape;332;p31"/>
          <p:cNvSpPr txBox="1"/>
          <p:nvPr/>
        </p:nvSpPr>
        <p:spPr>
          <a:xfrm>
            <a:off x="6629400" y="2901553"/>
            <a:ext cx="493061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R Markdown Workflow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6629400" y="3482578"/>
            <a:ext cx="4695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Code and Text live together.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6629400" y="4027289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Solution: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Data changes? Just click "Knit" and the report updates automatically.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Why Use R Markdown?</a:t>
            </a:r>
            <a:endParaRPr/>
          </a:p>
        </p:txBody>
      </p:sp>
      <p:sp>
        <p:nvSpPr>
          <p:cNvPr id="336" name="Google Shape;336;p31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Basic Structure</a:t>
            </a:r>
            <a:endParaRPr/>
          </a:p>
        </p:txBody>
      </p:sp>
      <p:sp>
        <p:nvSpPr>
          <p:cNvPr id="344" name="Google Shape;344;p32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571500" y="3716536"/>
            <a:ext cx="11049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 title: "My Report" output: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html_document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--- # Introduction This is the analysis of... {r} summary(data) # Conclusion The results show...</a:t>
            </a:r>
            <a:endParaRPr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3"/>
          <p:cNvSpPr txBox="1"/>
          <p:nvPr/>
        </p:nvSpPr>
        <p:spPr>
          <a:xfrm>
            <a:off x="3509962" y="2541389"/>
            <a:ext cx="51720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Located at the very top of the file, between --- lines.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2576512" y="5267325"/>
            <a:ext cx="738563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Controls the document metadata and output format (PDF, HTML, Word).</a:t>
            </a:r>
            <a:endParaRPr dirty="0"/>
          </a:p>
        </p:txBody>
      </p:sp>
      <p:sp>
        <p:nvSpPr>
          <p:cNvPr id="354" name="Google Shape;354;p33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The YAML Header</a:t>
            </a:r>
            <a:endParaRPr/>
          </a:p>
        </p:txBody>
      </p:sp>
      <p:sp>
        <p:nvSpPr>
          <p:cNvPr id="355" name="Google Shape;355;p33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4291012" y="3572172"/>
            <a:ext cx="36099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Code goes inside the triple backticks.</a:t>
            </a:r>
            <a:endParaRPr/>
          </a:p>
        </p:txBody>
      </p:sp>
      <p:sp>
        <p:nvSpPr>
          <p:cNvPr id="363" name="Google Shape;363;p34"/>
          <p:cNvSpPr txBox="1"/>
          <p:nvPr/>
        </p:nvSpPr>
        <p:spPr>
          <a:xfrm>
            <a:off x="4429125" y="4231183"/>
            <a:ext cx="3333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Chunk Options: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Control behavior.</a:t>
            </a: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4486275" y="468159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4562475" y="4680644"/>
            <a:ext cx="32575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echo=TRUE: Show code in report.</a:t>
            </a:r>
            <a:endParaRPr/>
          </a:p>
        </p:txBody>
      </p:sp>
      <p:sp>
        <p:nvSpPr>
          <p:cNvPr id="366" name="Google Shape;366;p34"/>
          <p:cNvSpPr txBox="1"/>
          <p:nvPr/>
        </p:nvSpPr>
        <p:spPr>
          <a:xfrm>
            <a:off x="4486275" y="5140582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4562475" y="5139630"/>
            <a:ext cx="32575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eval=TRUE: Run code.</a:t>
            </a:r>
            <a:endParaRPr/>
          </a:p>
        </p:txBody>
      </p:sp>
      <p:sp>
        <p:nvSpPr>
          <p:cNvPr id="368" name="Google Shape;368;p34"/>
          <p:cNvSpPr txBox="1"/>
          <p:nvPr/>
        </p:nvSpPr>
        <p:spPr>
          <a:xfrm>
            <a:off x="4486275" y="559956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4562475" y="5598616"/>
            <a:ext cx="325755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fig.width=8: Figure width.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Code Chunks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8" name="Google Shape;378;p35"/>
          <p:cNvGraphicFramePr/>
          <p:nvPr/>
        </p:nvGraphicFramePr>
        <p:xfrm>
          <a:off x="571500" y="25669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{81AF527F-A78C-49EC-8F32-C04FC0C5609C}</a:tableStyleId>
              </a:tblPr>
              <a:tblGrid>
                <a:gridCol w="240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Effect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echo=FALSE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Hide code, show output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Reports for non-coders (clinicians/managers)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eval=FALSE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Show code, don't run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Teaching/Demonstration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warning=FALSE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Suppress warnings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Cleaner final document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message=FALSE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Suppress messages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47556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Hide "Loading package" text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9" name="Google Shape;379;p35"/>
          <p:cNvSpPr/>
          <p:nvPr/>
        </p:nvSpPr>
        <p:spPr>
          <a:xfrm>
            <a:off x="576262" y="3181350"/>
            <a:ext cx="24092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5"/>
          <p:cNvSpPr/>
          <p:nvPr/>
        </p:nvSpPr>
        <p:spPr>
          <a:xfrm>
            <a:off x="2985492" y="3181350"/>
            <a:ext cx="3157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5"/>
          <p:cNvSpPr/>
          <p:nvPr/>
        </p:nvSpPr>
        <p:spPr>
          <a:xfrm>
            <a:off x="6142880" y="3181350"/>
            <a:ext cx="547285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576262" y="3800475"/>
            <a:ext cx="24092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2985492" y="3800475"/>
            <a:ext cx="3157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5"/>
          <p:cNvSpPr/>
          <p:nvPr/>
        </p:nvSpPr>
        <p:spPr>
          <a:xfrm>
            <a:off x="6142880" y="3800475"/>
            <a:ext cx="547285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5"/>
          <p:cNvSpPr/>
          <p:nvPr/>
        </p:nvSpPr>
        <p:spPr>
          <a:xfrm>
            <a:off x="576262" y="4419600"/>
            <a:ext cx="24092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2985492" y="4419600"/>
            <a:ext cx="3157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6142880" y="4419600"/>
            <a:ext cx="547285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5"/>
          <p:cNvSpPr/>
          <p:nvPr/>
        </p:nvSpPr>
        <p:spPr>
          <a:xfrm>
            <a:off x="576262" y="5038725"/>
            <a:ext cx="2409229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2985492" y="5038725"/>
            <a:ext cx="3157388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6142880" y="5038725"/>
            <a:ext cx="5472856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Common Chunk Options</a:t>
            </a:r>
            <a:endParaRPr/>
          </a:p>
        </p:txBody>
      </p:sp>
      <p:sp>
        <p:nvSpPr>
          <p:cNvPr id="392" name="Google Shape;392;p3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02943" y="3471862"/>
            <a:ext cx="3186112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3348" y="4683323"/>
            <a:ext cx="2425154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3729037" y="3022401"/>
            <a:ext cx="47339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can embed R results directly into sentences.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5700712" y="4233862"/>
            <a:ext cx="790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Output: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Inline R Code</a:t>
            </a:r>
            <a:endParaRPr/>
          </a:p>
        </p:txBody>
      </p:sp>
      <p:sp>
        <p:nvSpPr>
          <p:cNvPr id="404" name="Google Shape;404;p36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64346"/>
            <a:ext cx="3492549" cy="231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864346"/>
            <a:ext cx="3492549" cy="2319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864346"/>
            <a:ext cx="3492549" cy="231993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 txBox="1"/>
          <p:nvPr/>
        </p:nvSpPr>
        <p:spPr>
          <a:xfrm>
            <a:off x="794225" y="3188196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QC Reports</a:t>
            </a:r>
            <a:endParaRPr/>
          </a:p>
        </p:txBody>
      </p:sp>
      <p:sp>
        <p:nvSpPr>
          <p:cNvPr id="415" name="Google Shape;415;p37"/>
          <p:cNvSpPr txBox="1"/>
          <p:nvPr/>
        </p:nvSpPr>
        <p:spPr>
          <a:xfrm>
            <a:off x="866775" y="376922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Automated monthly LJ chart summaries.</a:t>
            </a:r>
            <a:endParaRPr/>
          </a:p>
        </p:txBody>
      </p:sp>
      <p:sp>
        <p:nvSpPr>
          <p:cNvPr id="416" name="Google Shape;416;p37"/>
          <p:cNvSpPr txBox="1"/>
          <p:nvPr/>
        </p:nvSpPr>
        <p:spPr>
          <a:xfrm>
            <a:off x="4572524" y="3188196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Outbreak Summaries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4645074" y="37692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Rapid generation of phylogenetic trees + case counts.</a:t>
            </a:r>
            <a:endParaRPr/>
          </a:p>
        </p:txBody>
      </p:sp>
      <p:sp>
        <p:nvSpPr>
          <p:cNvPr id="418" name="Google Shape;418;p37"/>
          <p:cNvSpPr txBox="1"/>
          <p:nvPr/>
        </p:nvSpPr>
        <p:spPr>
          <a:xfrm>
            <a:off x="8350824" y="3188196"/>
            <a:ext cx="3047099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Audit Trails</a:t>
            </a:r>
            <a:endParaRPr/>
          </a:p>
        </p:txBody>
      </p:sp>
      <p:sp>
        <p:nvSpPr>
          <p:cNvPr id="419" name="Google Shape;419;p37"/>
          <p:cNvSpPr txBox="1"/>
          <p:nvPr/>
        </p:nvSpPr>
        <p:spPr>
          <a:xfrm>
            <a:off x="8423374" y="376922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Code documents exactly how data was processed.</a:t>
            </a:r>
            <a:endParaRPr/>
          </a:p>
        </p:txBody>
      </p:sp>
      <p:sp>
        <p:nvSpPr>
          <p:cNvPr id="420" name="Google Shape;420;p37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Applications in Clinical Labs</a:t>
            </a:r>
            <a:endParaRPr/>
          </a:p>
        </p:txBody>
      </p:sp>
      <p:sp>
        <p:nvSpPr>
          <p:cNvPr id="421" name="Google Shape;421;p3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Complete Report Example</a:t>
            </a:r>
            <a:endParaRPr/>
          </a:p>
        </p:txBody>
      </p:sp>
      <p:sp>
        <p:nvSpPr>
          <p:cNvPr id="429" name="Google Shape;429;p38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 txBox="1"/>
          <p:nvPr/>
        </p:nvSpPr>
        <p:spPr>
          <a:xfrm>
            <a:off x="571500" y="1762125"/>
            <a:ext cx="110490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Outbreak Investigation ## Methods Sequences aligned with ClustalW. NJ tree built with ape. ## Results Figure 1 shows the phylogenetic relationships. {r, echo=FALSE, fig.cap="Outbreak Tree"} ggtree(tree) + geom_tiplab() ## Conclusion Patient X belongs to the Omicron cluster.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9"/>
          <p:cNvSpPr txBox="1"/>
          <p:nvPr/>
        </p:nvSpPr>
        <p:spPr>
          <a:xfrm>
            <a:off x="2871787" y="2896850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38" name="Google Shape;438;p39"/>
          <p:cNvSpPr txBox="1"/>
          <p:nvPr/>
        </p:nvSpPr>
        <p:spPr>
          <a:xfrm>
            <a:off x="2947987" y="2895897"/>
            <a:ext cx="6486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ggtree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provides the power to create professional, annotated trees.</a:t>
            </a:r>
            <a:endParaRPr/>
          </a:p>
        </p:txBody>
      </p:sp>
      <p:sp>
        <p:nvSpPr>
          <p:cNvPr id="439" name="Google Shape;439;p39"/>
          <p:cNvSpPr txBox="1"/>
          <p:nvPr/>
        </p:nvSpPr>
        <p:spPr>
          <a:xfrm>
            <a:off x="2871787" y="3346311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40" name="Google Shape;440;p39"/>
          <p:cNvSpPr txBox="1"/>
          <p:nvPr/>
        </p:nvSpPr>
        <p:spPr>
          <a:xfrm>
            <a:off x="2947987" y="3345358"/>
            <a:ext cx="648652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Metadata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integration is seamless with %&lt;+%.</a:t>
            </a:r>
            <a:endParaRPr/>
          </a:p>
        </p:txBody>
      </p:sp>
      <p:sp>
        <p:nvSpPr>
          <p:cNvPr id="441" name="Google Shape;441;p39"/>
          <p:cNvSpPr txBox="1"/>
          <p:nvPr/>
        </p:nvSpPr>
        <p:spPr>
          <a:xfrm>
            <a:off x="2871787" y="380529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42" name="Google Shape;442;p39"/>
          <p:cNvSpPr txBox="1"/>
          <p:nvPr/>
        </p:nvSpPr>
        <p:spPr>
          <a:xfrm>
            <a:off x="2947987" y="3804344"/>
            <a:ext cx="6486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Exporting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at 300dpi is essential for publication.</a:t>
            </a:r>
            <a:endParaRPr/>
          </a:p>
        </p:txBody>
      </p:sp>
      <p:sp>
        <p:nvSpPr>
          <p:cNvPr id="443" name="Google Shape;443;p39"/>
          <p:cNvSpPr txBox="1"/>
          <p:nvPr/>
        </p:nvSpPr>
        <p:spPr>
          <a:xfrm>
            <a:off x="2871787" y="425475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44" name="Google Shape;444;p39"/>
          <p:cNvSpPr txBox="1"/>
          <p:nvPr/>
        </p:nvSpPr>
        <p:spPr>
          <a:xfrm>
            <a:off x="2947987" y="4253805"/>
            <a:ext cx="6486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 Markdown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enables reproducible, automated reporting.</a:t>
            </a:r>
            <a:endParaRPr/>
          </a:p>
        </p:txBody>
      </p:sp>
      <p:sp>
        <p:nvSpPr>
          <p:cNvPr id="445" name="Google Shape;445;p39"/>
          <p:cNvSpPr txBox="1"/>
          <p:nvPr/>
        </p:nvSpPr>
        <p:spPr>
          <a:xfrm>
            <a:off x="2871787" y="4704218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46" name="Google Shape;446;p39"/>
          <p:cNvSpPr txBox="1"/>
          <p:nvPr/>
        </p:nvSpPr>
        <p:spPr>
          <a:xfrm>
            <a:off x="2947987" y="4703266"/>
            <a:ext cx="64865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These tools transform raw data into communicable knowledge.</a:t>
            </a:r>
            <a:endParaRPr/>
          </a:p>
        </p:txBody>
      </p:sp>
      <p:sp>
        <p:nvSpPr>
          <p:cNvPr id="447" name="Google Shape;447;p39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Key Takeaways</a:t>
            </a:r>
            <a:endParaRPr/>
          </a:p>
        </p:txBody>
      </p:sp>
      <p:sp>
        <p:nvSpPr>
          <p:cNvPr id="448" name="Google Shape;448;p39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90700" y="1611659"/>
            <a:ext cx="8610600" cy="3691681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40"/>
          <p:cNvSpPr txBox="1"/>
          <p:nvPr/>
        </p:nvSpPr>
        <p:spPr>
          <a:xfrm>
            <a:off x="2195512" y="2202209"/>
            <a:ext cx="7800975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🎓 Course Complete!</a:t>
            </a:r>
            <a:endParaRPr/>
          </a:p>
        </p:txBody>
      </p:sp>
      <p:sp>
        <p:nvSpPr>
          <p:cNvPr id="457" name="Google Shape;457;p40"/>
          <p:cNvSpPr txBox="1"/>
          <p:nvPr/>
        </p:nvSpPr>
        <p:spPr>
          <a:xfrm>
            <a:off x="2381250" y="3516659"/>
            <a:ext cx="74295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You are now R-Ready.</a:t>
            </a:r>
            <a:endParaRPr/>
          </a:p>
        </p:txBody>
      </p:sp>
      <p:sp>
        <p:nvSpPr>
          <p:cNvPr id="458" name="Google Shape;458;p40"/>
          <p:cNvSpPr txBox="1"/>
          <p:nvPr/>
        </p:nvSpPr>
        <p:spPr>
          <a:xfrm>
            <a:off x="2381250" y="4232820"/>
            <a:ext cx="7429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From Variables to Visualizations.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5275" y="2036415"/>
            <a:ext cx="3981450" cy="284217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1"/>
          <p:cNvSpPr txBox="1"/>
          <p:nvPr/>
        </p:nvSpPr>
        <p:spPr>
          <a:xfrm>
            <a:off x="4625816" y="2626965"/>
            <a:ext cx="2940367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Tutorial 12</a:t>
            </a:r>
            <a:endParaRPr/>
          </a:p>
        </p:txBody>
      </p:sp>
      <p:sp>
        <p:nvSpPr>
          <p:cNvPr id="467" name="Google Shape;467;p41"/>
          <p:cNvSpPr txBox="1"/>
          <p:nvPr/>
        </p:nvSpPr>
        <p:spPr>
          <a:xfrm>
            <a:off x="4695825" y="3560415"/>
            <a:ext cx="2800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The Final Outbreak Report</a:t>
            </a:r>
            <a:endParaRPr/>
          </a:p>
        </p:txBody>
      </p:sp>
      <p:sp>
        <p:nvSpPr>
          <p:cNvPr id="468" name="Google Shape;468;p41"/>
          <p:cNvSpPr txBox="1"/>
          <p:nvPr/>
        </p:nvSpPr>
        <p:spPr>
          <a:xfrm>
            <a:off x="4695825" y="4116585"/>
            <a:ext cx="28003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your R environment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2"/>
          <p:cNvSpPr txBox="1"/>
          <p:nvPr/>
        </p:nvSpPr>
        <p:spPr>
          <a:xfrm>
            <a:off x="2865596" y="2082105"/>
            <a:ext cx="646080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Tutorial 12: The Final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 Outbreak Report</a:t>
            </a:r>
            <a:endParaRPr/>
          </a:p>
        </p:txBody>
      </p:sp>
      <p:sp>
        <p:nvSpPr>
          <p:cNvPr id="476" name="Google Shape;476;p42"/>
          <p:cNvSpPr/>
          <p:nvPr/>
        </p:nvSpPr>
        <p:spPr>
          <a:xfrm>
            <a:off x="5619750" y="3968055"/>
            <a:ext cx="952500" cy="38100"/>
          </a:xfrm>
          <a:prstGeom prst="rect">
            <a:avLst/>
          </a:prstGeom>
          <a:solidFill>
            <a:srgbClr val="7E22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2"/>
          <p:cNvSpPr txBox="1"/>
          <p:nvPr/>
        </p:nvSpPr>
        <p:spPr>
          <a:xfrm>
            <a:off x="3019425" y="4291905"/>
            <a:ext cx="61531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64748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Publication-Quality Phylogenetic Visualization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3"/>
          <p:cNvSpPr txBox="1"/>
          <p:nvPr/>
        </p:nvSpPr>
        <p:spPr>
          <a:xfrm>
            <a:off x="571500" y="2165449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7E22CE"/>
                </a:solidFill>
                <a:latin typeface="Roboto Slab SemiBold"/>
                <a:ea typeface="Roboto Slab SemiBold"/>
                <a:cs typeface="Roboto Slab SemiBold"/>
                <a:sym typeface="Roboto Slab SemiBold"/>
              </a:rPr>
              <a:t>The Task</a:t>
            </a:r>
            <a:endParaRPr/>
          </a:p>
        </p:txBody>
      </p:sp>
      <p:sp>
        <p:nvSpPr>
          <p:cNvPr id="486" name="Google Shape;486;p43"/>
          <p:cNvSpPr txBox="1"/>
          <p:nvPr/>
        </p:nvSpPr>
        <p:spPr>
          <a:xfrm>
            <a:off x="571500" y="2746474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Create 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publication-quality</a:t>
            </a: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figure for your outbreak investigation.</a:t>
            </a:r>
            <a:endParaRPr/>
          </a:p>
        </p:txBody>
      </p:sp>
      <p:sp>
        <p:nvSpPr>
          <p:cNvPr id="487" name="Google Shape;487;p43"/>
          <p:cNvSpPr txBox="1"/>
          <p:nvPr/>
        </p:nvSpPr>
        <p:spPr>
          <a:xfrm>
            <a:off x="571500" y="3626346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Requirements:</a:t>
            </a:r>
            <a:endParaRPr/>
          </a:p>
        </p:txBody>
      </p:sp>
      <p:pic>
        <p:nvPicPr>
          <p:cNvPr id="488" name="Google Shape;488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02718"/>
            <a:ext cx="5286375" cy="2643187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3"/>
          <p:cNvSpPr txBox="1"/>
          <p:nvPr/>
        </p:nvSpPr>
        <p:spPr>
          <a:xfrm>
            <a:off x="685800" y="4076759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90" name="Google Shape;490;p43"/>
          <p:cNvSpPr txBox="1"/>
          <p:nvPr/>
        </p:nvSpPr>
        <p:spPr>
          <a:xfrm>
            <a:off x="762000" y="4075807"/>
            <a:ext cx="5095875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Use ggtree.</a:t>
            </a:r>
            <a:endParaRPr/>
          </a:p>
        </p:txBody>
      </p:sp>
      <p:sp>
        <p:nvSpPr>
          <p:cNvPr id="491" name="Google Shape;491;p43"/>
          <p:cNvSpPr txBox="1"/>
          <p:nvPr/>
        </p:nvSpPr>
        <p:spPr>
          <a:xfrm>
            <a:off x="685800" y="4535745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92" name="Google Shape;492;p43"/>
          <p:cNvSpPr txBox="1"/>
          <p:nvPr/>
        </p:nvSpPr>
        <p:spPr>
          <a:xfrm>
            <a:off x="762000" y="453479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Color tips by location.</a:t>
            </a:r>
            <a:endParaRPr/>
          </a:p>
        </p:txBody>
      </p:sp>
      <p:sp>
        <p:nvSpPr>
          <p:cNvPr id="493" name="Google Shape;493;p43"/>
          <p:cNvSpPr txBox="1"/>
          <p:nvPr/>
        </p:nvSpPr>
        <p:spPr>
          <a:xfrm>
            <a:off x="685800" y="4985206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94" name="Google Shape;494;p43"/>
          <p:cNvSpPr txBox="1"/>
          <p:nvPr/>
        </p:nvSpPr>
        <p:spPr>
          <a:xfrm>
            <a:off x="762000" y="4984253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Add a scale bar.</a:t>
            </a:r>
            <a:endParaRPr/>
          </a:p>
        </p:txBody>
      </p:sp>
      <p:sp>
        <p:nvSpPr>
          <p:cNvPr id="495" name="Google Shape;495;p43"/>
          <p:cNvSpPr txBox="1"/>
          <p:nvPr/>
        </p:nvSpPr>
        <p:spPr>
          <a:xfrm>
            <a:off x="685800" y="5434667"/>
            <a:ext cx="762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496" name="Google Shape;496;p43"/>
          <p:cNvSpPr txBox="1"/>
          <p:nvPr/>
        </p:nvSpPr>
        <p:spPr>
          <a:xfrm>
            <a:off x="762000" y="5433714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Export as high-res PNG.</a:t>
            </a:r>
            <a:endParaRPr/>
          </a:p>
        </p:txBody>
      </p:sp>
      <p:sp>
        <p:nvSpPr>
          <p:cNvPr id="497" name="Google Shape;497;p43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Your Scenario</a:t>
            </a:r>
            <a:endParaRPr/>
          </a:p>
        </p:txBody>
      </p:sp>
      <p:sp>
        <p:nvSpPr>
          <p:cNvPr id="498" name="Google Shape;498;p43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4"/>
          <p:cNvSpPr txBox="1"/>
          <p:nvPr/>
        </p:nvSpPr>
        <p:spPr>
          <a:xfrm>
            <a:off x="2871787" y="3332857"/>
            <a:ext cx="64484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Run the provided code to generate the tree and metadata objects.</a:t>
            </a:r>
            <a:endParaRPr/>
          </a:p>
        </p:txBody>
      </p:sp>
      <p:sp>
        <p:nvSpPr>
          <p:cNvPr id="506" name="Google Shape;506;p44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1: Load Data</a:t>
            </a:r>
            <a:endParaRPr/>
          </a:p>
        </p:txBody>
      </p:sp>
      <p:sp>
        <p:nvSpPr>
          <p:cNvPr id="507" name="Google Shape;507;p44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5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2: Basic ggtree</a:t>
            </a:r>
            <a:endParaRPr/>
          </a:p>
        </p:txBody>
      </p:sp>
      <p:sp>
        <p:nvSpPr>
          <p:cNvPr id="515" name="Google Shape;515;p45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5"/>
          <p:cNvSpPr txBox="1"/>
          <p:nvPr/>
        </p:nvSpPr>
        <p:spPr>
          <a:xfrm>
            <a:off x="571500" y="1762125"/>
            <a:ext cx="110490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 Create basic plot ggtree(tree) + geom_tiplab()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6"/>
          <p:cNvSpPr txBox="1"/>
          <p:nvPr/>
        </p:nvSpPr>
        <p:spPr>
          <a:xfrm>
            <a:off x="3986212" y="3104257"/>
            <a:ext cx="42195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Attach the metadata and color by Location.</a:t>
            </a:r>
            <a:endParaRPr/>
          </a:p>
        </p:txBody>
      </p:sp>
      <p:sp>
        <p:nvSpPr>
          <p:cNvPr id="524" name="Google Shape;524;p46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3: Add Metadata</a:t>
            </a:r>
            <a:endParaRPr/>
          </a:p>
        </p:txBody>
      </p:sp>
      <p:sp>
        <p:nvSpPr>
          <p:cNvPr id="525" name="Google Shape;525;p46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7"/>
          <p:cNvSpPr txBox="1"/>
          <p:nvPr/>
        </p:nvSpPr>
        <p:spPr>
          <a:xfrm>
            <a:off x="4238625" y="3104257"/>
            <a:ext cx="3714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Add a scale bar and adjust formatting.</a:t>
            </a:r>
            <a:endParaRPr/>
          </a:p>
        </p:txBody>
      </p:sp>
      <p:sp>
        <p:nvSpPr>
          <p:cNvPr id="533" name="Google Shape;533;p47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4: Refine &amp; Scale</a:t>
            </a:r>
            <a:endParaRPr/>
          </a:p>
        </p:txBody>
      </p:sp>
      <p:sp>
        <p:nvSpPr>
          <p:cNvPr id="534" name="Google Shape;534;p47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Google Shape;539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8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Step 5: Export</a:t>
            </a:r>
            <a:endParaRPr/>
          </a:p>
        </p:txBody>
      </p:sp>
      <p:sp>
        <p:nvSpPr>
          <p:cNvPr id="542" name="Google Shape;542;p48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8"/>
          <p:cNvSpPr txBox="1"/>
          <p:nvPr/>
        </p:nvSpPr>
        <p:spPr>
          <a:xfrm>
            <a:off x="571500" y="1762125"/>
            <a:ext cx="110490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final_plot &lt;- ... # Your plot code ggsave("outbreak_phylogeny.png", final_plot, width = 10, height = 6, dpi = 300)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43262" y="2160240"/>
            <a:ext cx="5705475" cy="259452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9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9"/>
          <p:cNvSpPr txBox="1"/>
          <p:nvPr/>
        </p:nvSpPr>
        <p:spPr>
          <a:xfrm>
            <a:off x="3720703" y="2750790"/>
            <a:ext cx="4750593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Tutorial Complete</a:t>
            </a:r>
            <a:endParaRPr/>
          </a:p>
        </p:txBody>
      </p:sp>
      <p:sp>
        <p:nvSpPr>
          <p:cNvPr id="552" name="Google Shape;552;p49"/>
          <p:cNvSpPr txBox="1"/>
          <p:nvPr/>
        </p:nvSpPr>
        <p:spPr>
          <a:xfrm>
            <a:off x="3833812" y="3684240"/>
            <a:ext cx="4524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Proceed to Assessment 4.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5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09862" y="37860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0"/>
          <p:cNvSpPr txBox="1"/>
          <p:nvPr/>
        </p:nvSpPr>
        <p:spPr>
          <a:xfrm>
            <a:off x="3805237" y="3779490"/>
            <a:ext cx="56769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https://www.digitalatlasofancientlife.org/wp-content/uploads/2019/10/PartsOfPhylogeneticTree.png</a:t>
            </a:r>
            <a:endParaRPr/>
          </a:p>
        </p:txBody>
      </p:sp>
      <p:sp>
        <p:nvSpPr>
          <p:cNvPr id="561" name="Google Shape;561;p50"/>
          <p:cNvSpPr txBox="1"/>
          <p:nvPr/>
        </p:nvSpPr>
        <p:spPr>
          <a:xfrm>
            <a:off x="3805237" y="4025205"/>
            <a:ext cx="56769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www.digitalatlasofancientlife.org</a:t>
            </a:r>
            <a:endParaRPr/>
          </a:p>
        </p:txBody>
      </p:sp>
      <p:sp>
        <p:nvSpPr>
          <p:cNvPr id="562" name="Google Shape;562;p50"/>
          <p:cNvSpPr txBox="1"/>
          <p:nvPr/>
        </p:nvSpPr>
        <p:spPr>
          <a:xfrm>
            <a:off x="571500" y="62865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Roboto Slab"/>
                <a:ea typeface="Roboto Slab"/>
                <a:cs typeface="Roboto Slab"/>
                <a:sym typeface="Roboto Slab"/>
              </a:rPr>
              <a:t>Image Sources</a:t>
            </a:r>
            <a:endParaRPr/>
          </a:p>
        </p:txBody>
      </p:sp>
      <p:sp>
        <p:nvSpPr>
          <p:cNvPr id="563" name="Google Shape;563;p50"/>
          <p:cNvSpPr/>
          <p:nvPr/>
        </p:nvSpPr>
        <p:spPr>
          <a:xfrm>
            <a:off x="571500" y="13716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1183</Words>
  <Application>Microsoft Macintosh PowerPoint</Application>
  <PresentationFormat>Widescreen</PresentationFormat>
  <Paragraphs>192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Open Sans Light</vt:lpstr>
      <vt:lpstr>Times New Roman</vt:lpstr>
      <vt:lpstr>Roboto Slab SemiBold</vt:lpstr>
      <vt:lpstr>Calibri</vt:lpstr>
      <vt:lpstr>Open Sans</vt:lpstr>
      <vt:lpstr>Roboto Slab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Haogao Gu</cp:lastModifiedBy>
  <cp:revision>4</cp:revision>
  <dcterms:modified xsi:type="dcterms:W3CDTF">2026-01-22T04:33:56Z</dcterms:modified>
</cp:coreProperties>
</file>