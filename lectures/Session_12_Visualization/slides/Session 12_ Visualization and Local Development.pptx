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embeddedFontLs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Light" panose="020F0302020204030204" pitchFamily="34" charset="0"/>
      <p:regular r:id="rId42"/>
      <p:bold r:id="rId43"/>
      <p:italic r:id="rId44"/>
      <p:boldItalic r:id="rId45"/>
    </p:embeddedFont>
    <p:embeddedFont>
      <p:font typeface="Roboto Slab" pitchFamily="2" charset="0"/>
      <p:regular r:id="rId46"/>
      <p:bold r:id="rId47"/>
    </p:embeddedFont>
    <p:embeddedFont>
      <p:font typeface="Roboto Slab SemiBold" panose="020F0502020204030204" pitchFamily="34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005114-82A7-4061-923E-ED07BCD70C1D}">
  <a:tblStyle styleId="{A5005114-82A7-4061-923E-ED07BCD70C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876675" y="1657350"/>
            <a:ext cx="44386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65708" y="1984920"/>
            <a:ext cx="466058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Visualization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 Reporting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870870"/>
            <a:ext cx="9525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76675" y="4194720"/>
            <a:ext cx="4438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ggtree and R Markdown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76675" y="5002410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Instructor: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Dr. Haogao Gu |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February 11,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821656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What You've Accomplished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861321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Today's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44234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Learn to visualize complex data professionally and generate reproducible reports.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1962" y="3309937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85800" y="233695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2336006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1-4: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 Fundamentals (Data structures, dplyr)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5800" y="312158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120628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5-8: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Statistics &amp; Quality Control (t-tests, ANOVA, QC charts)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" y="39062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3905250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9-11: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Bioinformatics (Sequences, MSA, Trees)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Welcome to the Final Session! 🎉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7158"/>
            <a:ext cx="2547937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07158"/>
            <a:ext cx="2547937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507158"/>
            <a:ext cx="2547937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507158"/>
            <a:ext cx="2547937" cy="303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17840" y="354538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ggtree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4126408"/>
            <a:ext cx="195738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Create publication-quality tree figures.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651527" y="354538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Metadata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700462" y="412640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Annotate trees with clinical data (colors, labels).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85215" y="354538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Export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34150" y="412640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Save figures as high-resolution PNG/PDF.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318902" y="354538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R Markdown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367837" y="412640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Understand reproducible reporting concepts.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5443" y="2850058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50556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55668" y="285005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60781" y="2850058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Learning Objectives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7815"/>
            <a:ext cx="11049000" cy="3299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15352" y="2398365"/>
            <a:ext cx="1036129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Part 1: Advanced Visualization with ggtree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62050" y="403666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Turning Data into Insight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828329"/>
            <a:ext cx="528637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Bioconductor package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extending ggplot2 for phylogenetic trees.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85800" y="362342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362247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Beautiful, publication-ready aesthetics.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85800" y="40728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407193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Follows standard "Grammar of Graphics".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85800" y="452235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521398"/>
            <a:ext cx="50958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Easy layer addition (+ geom_...).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85800" y="498133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4980384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Flexible layouts (rectangular, circular, fan).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What is ggtree?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A4C123-4B9A-6970-B13C-6BE208EB8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480" y="1468934"/>
            <a:ext cx="6772602" cy="530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8"/>
          <p:cNvGraphicFramePr/>
          <p:nvPr/>
        </p:nvGraphicFramePr>
        <p:xfrm>
          <a:off x="571500" y="2566987"/>
          <a:ext cx="11039450" cy="3105125"/>
        </p:xfrm>
        <a:graphic>
          <a:graphicData uri="http://schemas.openxmlformats.org/drawingml/2006/table">
            <a:tbl>
              <a:tblPr firstRow="1" bandRow="1">
                <a:noFill/>
                <a:tableStyleId>{A5005114-82A7-4061-923E-ED07BCD70C1D}</a:tableStyleId>
              </a:tblPr>
              <a:tblGrid>
                <a:gridCol w="31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ape plot()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ggtree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Appearance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Basic, functional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Polished, customizable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Limited parameters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Unlimited layers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Metadata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Manual mapping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Built-in support (%&lt;+%)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Learning Curve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(ggplot style)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8"/>
          <p:cNvSpPr/>
          <p:nvPr/>
        </p:nvSpPr>
        <p:spPr>
          <a:xfrm>
            <a:off x="576262" y="3181350"/>
            <a:ext cx="31804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756719" y="3181350"/>
            <a:ext cx="36851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7441852" y="3181350"/>
            <a:ext cx="417388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6262" y="3800475"/>
            <a:ext cx="31804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756719" y="3800475"/>
            <a:ext cx="36851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441852" y="3800475"/>
            <a:ext cx="417388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6262" y="4419600"/>
            <a:ext cx="31804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756719" y="4419600"/>
            <a:ext cx="36851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441852" y="4419600"/>
            <a:ext cx="417388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6262" y="5038725"/>
            <a:ext cx="31804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756719" y="5038725"/>
            <a:ext cx="36851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441852" y="5038725"/>
            <a:ext cx="417388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ggtree vs. Base R (ape)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2752725" y="4813994"/>
            <a:ext cx="66865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Just like ggplot(), we initialize the object and add geometric layers.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Basic ggtree Syntax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8729"/>
            <a:ext cx="5286375" cy="361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8729"/>
            <a:ext cx="5286375" cy="361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66775" y="251400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Code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29400" y="251400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Explanation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43700" y="302930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19900" y="3028354"/>
            <a:ext cx="45053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geom_tiplab(): Adds text labels to tips.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43700" y="34882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19900" y="3487340"/>
            <a:ext cx="45053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geom_tippoint(): Adds dots to tips.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43700" y="394727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819900" y="3946326"/>
            <a:ext cx="45053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geom_nodepoint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(): Adds dots to internal nodes.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6743700" y="47414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19900" y="4740473"/>
            <a:ext cx="450532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geom_treescale(): Adds a distance scale bar.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Adding Layers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Tree Layouts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716536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Rectangular (Standard)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"rectangular") # Circular (Compact for large trees)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"circular") # Fan (Spreads out tips)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"fan")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3276600" y="2413694"/>
            <a:ext cx="56388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%&lt;+% operator allows linking a data frame to the tree.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Attaching Metadata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4300537" y="4585394"/>
            <a:ext cx="35909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Any ggplot2 color scale works here!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Coloring by Metadata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334125" y="3622476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geom_treescale()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: Adds a floating scale bar.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334125" y="4176712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theme_tree2()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: Adds an X-axis with distance values.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Adding a Scale Bar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519487" y="2660451"/>
            <a:ext cx="51530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Emphasize specific clusters (e.g., an outbreak group).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4162425" y="5148262"/>
            <a:ext cx="38671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Requires knowing the internal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node ID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Highlighting Clades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3800475" y="4704457"/>
            <a:ext cx="4591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Great for visualizing trees with many tips (50+).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Circular Trees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Saving with ggsave()</a:t>
            </a:r>
            <a:endParaRPr/>
          </a:p>
        </p:txBody>
      </p:sp>
      <p:sp>
        <p:nvSpPr>
          <p:cNvPr id="274" name="Google Shape;274;p2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571500" y="3716536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Assign plot to variable p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(tree)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geom_tiplab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# Save as PNG (Raster)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ggsave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tree.png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p, width = 8, height = 6) # Save as PDF (Vector)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ggsave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tree.pdf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p, width = 8, height = 6)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3671887" y="2891135"/>
            <a:ext cx="50387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theme_tree2() for clear axes.</a:t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>
            <a:off x="3671887" y="3350121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Set appropriate dimensions to avoid text overlap.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3671887" y="3799582"/>
            <a:ext cx="50387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dpi = 300 for print quality.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3671887" y="4258567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Choose colorblind-friendly palettes.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3671887" y="4708028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Add clear legends.</a:t>
            </a:r>
            <a:endParaRPr/>
          </a:p>
        </p:txBody>
      </p:sp>
      <p:pic>
        <p:nvPicPr>
          <p:cNvPr id="287" name="Google Shape;2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887" y="295304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887" y="341203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887" y="38614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887" y="432048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887" y="476994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Publication Tips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66912" y="2160240"/>
            <a:ext cx="8258175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2380535" y="2750790"/>
            <a:ext cx="7430928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Part 2: Local R Development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2557462" y="3684240"/>
            <a:ext cx="7077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Moving Beyond the Cloud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2940"/>
            <a:ext cx="5286375" cy="29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72940"/>
            <a:ext cx="5286375" cy="290274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866775" y="2868215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Colab Limitations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6629400" y="2868215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Local Development</a:t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981075" y="338351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1057275" y="338256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Disconnects after ~12 hours.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981075" y="383297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1057275" y="3832026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Files lost when runtime recycles.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981075" y="428244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1057275" y="4281487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Limited computing power.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6743700" y="338351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6819900" y="338256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Persistent files.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6743700" y="383297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6819900" y="3832026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Full power of your machine.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6743700" y="428244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6819900" y="4281487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Secure data storage.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6743700" y="473190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6819900" y="4730948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Standard in professional settings.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Beyond Google Colab</a:t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4244"/>
            <a:ext cx="2547937" cy="269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3004244"/>
            <a:ext cx="2547937" cy="269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004244"/>
            <a:ext cx="2547937" cy="269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3004244"/>
            <a:ext cx="2547937" cy="26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076699" y="2554783"/>
            <a:ext cx="441483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standard professional interface for R.</a:t>
            </a:r>
            <a:endParaRPr dirty="0"/>
          </a:p>
        </p:txBody>
      </p:sp>
      <p:sp>
        <p:nvSpPr>
          <p:cNvPr id="340" name="Google Shape;340;p31"/>
          <p:cNvSpPr txBox="1"/>
          <p:nvPr/>
        </p:nvSpPr>
        <p:spPr>
          <a:xfrm>
            <a:off x="866775" y="3328094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817840" y="4042469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Source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866775" y="4623494"/>
            <a:ext cx="19573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Write scripts here.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3700462" y="3328094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3651527" y="4042469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Console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3700462" y="4623494"/>
            <a:ext cx="195738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Run code immediately.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6534150" y="3328094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6485215" y="4042469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Environment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6534150" y="4623494"/>
            <a:ext cx="19573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See your data.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9367837" y="3328094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94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9318902" y="4042469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Files/Plots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9367837" y="4623494"/>
            <a:ext cx="19573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Manage outputs.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The RStudio IDE</a:t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571500" y="3231951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The Problem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571500" y="3812976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setwd("C:/Users/Haogao/Downloads/...")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571500" y="4367212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This code breaks on anyone else's computer.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6334125" y="3069133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The Solution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6334125" y="3650158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 Projects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set the working directory to the project folder automatically.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6334125" y="453003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Portable: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Send the folder to anyone, it just works!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The "R Project" (.Rproj)</a:t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4624387" y="2660451"/>
            <a:ext cx="2943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Organize your work like a pro: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3700462" y="5148262"/>
            <a:ext cx="572183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Golden Rule: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Keep inputs separate from outputs.</a:t>
            </a:r>
            <a:endParaRPr dirty="0"/>
          </a:p>
        </p:txBody>
      </p:sp>
      <p:sp>
        <p:nvSpPr>
          <p:cNvPr id="376" name="Google Shape;376;p3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Standard Directory Structure</a:t>
            </a:r>
            <a:endParaRPr/>
          </a:p>
        </p:txBody>
      </p:sp>
      <p:sp>
        <p:nvSpPr>
          <p:cNvPr id="377" name="Google Shape;377;p3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34"/>
          <p:cNvGraphicFramePr/>
          <p:nvPr/>
        </p:nvGraphicFramePr>
        <p:xfrm>
          <a:off x="571500" y="2566987"/>
          <a:ext cx="11039475" cy="3105125"/>
        </p:xfrm>
        <a:graphic>
          <a:graphicData uri="http://schemas.openxmlformats.org/drawingml/2006/table">
            <a:tbl>
              <a:tblPr firstRow="1" bandRow="1">
                <a:noFill/>
                <a:tableStyleId>{A5005114-82A7-4061-923E-ED07BCD70C1D}</a:tableStyleId>
              </a:tblPr>
              <a:tblGrid>
                <a:gridCol w="30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Notebooks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Scripts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Exploration, Teaching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Pipelines, Automation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Inline HTML/PDF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Saved Files (PNG/CSV)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Execution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Cell by Cell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source("analysis.R")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Version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Difficult (JSON)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Easy (Plain Text)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5" name="Google Shape;385;p34"/>
          <p:cNvSpPr/>
          <p:nvPr/>
        </p:nvSpPr>
        <p:spPr>
          <a:xfrm>
            <a:off x="576262" y="3181350"/>
            <a:ext cx="3011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3587650" y="3181350"/>
            <a:ext cx="369480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7282457" y="3181350"/>
            <a:ext cx="43332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76262" y="3800475"/>
            <a:ext cx="3011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3587650" y="3800475"/>
            <a:ext cx="369480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7282457" y="3800475"/>
            <a:ext cx="43332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576262" y="4419600"/>
            <a:ext cx="3011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3587650" y="4419600"/>
            <a:ext cx="369480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7282457" y="4419600"/>
            <a:ext cx="43332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576262" y="5038725"/>
            <a:ext cx="3011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3587650" y="5038725"/>
            <a:ext cx="369480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7282457" y="5038725"/>
            <a:ext cx="43332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Scripts (.R) vs Notebooks (.ipynb)</a:t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28069"/>
            <a:ext cx="5286375" cy="179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28069"/>
            <a:ext cx="5286375" cy="179248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781050" y="3337619"/>
            <a:ext cx="511063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B91C1C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Absolute (BAD)</a:t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781050" y="4261544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Only works on one computer.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6543675" y="3337619"/>
            <a:ext cx="511063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5803D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Relative (GOOD)</a:t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6543675" y="4261544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Works anywhere inside the project folder.</a:t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Managing File Paths</a:t>
            </a: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 txBox="1"/>
          <p:nvPr/>
        </p:nvSpPr>
        <p:spPr>
          <a:xfrm>
            <a:off x="3314700" y="2660451"/>
            <a:ext cx="5562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can automate an entire analysis with one command:</a:t>
            </a:r>
            <a:endParaRPr/>
          </a:p>
        </p:txBody>
      </p:sp>
      <p:sp>
        <p:nvSpPr>
          <p:cNvPr id="420" name="Google Shape;420;p36"/>
          <p:cNvSpPr txBox="1"/>
          <p:nvPr/>
        </p:nvSpPr>
        <p:spPr>
          <a:xfrm>
            <a:off x="3767137" y="5148262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This ensures reproducibility from start to finish.</a:t>
            </a:r>
            <a:endParaRPr/>
          </a:p>
        </p:txBody>
      </p:sp>
      <p:sp>
        <p:nvSpPr>
          <p:cNvPr id="421" name="Google Shape;421;p3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Running Scripts</a:t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 txBox="1"/>
          <p:nvPr/>
        </p:nvSpPr>
        <p:spPr>
          <a:xfrm>
            <a:off x="4548187" y="2633960"/>
            <a:ext cx="407897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Colab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You install every time.</a:t>
            </a:r>
            <a:endParaRPr dirty="0"/>
          </a:p>
        </p:txBody>
      </p:sp>
      <p:sp>
        <p:nvSpPr>
          <p:cNvPr id="430" name="Google Shape;430;p37"/>
          <p:cNvSpPr txBox="1"/>
          <p:nvPr/>
        </p:nvSpPr>
        <p:spPr>
          <a:xfrm>
            <a:off x="5719762" y="3292971"/>
            <a:ext cx="97258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Locally:</a:t>
            </a:r>
            <a:endParaRPr dirty="0"/>
          </a:p>
        </p:txBody>
      </p:sp>
      <p:sp>
        <p:nvSpPr>
          <p:cNvPr id="431" name="Google Shape;431;p37"/>
          <p:cNvSpPr txBox="1"/>
          <p:nvPr/>
        </p:nvSpPr>
        <p:spPr>
          <a:xfrm>
            <a:off x="4043362" y="5174753"/>
            <a:ext cx="4105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Libraries stay installed on your hard drive.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3924300" y="3895784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4105275" y="3894832"/>
            <a:ext cx="43624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Run install.packages("ggtree")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ONCE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3924300" y="4354770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4105275" y="4353817"/>
            <a:ext cx="43624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library(ggtree) in your scripts.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Installing Packages Locally</a:t>
            </a:r>
            <a:endParaRPr/>
          </a:p>
        </p:txBody>
      </p:sp>
      <p:sp>
        <p:nvSpPr>
          <p:cNvPr id="437" name="Google Shape;437;p3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 txBox="1"/>
          <p:nvPr/>
        </p:nvSpPr>
        <p:spPr>
          <a:xfrm>
            <a:off x="3024187" y="312634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3100387" y="3125390"/>
            <a:ext cx="6181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ggtree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provides advanced visualization power.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3024187" y="357580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3100387" y="3574851"/>
            <a:ext cx="682880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RStudio + R Projects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is the professional standard environment.</a:t>
            </a:r>
            <a:endParaRPr dirty="0"/>
          </a:p>
        </p:txBody>
      </p:sp>
      <p:sp>
        <p:nvSpPr>
          <p:cNvPr id="448" name="Google Shape;448;p38"/>
          <p:cNvSpPr txBox="1"/>
          <p:nvPr/>
        </p:nvSpPr>
        <p:spPr>
          <a:xfrm>
            <a:off x="3024187" y="402526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3100387" y="4024312"/>
            <a:ext cx="6181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Relative Paths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ensure portability.</a:t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3024187" y="44747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3100387" y="4473773"/>
            <a:ext cx="6181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Scripts (.R)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enable reproducible automation.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Key Takeaways</a:t>
            </a:r>
            <a:endParaRPr/>
          </a:p>
        </p:txBody>
      </p:sp>
      <p:sp>
        <p:nvSpPr>
          <p:cNvPr id="453" name="Google Shape;453;p3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0700" y="1611659"/>
            <a:ext cx="8610600" cy="369168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9"/>
          <p:cNvSpPr txBox="1"/>
          <p:nvPr/>
        </p:nvSpPr>
        <p:spPr>
          <a:xfrm>
            <a:off x="2195512" y="2202209"/>
            <a:ext cx="780097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🎓 Course Complete!</a:t>
            </a:r>
            <a:endParaRPr/>
          </a:p>
        </p:txBody>
      </p:sp>
      <p:sp>
        <p:nvSpPr>
          <p:cNvPr id="462" name="Google Shape;462;p39"/>
          <p:cNvSpPr txBox="1"/>
          <p:nvPr/>
        </p:nvSpPr>
        <p:spPr>
          <a:xfrm>
            <a:off x="2381250" y="3516659"/>
            <a:ext cx="7429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From Variables to Visualizations.</a:t>
            </a:r>
            <a:endParaRPr/>
          </a:p>
        </p:txBody>
      </p:sp>
      <p:sp>
        <p:nvSpPr>
          <p:cNvPr id="463" name="Google Shape;463;p39"/>
          <p:cNvSpPr txBox="1"/>
          <p:nvPr/>
        </p:nvSpPr>
        <p:spPr>
          <a:xfrm>
            <a:off x="2381250" y="4232820"/>
            <a:ext cx="742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are now R-Ready for Biological Data.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2900" y="2036415"/>
            <a:ext cx="3886200" cy="284217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4675822" y="2626965"/>
            <a:ext cx="284035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Tutorial 12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4743450" y="3560415"/>
            <a:ext cx="2705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Setting Up Your Pipeline</a:t>
            </a:r>
            <a:endParaRPr/>
          </a:p>
        </p:txBody>
      </p:sp>
      <p:sp>
        <p:nvSpPr>
          <p:cNvPr id="473" name="Google Shape;473;p40"/>
          <p:cNvSpPr txBox="1"/>
          <p:nvPr/>
        </p:nvSpPr>
        <p:spPr>
          <a:xfrm>
            <a:off x="4743450" y="4116585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1"/>
          <p:cNvSpPr txBox="1"/>
          <p:nvPr/>
        </p:nvSpPr>
        <p:spPr>
          <a:xfrm>
            <a:off x="2710576" y="2082105"/>
            <a:ext cx="677084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Tutorial 12: Setting Up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 Your Pipeline</a:t>
            </a:r>
            <a:endParaRPr/>
          </a:p>
        </p:txBody>
      </p:sp>
      <p:sp>
        <p:nvSpPr>
          <p:cNvPr id="481" name="Google Shape;481;p41"/>
          <p:cNvSpPr/>
          <p:nvPr/>
        </p:nvSpPr>
        <p:spPr>
          <a:xfrm>
            <a:off x="5619750" y="3968055"/>
            <a:ext cx="9525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1"/>
          <p:cNvSpPr txBox="1"/>
          <p:nvPr/>
        </p:nvSpPr>
        <p:spPr>
          <a:xfrm>
            <a:off x="2871787" y="4291905"/>
            <a:ext cx="64484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Automating Analysis with Scripts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 txBox="1"/>
          <p:nvPr/>
        </p:nvSpPr>
        <p:spPr>
          <a:xfrm>
            <a:off x="571500" y="2132111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The Task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571500" y="271313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have finished an analysis in a notebook. Now, formalize it into 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Reproducible Pipeline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571500" y="3593008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Steps: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771525" y="4081522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495" name="Google Shape;495;p42"/>
          <p:cNvSpPr txBox="1"/>
          <p:nvPr/>
        </p:nvSpPr>
        <p:spPr>
          <a:xfrm>
            <a:off x="952500" y="408056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Set up directories.</a:t>
            </a:r>
            <a:endParaRPr/>
          </a:p>
        </p:txBody>
      </p:sp>
      <p:sp>
        <p:nvSpPr>
          <p:cNvPr id="496" name="Google Shape;496;p42"/>
          <p:cNvSpPr txBox="1"/>
          <p:nvPr/>
        </p:nvSpPr>
        <p:spPr>
          <a:xfrm>
            <a:off x="771525" y="4530982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497" name="Google Shape;497;p42"/>
          <p:cNvSpPr txBox="1"/>
          <p:nvPr/>
        </p:nvSpPr>
        <p:spPr>
          <a:xfrm>
            <a:off x="952500" y="453003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Create dummy data.</a:t>
            </a:r>
            <a:endParaRPr/>
          </a:p>
        </p:txBody>
      </p:sp>
      <p:sp>
        <p:nvSpPr>
          <p:cNvPr id="498" name="Google Shape;498;p42"/>
          <p:cNvSpPr txBox="1"/>
          <p:nvPr/>
        </p:nvSpPr>
        <p:spPr>
          <a:xfrm>
            <a:off x="771525" y="4980443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952500" y="497949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Write an R script.</a:t>
            </a:r>
            <a:endParaRPr/>
          </a:p>
        </p:txBody>
      </p:sp>
      <p:sp>
        <p:nvSpPr>
          <p:cNvPr id="500" name="Google Shape;500;p42"/>
          <p:cNvSpPr txBox="1"/>
          <p:nvPr/>
        </p:nvSpPr>
        <p:spPr>
          <a:xfrm>
            <a:off x="771525" y="5429904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4.</a:t>
            </a:r>
            <a:endParaRPr/>
          </a:p>
        </p:txBody>
      </p:sp>
      <p:sp>
        <p:nvSpPr>
          <p:cNvPr id="501" name="Google Shape;501;p42"/>
          <p:cNvSpPr txBox="1"/>
          <p:nvPr/>
        </p:nvSpPr>
        <p:spPr>
          <a:xfrm>
            <a:off x="952500" y="542895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Execute the pipeline.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Your Scenario</a:t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3"/>
          <p:cNvSpPr txBox="1"/>
          <p:nvPr/>
        </p:nvSpPr>
        <p:spPr>
          <a:xfrm>
            <a:off x="4138612" y="2765226"/>
            <a:ext cx="39147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dir.create() to make the folders.</a:t>
            </a:r>
            <a:endParaRPr/>
          </a:p>
        </p:txBody>
      </p:sp>
      <p:sp>
        <p:nvSpPr>
          <p:cNvPr id="511" name="Google Shape;511;p43"/>
          <p:cNvSpPr txBox="1"/>
          <p:nvPr/>
        </p:nvSpPr>
        <p:spPr>
          <a:xfrm>
            <a:off x="4838700" y="5033962"/>
            <a:ext cx="25146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Verify with list.dirs().</a:t>
            </a:r>
            <a:endParaRPr/>
          </a:p>
        </p:txBody>
      </p:sp>
      <p:sp>
        <p:nvSpPr>
          <p:cNvPr id="512" name="Google Shape;512;p4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1: Project Structure</a:t>
            </a:r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 txBox="1"/>
          <p:nvPr/>
        </p:nvSpPr>
        <p:spPr>
          <a:xfrm>
            <a:off x="4052887" y="2989957"/>
            <a:ext cx="4086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Create a simple CSV file in the data folder.</a:t>
            </a:r>
            <a:endParaRPr/>
          </a:p>
        </p:txBody>
      </p:sp>
      <p:sp>
        <p:nvSpPr>
          <p:cNvPr id="521" name="Google Shape;521;p4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2: Create Data</a:t>
            </a:r>
            <a:endParaRPr/>
          </a:p>
        </p:txBody>
      </p:sp>
      <p:sp>
        <p:nvSpPr>
          <p:cNvPr id="522" name="Google Shape;522;p4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3938587" y="2647057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We will programmatically create a script file.</a:t>
            </a:r>
            <a:endParaRPr/>
          </a:p>
        </p:txBody>
      </p:sp>
      <p:sp>
        <p:nvSpPr>
          <p:cNvPr id="530" name="Google Shape;530;p4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3: Write Script</a:t>
            </a:r>
            <a:endParaRPr/>
          </a:p>
        </p:txBody>
      </p:sp>
      <p:sp>
        <p:nvSpPr>
          <p:cNvPr id="531" name="Google Shape;531;p4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6"/>
          <p:cNvSpPr txBox="1"/>
          <p:nvPr/>
        </p:nvSpPr>
        <p:spPr>
          <a:xfrm>
            <a:off x="4557712" y="2655689"/>
            <a:ext cx="30765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Run the script using source().</a:t>
            </a:r>
            <a:endParaRPr/>
          </a:p>
        </p:txBody>
      </p:sp>
      <p:sp>
        <p:nvSpPr>
          <p:cNvPr id="539" name="Google Shape;539;p46"/>
          <p:cNvSpPr txBox="1"/>
          <p:nvPr/>
        </p:nvSpPr>
        <p:spPr>
          <a:xfrm>
            <a:off x="3276600" y="5153025"/>
            <a:ext cx="5638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If true, you have successfully built an automated pipeline!</a:t>
            </a:r>
            <a:endParaRPr/>
          </a:p>
        </p:txBody>
      </p:sp>
      <p:sp>
        <p:nvSpPr>
          <p:cNvPr id="540" name="Google Shape;540;p4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4: Execute Pipeline</a:t>
            </a:r>
            <a:endParaRPr/>
          </a:p>
        </p:txBody>
      </p:sp>
      <p:sp>
        <p:nvSpPr>
          <p:cNvPr id="541" name="Google Shape;541;p4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2750" y="2160240"/>
            <a:ext cx="628650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7"/>
          <p:cNvSpPr txBox="1"/>
          <p:nvPr/>
        </p:nvSpPr>
        <p:spPr>
          <a:xfrm>
            <a:off x="3415664" y="2750790"/>
            <a:ext cx="536067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Session 12 Complete</a:t>
            </a:r>
            <a:endParaRPr/>
          </a:p>
        </p:txBody>
      </p:sp>
      <p:sp>
        <p:nvSpPr>
          <p:cNvPr id="550" name="Google Shape;550;p47"/>
          <p:cNvSpPr txBox="1"/>
          <p:nvPr/>
        </p:nvSpPr>
        <p:spPr>
          <a:xfrm>
            <a:off x="3543300" y="3684240"/>
            <a:ext cx="510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Congratulations on completing the module!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1026</Words>
  <Application>Microsoft Macintosh PowerPoint</Application>
  <PresentationFormat>Widescreen</PresentationFormat>
  <Paragraphs>202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Open Sans Light</vt:lpstr>
      <vt:lpstr>Times New Roman</vt:lpstr>
      <vt:lpstr>Roboto Slab SemiBold</vt:lpstr>
      <vt:lpstr>Calibri</vt:lpstr>
      <vt:lpstr>Open Sans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7</cp:revision>
  <dcterms:modified xsi:type="dcterms:W3CDTF">2026-01-22T04:38:06Z</dcterms:modified>
</cp:coreProperties>
</file>