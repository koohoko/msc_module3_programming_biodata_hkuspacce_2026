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embeddedFontLst>
    <p:embeddedFont>
      <p:font typeface="Merriweather" pitchFamily="2" charset="77"/>
      <p:regular r:id="rId32"/>
      <p:bold r:id="rId33"/>
      <p:italic r:id="rId34"/>
      <p:boldItalic r:id="rId35"/>
    </p:embeddedFont>
    <p:embeddedFont>
      <p:font typeface="Merriweather Black" pitchFamily="2" charset="77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B69D02-7712-40F7-9590-92DCF442167B}">
  <a:tblStyle styleId="{5BB69D02-7712-40F7-9590-92DCF442167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64"/>
    <p:restoredTop sz="94706"/>
  </p:normalViewPr>
  <p:slideViewPr>
    <p:cSldViewPr snapToGrid="0">
      <p:cViewPr varScale="1">
        <p:scale>
          <a:sx n="123" d="100"/>
          <a:sy n="123" d="100"/>
        </p:scale>
        <p:origin x="200" y="8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1" name="Google Shape;38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877341"/>
            <a:ext cx="11049000" cy="510316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62050" y="1658391"/>
            <a:ext cx="9867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MODULE 3: PROGRAMMING FOR BIOLOGICAL DATA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5352" y="2027932"/>
            <a:ext cx="10361295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F172A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Session 2: The Data Frame &amp; Digital Sample Management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62050" y="3719512"/>
            <a:ext cx="9867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Moving from Single Tubes (Vectors) to Master Worksheets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62050" y="4466183"/>
            <a:ext cx="98679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Instructor: Dr. Gu Haogao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62050" y="4972794"/>
            <a:ext cx="9867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January 7, 2026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95325" y="1001165"/>
            <a:ext cx="10801350" cy="4855521"/>
          </a:xfrm>
          <a:prstGeom prst="rect">
            <a:avLst/>
          </a:prstGeom>
          <a:noFill/>
          <a:ln w="9525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15375" y="25717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333500" y="2704504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Concept: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 sequence of data points of the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same type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33500" y="3612951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Great for: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Batch processing a single list of numbers (e.g., QC values, Ct scores).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333500" y="4521398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Flaw: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You cannot mix text (Patient ID) and numbers (Viral Load) in the same vector.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Recap: The Vector (Single Tube)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74260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65105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559498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7569"/>
            <a:ext cx="3492549" cy="2937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937569"/>
            <a:ext cx="3492549" cy="2937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937569"/>
            <a:ext cx="3492549" cy="293727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2881312" y="2316658"/>
            <a:ext cx="6429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What happens if you sort one vector but forget to sort the others?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94225" y="4071044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Sample Swap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66775" y="4766369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Patient P1 gets P2's diagnosis.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572524" y="4071044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Disconnected Data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45074" y="4766369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Vectors have no inherent link to each other.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50824" y="4071044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Error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4766369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High risk in diagnostics.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331856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5962" y="3318569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6174" y="331856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Danger of Loose Vectors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2656879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Data Frame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is the R equivalent of an Excel Worksheet or a Lab Bench Log.</a:t>
            </a:r>
            <a:endParaRPr/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333500" y="3479601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It glues vectors together.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333500" y="4052887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It enforces that rows stay together.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333500" y="4626173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It allows mixed data types (Text columns + Numeric columns).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Solution: The Data Frame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51770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0909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664273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4815"/>
            <a:ext cx="5238750" cy="331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334815"/>
            <a:ext cx="5238750" cy="331231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50582" y="2725340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Rows (Observations)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62025" y="3420665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Each row represents a single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Patient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or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Sample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62025" y="4443412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If you filter a row, all data for that patient moves together.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660832" y="2892921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Columns (Variables)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772275" y="3588246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Each column is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Vector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72275" y="4275832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Each column must contain only one data type (e.g., Age is numeric, Gender is text).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76400" y="276344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58087" y="2931021"/>
            <a:ext cx="1714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Anatomy of a Data Frame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p18"/>
          <p:cNvGraphicFramePr/>
          <p:nvPr/>
        </p:nvGraphicFramePr>
        <p:xfrm>
          <a:off x="571500" y="2837557"/>
          <a:ext cx="11049000" cy="1638300"/>
        </p:xfrm>
        <a:graphic>
          <a:graphicData uri="http://schemas.openxmlformats.org/drawingml/2006/table">
            <a:tbl>
              <a:tblPr firstRow="1" bandRow="1">
                <a:noFill/>
                <a:tableStyleId>{5BB69D02-7712-40F7-9590-92DCF442167B}</a:tableStyleId>
              </a:tblPr>
              <a:tblGrid>
                <a:gridCol w="322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Patient_ID (Chr)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 (Num)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Gender (Chr)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Viral_Load (Num)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P002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P003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450000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5" name="Google Shape;165;p18"/>
          <p:cNvSpPr txBox="1"/>
          <p:nvPr/>
        </p:nvSpPr>
        <p:spPr>
          <a:xfrm>
            <a:off x="3309937" y="4666357"/>
            <a:ext cx="5572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This looks like Excel, but it is a programmable object in R.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3232844"/>
            <a:ext cx="32259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3797498" y="3232844"/>
            <a:ext cx="204534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842843" y="3232844"/>
            <a:ext cx="25512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394055" y="3232844"/>
            <a:ext cx="322644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71500" y="3642419"/>
            <a:ext cx="32259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3797498" y="3642419"/>
            <a:ext cx="204534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842843" y="3642419"/>
            <a:ext cx="25512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394055" y="3642419"/>
            <a:ext cx="322644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71500" y="4051994"/>
            <a:ext cx="32259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3797498" y="4051994"/>
            <a:ext cx="204534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5842843" y="4051994"/>
            <a:ext cx="25512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8394055" y="4051994"/>
            <a:ext cx="322644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571500" y="4461569"/>
            <a:ext cx="3225998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3797498" y="4461569"/>
            <a:ext cx="204534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5842843" y="4461569"/>
            <a:ext cx="2551211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394055" y="4461569"/>
            <a:ext cx="3226444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Visualizing the Structure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1333500" y="2369343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Excel Risk: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You open a file, accidentally delete a cell, and hit "Save". The original clinical data is corrupted forever.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333500" y="3612951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 Safety: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You "Read" the file into R's memory. The original CSV on your hard drive is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never touched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333500" y="4856559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Audit Trail: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Any changes happen in code, not on the original file.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Concept 2: The "Read-Only" Principle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40744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65105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894659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3252638" y="2569964"/>
            <a:ext cx="5686722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read.csv() function is your sample intake window.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529012" y="5143500"/>
            <a:ext cx="5133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This creates a Data Frame object in R's environment.</a:t>
            </a:r>
            <a:endParaRPr dirty="0"/>
          </a:p>
        </p:txBody>
      </p:sp>
      <p:sp>
        <p:nvSpPr>
          <p:cNvPr id="206" name="Google Shape;206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Reading Data: Sample Reception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7569"/>
            <a:ext cx="5381625" cy="2937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937569"/>
            <a:ext cx="5381625" cy="293727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3648075" y="2316658"/>
            <a:ext cx="4895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Always check your data immediately after loading.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746998" y="4071044"/>
            <a:ext cx="50306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head(data)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66775" y="4766369"/>
            <a:ext cx="47910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Shows the first 6 rows. Checks headers and formatting.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414373" y="4071044"/>
            <a:ext cx="50306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dim(data)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534150" y="4766369"/>
            <a:ext cx="47910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Shows dimensions (Rows x Columns). Did we receive all 100 samples?</a:t>
            </a:r>
            <a:endParaRPr/>
          </a:p>
        </p:txBody>
      </p:sp>
      <p:pic>
        <p:nvPicPr>
          <p:cNvPr id="220" name="Google Shape;22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95612" y="3318569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91562" y="331856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Inspecting the Manifest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2662088" y="2336601"/>
            <a:ext cx="6867673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str() stands for Structure. It reveals the data types of every column.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629519" y="5348287"/>
            <a:ext cx="8932812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Crucial Check: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Ensure your numeric results are actually labeled as int or num, not chr.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MRI Scan: str()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71887"/>
            <a:ext cx="5238750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71500" y="281106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To find data in a Data Frame, we use coordinates, just like a 96-well plate.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71499" y="4538662"/>
            <a:ext cx="543444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data[1, 2] gets the value at Row 1, Column 2.</a:t>
            </a:r>
            <a:endParaRPr dirty="0"/>
          </a:p>
        </p:txBody>
      </p:sp>
      <p:pic>
        <p:nvPicPr>
          <p:cNvPr id="242" name="Google Shape;24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640556" y="3862387"/>
            <a:ext cx="510063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data[Row, Column]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Concept 3: The Coordinate System</a:t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1858"/>
            <a:ext cx="5238750" cy="395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11858"/>
            <a:ext cx="5238750" cy="395823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962025" y="2402383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Get a Row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962025" y="3097708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Leave the column coordinate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blank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to get all columns.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962025" y="5101530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(Pulling one patient's full file)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6772275" y="2402383"/>
            <a:ext cx="468058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Get a Column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6772275" y="3097708"/>
            <a:ext cx="4457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Leave the row coordinate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blank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to get all rows.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6772275" y="5101530"/>
            <a:ext cx="44577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(Pulling the 'Age' vector for the batch)</a:t>
            </a:r>
            <a:endParaRPr/>
          </a:p>
        </p:txBody>
      </p:sp>
      <p:pic>
        <p:nvPicPr>
          <p:cNvPr id="259" name="Google Shape;259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440483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440483"/>
            <a:ext cx="1047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Indexing: Slicing the Plate</a:t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7836" y="1842721"/>
            <a:ext cx="10763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2950606" y="3218988"/>
            <a:ext cx="6290786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"Quick Grab" Operator</a:t>
            </a:r>
            <a:endParaRPr dirty="0"/>
          </a:p>
        </p:txBody>
      </p:sp>
      <p:sp>
        <p:nvSpPr>
          <p:cNvPr id="270" name="Google Shape;270;p25"/>
          <p:cNvSpPr txBox="1"/>
          <p:nvPr/>
        </p:nvSpPr>
        <p:spPr>
          <a:xfrm>
            <a:off x="2723943" y="3609243"/>
            <a:ext cx="6744112" cy="405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Instead of memorizing column numbers, grab them by name.</a:t>
            </a:r>
            <a:endParaRPr dirty="0"/>
          </a:p>
        </p:txBody>
      </p:sp>
      <p:sp>
        <p:nvSpPr>
          <p:cNvPr id="271" name="Google Shape;271;p2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Dollar Sign $</a:t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2127795" y="2360711"/>
            <a:ext cx="7936259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Now we can combine the $ operator with the functions we learned in Session 1.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4720232" y="3019722"/>
            <a:ext cx="3132385" cy="6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Calculate Average Age: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mean(lis_data$Age)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4720232" y="3956744"/>
            <a:ext cx="3132385" cy="6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Find Max Viral Load: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max(lis_data$Viral_Load)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4720232" y="4893766"/>
            <a:ext cx="3132385" cy="6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Summary of all columns: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summary(lis_data)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Practice: Basic Stats on Frames</a:t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9232" y="305782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9232" y="399484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9232" y="4931866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 txBox="1"/>
          <p:nvPr/>
        </p:nvSpPr>
        <p:spPr>
          <a:xfrm>
            <a:off x="571500" y="2976860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rarely analyze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all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patients. We usually want a specific subgroup (e.g., "Positives" only).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571500" y="3856732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Logic: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"Select all rows WHERE Status is Positive".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571500" y="440144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This creates a reproducible filter, unlike manually hiding rows in Excel.</a:t>
            </a:r>
            <a:endParaRPr/>
          </a:p>
        </p:txBody>
      </p:sp>
      <p:pic>
        <p:nvPicPr>
          <p:cNvPr id="296" name="Google Shape;29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Concept 4: Logical Subsetting (The Filter)</a:t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0075" y="4543425"/>
            <a:ext cx="7620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67325" y="4543425"/>
            <a:ext cx="8001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2675" y="4543425"/>
            <a:ext cx="7620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19925" y="4543425"/>
            <a:ext cx="7620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8"/>
          <p:cNvSpPr txBox="1"/>
          <p:nvPr/>
        </p:nvSpPr>
        <p:spPr>
          <a:xfrm>
            <a:off x="2681287" y="2674739"/>
            <a:ext cx="6829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First, we ask R a Question. This creates a logical vector of TRUE/FALSE.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5162550" y="5038725"/>
            <a:ext cx="18669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"Keep" vs "Discard"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Creating the Mask</a:t>
            </a:r>
            <a:endParaRPr/>
          </a:p>
        </p:txBody>
      </p:sp>
      <p:sp>
        <p:nvSpPr>
          <p:cNvPr id="311" name="Google Shape;311;p2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3205162" y="2526208"/>
            <a:ext cx="57816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put the mask inside the row coordinate of the brackets.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571500" y="4852094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Note the comma!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We leave the column coordinate blank because we want to keep </a:t>
            </a:r>
            <a:r>
              <a:rPr lang="en-US" sz="1650" b="0" i="1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all columns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for the positive patients.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Applying the Mask</a:t>
            </a:r>
            <a:endParaRPr/>
          </a:p>
        </p:txBody>
      </p:sp>
      <p:sp>
        <p:nvSpPr>
          <p:cNvPr id="320" name="Google Shape;320;p2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272" y="2413694"/>
            <a:ext cx="5782420" cy="3154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4963" y="2413694"/>
            <a:ext cx="6125467" cy="315456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 txBox="1"/>
          <p:nvPr/>
        </p:nvSpPr>
        <p:spPr>
          <a:xfrm>
            <a:off x="962025" y="2804219"/>
            <a:ext cx="5251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AND (&amp;)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962025" y="3499544"/>
            <a:ext cx="5001369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Both conditions must be TRUE.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7315944" y="2804219"/>
            <a:ext cx="487605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OR (|)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7315944" y="3499544"/>
            <a:ext cx="487605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At least one condition is TRUE.</a:t>
            </a:r>
            <a:endParaRPr dirty="0"/>
          </a:p>
        </p:txBody>
      </p:sp>
      <p:pic>
        <p:nvPicPr>
          <p:cNvPr id="332" name="Google Shape;332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842319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5944" y="2842319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Complex Logic (AND / OR)</a:t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6621"/>
            <a:ext cx="11049000" cy="220384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1"/>
          <p:cNvSpPr txBox="1"/>
          <p:nvPr/>
        </p:nvSpPr>
        <p:spPr>
          <a:xfrm>
            <a:off x="4086225" y="4506217"/>
            <a:ext cx="40195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Fix: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Tell the function to remove NAs.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952500" y="2302371"/>
            <a:ext cx="1090136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Broken Tube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952500" y="2854821"/>
            <a:ext cx="10382250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If a vector contains NA, math functions will return NA by default.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952500" y="3428107"/>
            <a:ext cx="10382250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mean(c(10, 20, NA)) -&gt; NA</a:t>
            </a:r>
            <a:endParaRPr/>
          </a:p>
        </p:txBody>
      </p:sp>
      <p:pic>
        <p:nvPicPr>
          <p:cNvPr id="346" name="Google Shape;346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3404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Handling Missing Data (NA)</a:t>
            </a:r>
            <a:endParaRPr/>
          </a:p>
        </p:txBody>
      </p:sp>
      <p:sp>
        <p:nvSpPr>
          <p:cNvPr id="348" name="Google Shape;348;p3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571500" y="252531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Once you have filtered the "Critical" patients, you need to send a list to the doctor.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571500" y="4852987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This creates a new CSV file. The raw data remains untouched.</a:t>
            </a:r>
            <a:endParaRPr/>
          </a:p>
        </p:txBody>
      </p:sp>
      <p:pic>
        <p:nvPicPr>
          <p:cNvPr id="357" name="Google Shape;357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Concept 5: Writing Data (Output)</a:t>
            </a:r>
            <a:endParaRPr/>
          </a:p>
        </p:txBody>
      </p:sp>
      <p:sp>
        <p:nvSpPr>
          <p:cNvPr id="359" name="Google Shape;359;p3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3"/>
          <p:cNvSpPr txBox="1"/>
          <p:nvPr/>
        </p:nvSpPr>
        <p:spPr>
          <a:xfrm>
            <a:off x="4223146" y="2261592"/>
            <a:ext cx="4126557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read.csv(): Import data from a file.</a:t>
            </a:r>
            <a:endParaRPr/>
          </a:p>
        </p:txBody>
      </p:sp>
      <p:sp>
        <p:nvSpPr>
          <p:cNvPr id="366" name="Google Shape;366;p33"/>
          <p:cNvSpPr txBox="1"/>
          <p:nvPr/>
        </p:nvSpPr>
        <p:spPr>
          <a:xfrm>
            <a:off x="4223146" y="2863453"/>
            <a:ext cx="4126557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head() / str(): Inspect data structure.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4223146" y="3465314"/>
            <a:ext cx="4126557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$: Select a column by name.</a:t>
            </a:r>
            <a:endParaRPr/>
          </a:p>
        </p:txBody>
      </p:sp>
      <p:sp>
        <p:nvSpPr>
          <p:cNvPr id="368" name="Google Shape;368;p33"/>
          <p:cNvSpPr txBox="1"/>
          <p:nvPr/>
        </p:nvSpPr>
        <p:spPr>
          <a:xfrm>
            <a:off x="4223146" y="4067175"/>
            <a:ext cx="4126557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[Row, Col]: Select by coordinates.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4223146" y="4669035"/>
            <a:ext cx="4126557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data[mask, ]: Filter rows using logic.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4223146" y="5270896"/>
            <a:ext cx="4126557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write.csv(): Export results to a file.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Session 2 Summary</a:t>
            </a:r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2146" y="229969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2146" y="290155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2146" y="350341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2146" y="41052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2146" y="470713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2146" y="5308996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219372"/>
            <a:ext cx="8839200" cy="6419254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2255519" y="981372"/>
            <a:ext cx="768096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EFCE8"/>
                </a:solidFill>
                <a:latin typeface="Merriweather"/>
                <a:ea typeface="Merriweather"/>
                <a:cs typeface="Merriweather"/>
                <a:sym typeface="Merriweather"/>
              </a:rPr>
              <a:t>Tutorial 2: The LIS Clean-Up</a:t>
            </a:r>
            <a:endParaRPr/>
          </a:p>
        </p:txBody>
      </p:sp>
      <p:sp>
        <p:nvSpPr>
          <p:cNvPr id="386" name="Google Shape;386;p34"/>
          <p:cNvSpPr/>
          <p:nvPr/>
        </p:nvSpPr>
        <p:spPr>
          <a:xfrm>
            <a:off x="5619750" y="2600622"/>
            <a:ext cx="952500" cy="190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4"/>
          <p:cNvSpPr txBox="1"/>
          <p:nvPr/>
        </p:nvSpPr>
        <p:spPr>
          <a:xfrm>
            <a:off x="2438400" y="2905422"/>
            <a:ext cx="73152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Goal: Import a messy LIS dump, fix data type errors, filter for critical female patients, and export a report.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8" name="Google Shape;388;p34"/>
          <p:cNvSpPr txBox="1"/>
          <p:nvPr/>
        </p:nvSpPr>
        <p:spPr>
          <a:xfrm>
            <a:off x="4943475" y="4309169"/>
            <a:ext cx="23050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1. Import from URL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9" name="Google Shape;389;p34"/>
          <p:cNvSpPr txBox="1"/>
          <p:nvPr/>
        </p:nvSpPr>
        <p:spPr>
          <a:xfrm>
            <a:off x="4943475" y="4853880"/>
            <a:ext cx="23050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chemeClr val="bg2">
                    <a:lumMod val="20000"/>
                    <a:lumOff val="8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2. Clean Data Types</a:t>
            </a:r>
            <a:endParaRPr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90" name="Google Shape;390;p34"/>
          <p:cNvSpPr txBox="1"/>
          <p:nvPr/>
        </p:nvSpPr>
        <p:spPr>
          <a:xfrm>
            <a:off x="4943475" y="5398591"/>
            <a:ext cx="230505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chemeClr val="bg2">
                    <a:lumMod val="20000"/>
                    <a:lumOff val="8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3. Logical Filtering</a:t>
            </a:r>
            <a:endParaRPr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391" name="Google Shape;391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43475" y="4375844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43475" y="4920555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43475" y="5465266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5"/>
          <p:cNvSpPr txBox="1"/>
          <p:nvPr/>
        </p:nvSpPr>
        <p:spPr>
          <a:xfrm>
            <a:off x="3086100" y="2489894"/>
            <a:ext cx="60198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will read the raw data directly from the GitHub repository.</a:t>
            </a:r>
            <a:endParaRPr/>
          </a:p>
        </p:txBody>
      </p:sp>
      <p:sp>
        <p:nvSpPr>
          <p:cNvPr id="400" name="Google Shape;400;p3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1: Load the Data</a:t>
            </a:r>
            <a:endParaRPr/>
          </a:p>
        </p:txBody>
      </p:sp>
      <p:sp>
        <p:nvSpPr>
          <p:cNvPr id="401" name="Google Shape;401;p3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6"/>
          <p:cNvSpPr txBox="1"/>
          <p:nvPr/>
        </p:nvSpPr>
        <p:spPr>
          <a:xfrm>
            <a:off x="4552950" y="2650033"/>
            <a:ext cx="3086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Run the MRI scan on your data.</a:t>
            </a:r>
            <a:endParaRPr/>
          </a:p>
        </p:txBody>
      </p:sp>
      <p:sp>
        <p:nvSpPr>
          <p:cNvPr id="408" name="Google Shape;408;p36"/>
          <p:cNvSpPr txBox="1"/>
          <p:nvPr/>
        </p:nvSpPr>
        <p:spPr>
          <a:xfrm>
            <a:off x="2287637" y="4318694"/>
            <a:ext cx="7616725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Observation: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Look at the Result_Value column. Does it say chr or num?</a:t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2154435" y="5034855"/>
            <a:ext cx="7882979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If it says chr, it means someone typed text (e.g., "Error") into a number column.</a:t>
            </a:r>
            <a:endParaRPr/>
          </a:p>
        </p:txBody>
      </p:sp>
      <p:sp>
        <p:nvSpPr>
          <p:cNvPr id="410" name="Google Shape;410;p3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2: The Inspection</a:t>
            </a:r>
            <a:endParaRPr/>
          </a:p>
        </p:txBody>
      </p:sp>
      <p:sp>
        <p:nvSpPr>
          <p:cNvPr id="411" name="Google Shape;411;p3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29137" y="4424362"/>
            <a:ext cx="3133725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7"/>
          <p:cNvSpPr txBox="1"/>
          <p:nvPr/>
        </p:nvSpPr>
        <p:spPr>
          <a:xfrm>
            <a:off x="3933825" y="2555676"/>
            <a:ext cx="43243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need to force the column to be numeric.</a:t>
            </a:r>
            <a:endParaRPr/>
          </a:p>
        </p:txBody>
      </p:sp>
      <p:sp>
        <p:nvSpPr>
          <p:cNvPr id="419" name="Google Shape;419;p37"/>
          <p:cNvSpPr txBox="1"/>
          <p:nvPr/>
        </p:nvSpPr>
        <p:spPr>
          <a:xfrm>
            <a:off x="3350865" y="5129212"/>
            <a:ext cx="5490269" cy="36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This is good! It means R turned the text "Error" into NA.</a:t>
            </a:r>
            <a:endParaRPr/>
          </a:p>
        </p:txBody>
      </p:sp>
      <p:sp>
        <p:nvSpPr>
          <p:cNvPr id="420" name="Google Shape;420;p3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3: Data Cleaning (Coercion)</a:t>
            </a:r>
            <a:endParaRPr/>
          </a:p>
        </p:txBody>
      </p:sp>
      <p:sp>
        <p:nvSpPr>
          <p:cNvPr id="421" name="Google Shape;421;p3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8"/>
          <p:cNvSpPr txBox="1"/>
          <p:nvPr/>
        </p:nvSpPr>
        <p:spPr>
          <a:xfrm>
            <a:off x="2700337" y="2818507"/>
            <a:ext cx="67913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Calculate the mean Result Value. Don't forget to handle the new NAs.</a:t>
            </a:r>
            <a:endParaRPr/>
          </a:p>
        </p:txBody>
      </p:sp>
      <p:sp>
        <p:nvSpPr>
          <p:cNvPr id="428" name="Google Shape;428;p3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4: Stats with NAs</a:t>
            </a:r>
            <a:endParaRPr/>
          </a:p>
        </p:txBody>
      </p:sp>
      <p:sp>
        <p:nvSpPr>
          <p:cNvPr id="429" name="Google Shape;429;p3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9"/>
          <p:cNvSpPr txBox="1"/>
          <p:nvPr/>
        </p:nvSpPr>
        <p:spPr>
          <a:xfrm>
            <a:off x="3376612" y="2599432"/>
            <a:ext cx="54387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want: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Female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High Result (&gt;40)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Not NA</a:t>
            </a: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436" name="Google Shape;436;p3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5: Complex Filtering</a:t>
            </a:r>
            <a:endParaRPr/>
          </a:p>
        </p:txBody>
      </p:sp>
      <p:sp>
        <p:nvSpPr>
          <p:cNvPr id="437" name="Google Shape;437;p3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0"/>
          <p:cNvSpPr txBox="1"/>
          <p:nvPr/>
        </p:nvSpPr>
        <p:spPr>
          <a:xfrm>
            <a:off x="4424362" y="2693789"/>
            <a:ext cx="33432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Save your work to a clean CSV file.</a:t>
            </a:r>
            <a:endParaRPr/>
          </a:p>
        </p:txBody>
      </p:sp>
      <p:sp>
        <p:nvSpPr>
          <p:cNvPr id="444" name="Google Shape;444;p40"/>
          <p:cNvSpPr txBox="1"/>
          <p:nvPr/>
        </p:nvSpPr>
        <p:spPr>
          <a:xfrm>
            <a:off x="3990975" y="5019675"/>
            <a:ext cx="42100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Check your file pane to see the new report!</a:t>
            </a:r>
            <a:endParaRPr/>
          </a:p>
        </p:txBody>
      </p:sp>
      <p:sp>
        <p:nvSpPr>
          <p:cNvPr id="445" name="Google Shape;445;p4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Step 6: Export</a:t>
            </a:r>
            <a:endParaRPr/>
          </a:p>
        </p:txBody>
      </p:sp>
      <p:sp>
        <p:nvSpPr>
          <p:cNvPr id="446" name="Google Shape;446;p4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4B60BC-805B-15D2-81A8-C2618EF9B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081" y="0"/>
            <a:ext cx="685060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542837-DB2E-C209-80C5-7FD40180A23E}"/>
              </a:ext>
            </a:extLst>
          </p:cNvPr>
          <p:cNvSpPr txBox="1"/>
          <p:nvPr/>
        </p:nvSpPr>
        <p:spPr>
          <a:xfrm>
            <a:off x="285750" y="208508"/>
            <a:ext cx="47226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https://</a:t>
            </a:r>
            <a:r>
              <a:rPr lang="en-US" sz="4400" dirty="0" err="1"/>
              <a:t>github.com</a:t>
            </a:r>
            <a:r>
              <a:rPr lang="en-US" sz="4400" dirty="0"/>
              <a:t>/</a:t>
            </a:r>
            <a:r>
              <a:rPr lang="en-US" sz="4400" dirty="0" err="1"/>
              <a:t>Koohoko</a:t>
            </a:r>
            <a:r>
              <a:rPr lang="en-US" sz="4400" dirty="0"/>
              <a:t>/MSc_Module3_Programming_BioData_HKUSpacce_2026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F4FA4A-E022-C026-F4BD-729C7300D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89" y="3686383"/>
            <a:ext cx="3061389" cy="304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0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1192</Words>
  <Application>Microsoft Macintosh PowerPoint</Application>
  <PresentationFormat>Widescreen</PresentationFormat>
  <Paragraphs>134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Merriweather Black</vt:lpstr>
      <vt:lpstr>Calibri</vt:lpstr>
      <vt:lpstr>Courier New</vt:lpstr>
      <vt:lpstr>Merriweather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7</cp:revision>
  <dcterms:modified xsi:type="dcterms:W3CDTF">2025-12-29T08:40:09Z</dcterms:modified>
</cp:coreProperties>
</file>