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0" r:id="rId10"/>
    <p:sldId id="264" r:id="rId11"/>
    <p:sldId id="265" r:id="rId12"/>
    <p:sldId id="291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9144000"/>
  <p:embeddedFontLst>
    <p:embeddedFont>
      <p:font typeface="Fira Code" panose="020B0809050000020004" pitchFamily="49" charset="0"/>
      <p:regular r:id="rId38"/>
      <p:bold r:id="rId39"/>
    </p:embeddedFon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Lato Light" panose="020F0302020204030204" pitchFamily="34" charset="0"/>
      <p:regular r:id="rId44"/>
      <p:bold r:id="rId45"/>
      <p:italic r:id="rId46"/>
      <p:boldItalic r:id="rId47"/>
    </p:embeddedFont>
    <p:embeddedFont>
      <p:font typeface="Merriweather" pitchFamily="2" charset="77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21F65D-FE57-48F0-8C51-FD328BE6375A}">
  <a:tblStyle styleId="{C421F65D-FE57-48F0-8C51-FD328BE637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58"/>
  </p:normalViewPr>
  <p:slideViewPr>
    <p:cSldViewPr snapToGrid="0">
      <p:cViewPr varScale="1">
        <p:scale>
          <a:sx n="103" d="100"/>
          <a:sy n="103" d="100"/>
        </p:scale>
        <p:origin x="208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21951EE9-75F7-C465-00C3-814A2888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AD9C7BAB-9BBC-4BBC-AD83-C16448888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E5F7A7DF-69C9-678E-75CD-EDE8FBC92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9845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37258392-CA4D-8142-326B-FF01EF7B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49F6B3D9-DBD9-850E-0B15-09801625C3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96594156-324C-1333-B1D2-8EC52C24A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7505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14650" y="1666875"/>
            <a:ext cx="63627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MODULE 3: PROGRAMMING FOR BIOLOGICAL DATA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55582" y="1994445"/>
            <a:ext cx="668083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7: Diagnostic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Accuracy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04195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914650" y="4128045"/>
            <a:ext cx="63627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Sensitivity, Specificity, and ROC Curves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14650" y="4935735"/>
            <a:ext cx="6362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Dr. Haogao Gu |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January 26,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8083"/>
            <a:ext cx="2454324" cy="3396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6824" y="2288083"/>
            <a:ext cx="2454324" cy="3396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2149" y="2288083"/>
            <a:ext cx="2454324" cy="3396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7473" y="2288083"/>
            <a:ext cx="2543175" cy="339625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20180" y="3297733"/>
            <a:ext cx="195696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Confusion Matrix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4269283"/>
            <a:ext cx="1863774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Understand components: TP, FP, TN, FN.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655505" y="3297733"/>
            <a:ext cx="195696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Metrics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702099" y="3888283"/>
            <a:ext cx="1863774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Calculate Sensitivity, Specificity, PPV, and NPV.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90829" y="3297733"/>
            <a:ext cx="195696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ROC &amp; AUC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37424" y="3888283"/>
            <a:ext cx="1863774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Generate and interpret ROC curves and AUC values.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323933" y="3297733"/>
            <a:ext cx="20502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372748" y="3888283"/>
            <a:ext cx="1952625" cy="101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Find optimal cutoffs using the pROC package.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69987" y="260240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62462" y="2602408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40637" y="260240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20461" y="26024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60401"/>
            <a:ext cx="5286375" cy="163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081462"/>
            <a:ext cx="5286375" cy="163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233481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Core Question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2982515"/>
            <a:ext cx="52863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"Is this patient positive or negative?"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361875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test is perfect. We must quantify: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38175" y="406916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4068216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Missed cases (False Negatives):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Can lead to delayed treatment and spread of disease.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38175" y="485379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4852838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False alarms (False Positives):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Can lead to unnecessary anxiety and overtreatment.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12004" y="2555676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B91C1C"/>
                </a:solidFill>
                <a:latin typeface="Merriweather"/>
                <a:ea typeface="Merriweather"/>
                <a:cs typeface="Merriweather"/>
                <a:sym typeface="Merriweather"/>
              </a:rPr>
              <a:t>Risk of FN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629400" y="3146226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Patient sent home while sick.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12004" y="4376737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B45309"/>
                </a:solidFill>
                <a:latin typeface="Merriweather"/>
                <a:ea typeface="Merriweather"/>
                <a:cs typeface="Merriweather"/>
                <a:sym typeface="Merriweather"/>
              </a:rPr>
              <a:t>Risk of FP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29400" y="496728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Healthy patient treated needlessly.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Why Diagnostic Accuracy Matters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7325" y="2126902"/>
            <a:ext cx="9277350" cy="260404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845468" y="2717452"/>
            <a:ext cx="850106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The Confusion Matrix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2047875" y="3660427"/>
            <a:ext cx="8096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Foundations of Diagnostic Testing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" name="Google Shape;147;p17"/>
          <p:cNvGraphicFramePr/>
          <p:nvPr/>
        </p:nvGraphicFramePr>
        <p:xfrm>
          <a:off x="571500" y="2599729"/>
          <a:ext cx="5276850" cy="2963475"/>
        </p:xfrm>
        <a:graphic>
          <a:graphicData uri="http://schemas.openxmlformats.org/drawingml/2006/table">
            <a:tbl>
              <a:tblPr firstRow="1" bandRow="1">
                <a:noFill/>
                <a:tableStyleId>{C421F65D-FE57-48F0-8C51-FD328BE6375A}</a:tableStyleId>
              </a:tblPr>
              <a:tblGrid>
                <a:gridCol w="152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Actually Positive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Actually Negative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Positive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5803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True Positive (TP)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B91C1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❌ False Positive (FP)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Negative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B91C1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❌ False Negative (FN)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5803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True Negative (TN)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9" name="Google Shape;149;p17"/>
          <p:cNvSpPr/>
          <p:nvPr/>
        </p:nvSpPr>
        <p:spPr>
          <a:xfrm>
            <a:off x="576262" y="3579614"/>
            <a:ext cx="1529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105917" y="3579614"/>
            <a:ext cx="1876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982342" y="3579614"/>
            <a:ext cx="1870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6262" y="4564260"/>
            <a:ext cx="1529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105917" y="4564260"/>
            <a:ext cx="1876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982342" y="4564260"/>
            <a:ext cx="1870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Four Possible Outcomes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Confusion Matrix explained">
            <a:extLst>
              <a:ext uri="{FF2B5EF4-FFF2-40B4-BE49-F238E27FC236}">
                <a16:creationId xmlns:a16="http://schemas.microsoft.com/office/drawing/2014/main" id="{957086D7-AED9-A32C-753C-6FC80347E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2944812"/>
            <a:ext cx="5295900" cy="22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3957637" y="2467272"/>
            <a:ext cx="5001012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Tested 100 patients against gold standard PCR.</a:t>
            </a:r>
            <a:endParaRPr dirty="0"/>
          </a:p>
        </p:txBody>
      </p:sp>
      <p:graphicFrame>
        <p:nvGraphicFramePr>
          <p:cNvPr id="163" name="Google Shape;163;p18"/>
          <p:cNvGraphicFramePr/>
          <p:nvPr/>
        </p:nvGraphicFramePr>
        <p:xfrm>
          <a:off x="571500" y="3107233"/>
          <a:ext cx="11039450" cy="2607500"/>
        </p:xfrm>
        <a:graphic>
          <a:graphicData uri="http://schemas.openxmlformats.org/drawingml/2006/table">
            <a:tbl>
              <a:tblPr firstRow="1" bandRow="1">
                <a:noFill/>
                <a:tableStyleId>{C421F65D-FE57-48F0-8C51-FD328BE6375A}</a:tableStyleId>
              </a:tblPr>
              <a:tblGrid>
                <a:gridCol w="279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PCR+ (Disease)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PCR- (Healthy)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 Test 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45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(TP)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 Test 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(TN)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" name="Google Shape;164;p18"/>
          <p:cNvSpPr/>
          <p:nvPr/>
        </p:nvSpPr>
        <p:spPr>
          <a:xfrm>
            <a:off x="576262" y="3751957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369171" y="3751957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684317" y="3751957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9966275" y="3751957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6262" y="4401442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369171" y="4401442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684317" y="4401442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9966275" y="4401442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76262" y="5050928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3369171" y="5050928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684317" y="5050928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9966275" y="5050928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Example: Dengue Rapid Test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2611"/>
            <a:ext cx="5286375" cy="332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22611"/>
            <a:ext cx="5286375" cy="332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278808"/>
            <a:ext cx="4695825" cy="885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734097"/>
            <a:ext cx="4695825" cy="88522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866775" y="2617886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66775" y="3208436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"How good is the test at finding POSITIVES?"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66775" y="375314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Also known as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Recall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29400" y="2617886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Calculation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29400" y="3208436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our Dengue Example: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629400" y="482887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test detects ~85% of true cases.</a:t>
            </a:r>
            <a:endParaRPr/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4900" y="4469308"/>
            <a:ext cx="4267200" cy="50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67525" y="3924597"/>
            <a:ext cx="4267200" cy="50422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Sensitivity (True Positive Rate)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2165"/>
            <a:ext cx="5324475" cy="3327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6975" y="2322165"/>
            <a:ext cx="5343525" cy="332794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48426" y="3331815"/>
            <a:ext cx="497062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Rule OUT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66775" y="3922365"/>
            <a:ext cx="47339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a highly sensitive test is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NEGATIVE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you can be confident the patient does NOT have the disease.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581775" y="2626965"/>
            <a:ext cx="47339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SnNout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581775" y="3417540"/>
            <a:ext cx="47339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Sensitivity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581775" y="4110930"/>
            <a:ext cx="47339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Negative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581775" y="4804320"/>
            <a:ext cx="47339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5137" y="263649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Meaning: SnNout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C8731F92-A133-CB6E-E517-48D6E7C1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>
            <a:extLst>
              <a:ext uri="{FF2B5EF4-FFF2-40B4-BE49-F238E27FC236}">
                <a16:creationId xmlns:a16="http://schemas.microsoft.com/office/drawing/2014/main" id="{D73A0E91-E863-2943-904D-5673119BC1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70C244F7-9263-312E-32E7-174374B5FF99}"/>
              </a:ext>
            </a:extLst>
          </p:cNvPr>
          <p:cNvSpPr txBox="1"/>
          <p:nvPr/>
        </p:nvSpPr>
        <p:spPr>
          <a:xfrm>
            <a:off x="3957637" y="2467272"/>
            <a:ext cx="5001012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Tested 100 patients against gold standard PCR.</a:t>
            </a:r>
            <a:endParaRPr dirty="0"/>
          </a:p>
        </p:txBody>
      </p:sp>
      <p:graphicFrame>
        <p:nvGraphicFramePr>
          <p:cNvPr id="163" name="Google Shape;163;p18">
            <a:extLst>
              <a:ext uri="{FF2B5EF4-FFF2-40B4-BE49-F238E27FC236}">
                <a16:creationId xmlns:a16="http://schemas.microsoft.com/office/drawing/2014/main" id="{F0F6DFB8-7039-F31A-6D62-8D53A055AE16}"/>
              </a:ext>
            </a:extLst>
          </p:cNvPr>
          <p:cNvGraphicFramePr/>
          <p:nvPr/>
        </p:nvGraphicFramePr>
        <p:xfrm>
          <a:off x="571500" y="3107233"/>
          <a:ext cx="11039450" cy="2607500"/>
        </p:xfrm>
        <a:graphic>
          <a:graphicData uri="http://schemas.openxmlformats.org/drawingml/2006/table">
            <a:tbl>
              <a:tblPr firstRow="1" bandRow="1">
                <a:noFill/>
                <a:tableStyleId>{C421F65D-FE57-48F0-8C51-FD328BE6375A}</a:tableStyleId>
              </a:tblPr>
              <a:tblGrid>
                <a:gridCol w="279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PCR+ (Disease)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PCR- (Healthy)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 Test 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45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(TP)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 Test 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(TN)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F05F2814-CDB8-B497-F625-7F3B3A3A1E94}"/>
              </a:ext>
            </a:extLst>
          </p:cNvPr>
          <p:cNvSpPr/>
          <p:nvPr/>
        </p:nvSpPr>
        <p:spPr>
          <a:xfrm>
            <a:off x="576262" y="3751957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F65775AA-A732-C133-CBDA-D584E934FDEA}"/>
              </a:ext>
            </a:extLst>
          </p:cNvPr>
          <p:cNvSpPr/>
          <p:nvPr/>
        </p:nvSpPr>
        <p:spPr>
          <a:xfrm>
            <a:off x="3369171" y="3751957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1B4501F3-DE89-D77B-DB42-117592DDF514}"/>
              </a:ext>
            </a:extLst>
          </p:cNvPr>
          <p:cNvSpPr/>
          <p:nvPr/>
        </p:nvSpPr>
        <p:spPr>
          <a:xfrm>
            <a:off x="6684317" y="3751957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A53FEA87-C690-9179-0AF9-E88604549676}"/>
              </a:ext>
            </a:extLst>
          </p:cNvPr>
          <p:cNvSpPr/>
          <p:nvPr/>
        </p:nvSpPr>
        <p:spPr>
          <a:xfrm>
            <a:off x="9966275" y="3751957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06A290F2-27EC-2F5B-F618-FF310F7B30B9}"/>
              </a:ext>
            </a:extLst>
          </p:cNvPr>
          <p:cNvSpPr/>
          <p:nvPr/>
        </p:nvSpPr>
        <p:spPr>
          <a:xfrm>
            <a:off x="576262" y="4401442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2727EC8F-39C4-E525-2F8C-1661B8BEB334}"/>
              </a:ext>
            </a:extLst>
          </p:cNvPr>
          <p:cNvSpPr/>
          <p:nvPr/>
        </p:nvSpPr>
        <p:spPr>
          <a:xfrm>
            <a:off x="3369171" y="4401442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8B18767C-9E9E-104F-4B21-6531C47B1AEB}"/>
              </a:ext>
            </a:extLst>
          </p:cNvPr>
          <p:cNvSpPr/>
          <p:nvPr/>
        </p:nvSpPr>
        <p:spPr>
          <a:xfrm>
            <a:off x="6684317" y="4401442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>
            <a:extLst>
              <a:ext uri="{FF2B5EF4-FFF2-40B4-BE49-F238E27FC236}">
                <a16:creationId xmlns:a16="http://schemas.microsoft.com/office/drawing/2014/main" id="{0DF0709B-F688-8FBF-CEF7-B1E1D32568DC}"/>
              </a:ext>
            </a:extLst>
          </p:cNvPr>
          <p:cNvSpPr/>
          <p:nvPr/>
        </p:nvSpPr>
        <p:spPr>
          <a:xfrm>
            <a:off x="9966275" y="4401442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922DB1DC-0F22-4760-7080-6EB9922DD3A1}"/>
              </a:ext>
            </a:extLst>
          </p:cNvPr>
          <p:cNvSpPr/>
          <p:nvPr/>
        </p:nvSpPr>
        <p:spPr>
          <a:xfrm>
            <a:off x="576262" y="5050928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73ECC9B7-29DE-2171-A173-7B681064DA27}"/>
              </a:ext>
            </a:extLst>
          </p:cNvPr>
          <p:cNvSpPr/>
          <p:nvPr/>
        </p:nvSpPr>
        <p:spPr>
          <a:xfrm>
            <a:off x="3369171" y="5050928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>
            <a:extLst>
              <a:ext uri="{FF2B5EF4-FFF2-40B4-BE49-F238E27FC236}">
                <a16:creationId xmlns:a16="http://schemas.microsoft.com/office/drawing/2014/main" id="{6C46FC00-124C-2C93-5CBF-F82B23FA7838}"/>
              </a:ext>
            </a:extLst>
          </p:cNvPr>
          <p:cNvSpPr/>
          <p:nvPr/>
        </p:nvSpPr>
        <p:spPr>
          <a:xfrm>
            <a:off x="6684317" y="5050928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>
            <a:extLst>
              <a:ext uri="{FF2B5EF4-FFF2-40B4-BE49-F238E27FC236}">
                <a16:creationId xmlns:a16="http://schemas.microsoft.com/office/drawing/2014/main" id="{695A73AE-F03F-DA85-3FC6-490D729967AD}"/>
              </a:ext>
            </a:extLst>
          </p:cNvPr>
          <p:cNvSpPr/>
          <p:nvPr/>
        </p:nvSpPr>
        <p:spPr>
          <a:xfrm>
            <a:off x="9966275" y="5050928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>
            <a:extLst>
              <a:ext uri="{FF2B5EF4-FFF2-40B4-BE49-F238E27FC236}">
                <a16:creationId xmlns:a16="http://schemas.microsoft.com/office/drawing/2014/main" id="{CE524893-18BE-B7CC-A81D-95E7460DC5BA}"/>
              </a:ext>
            </a:extLst>
          </p:cNvPr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Example: Dengue Rapid Test</a:t>
            </a:r>
            <a:endParaRPr/>
          </a:p>
        </p:txBody>
      </p:sp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CC3AA599-F318-9AB6-B55F-B554674E5253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6036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3131"/>
            <a:ext cx="5286375" cy="358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93131"/>
            <a:ext cx="5286375" cy="358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604617"/>
            <a:ext cx="4695825" cy="885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604617"/>
            <a:ext cx="4695825" cy="88522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866775" y="2488406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66775" y="3078956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"How good is the test at identifying NEGATIVES?"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629400" y="2488406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Calculation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629400" y="3078956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our Dengue Example: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629400" y="4699396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test correctly identifies ~89% of healthy people.</a:t>
            </a:r>
            <a:endParaRPr/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3795117"/>
            <a:ext cx="4267200" cy="50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67525" y="3795117"/>
            <a:ext cx="4267200" cy="50422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Specificity (True Negative Rate)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2165"/>
            <a:ext cx="5324475" cy="3327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6975" y="2322165"/>
            <a:ext cx="5343525" cy="332794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48426" y="3331815"/>
            <a:ext cx="497062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Rule IN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66775" y="3922365"/>
            <a:ext cx="473392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a highly specific test is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POSITIVE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you can be confident the patient HAS the disease.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50" dirty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False Positive low, then should be True positive.</a:t>
            </a:r>
            <a:endParaRPr dirty="0"/>
          </a:p>
        </p:txBody>
      </p:sp>
      <p:sp>
        <p:nvSpPr>
          <p:cNvPr id="240" name="Google Shape;240;p22"/>
          <p:cNvSpPr txBox="1"/>
          <p:nvPr/>
        </p:nvSpPr>
        <p:spPr>
          <a:xfrm>
            <a:off x="6581775" y="2626965"/>
            <a:ext cx="47339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SpPin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581775" y="3417540"/>
            <a:ext cx="47339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Specificity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581775" y="4110930"/>
            <a:ext cx="47339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Positive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581775" y="4804320"/>
            <a:ext cx="47339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endParaRPr/>
          </a:p>
        </p:txBody>
      </p:sp>
      <p:pic>
        <p:nvPicPr>
          <p:cNvPr id="244" name="Google Shape;24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5137" y="263649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Meaning: SpPin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F91C8BC8-BD7B-F6B7-5AAB-8C855713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>
            <a:extLst>
              <a:ext uri="{FF2B5EF4-FFF2-40B4-BE49-F238E27FC236}">
                <a16:creationId xmlns:a16="http://schemas.microsoft.com/office/drawing/2014/main" id="{A0CC73FF-DF36-7AC8-2381-74757CB677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EE75495A-66D7-A0AF-5F7B-0B860AFE0F6A}"/>
              </a:ext>
            </a:extLst>
          </p:cNvPr>
          <p:cNvSpPr txBox="1"/>
          <p:nvPr/>
        </p:nvSpPr>
        <p:spPr>
          <a:xfrm>
            <a:off x="3957637" y="2467272"/>
            <a:ext cx="5001012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Tested 100 patients against gold standard PCR.</a:t>
            </a:r>
            <a:endParaRPr dirty="0"/>
          </a:p>
        </p:txBody>
      </p:sp>
      <p:graphicFrame>
        <p:nvGraphicFramePr>
          <p:cNvPr id="163" name="Google Shape;163;p18">
            <a:extLst>
              <a:ext uri="{FF2B5EF4-FFF2-40B4-BE49-F238E27FC236}">
                <a16:creationId xmlns:a16="http://schemas.microsoft.com/office/drawing/2014/main" id="{B3E93309-A1D1-2BE3-10DF-2D1E91874F51}"/>
              </a:ext>
            </a:extLst>
          </p:cNvPr>
          <p:cNvGraphicFramePr/>
          <p:nvPr/>
        </p:nvGraphicFramePr>
        <p:xfrm>
          <a:off x="571500" y="3107233"/>
          <a:ext cx="11039450" cy="2607500"/>
        </p:xfrm>
        <a:graphic>
          <a:graphicData uri="http://schemas.openxmlformats.org/drawingml/2006/table">
            <a:tbl>
              <a:tblPr firstRow="1" bandRow="1">
                <a:noFill/>
                <a:tableStyleId>{C421F65D-FE57-48F0-8C51-FD328BE6375A}</a:tableStyleId>
              </a:tblPr>
              <a:tblGrid>
                <a:gridCol w="279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PCR+ (Disease)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PCR- (Healthy)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 Test 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45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(TP)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 Test 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</a:t>
                      </a: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(TN)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324CC18C-8B10-C8D8-6219-DEC94F62CB03}"/>
              </a:ext>
            </a:extLst>
          </p:cNvPr>
          <p:cNvSpPr/>
          <p:nvPr/>
        </p:nvSpPr>
        <p:spPr>
          <a:xfrm>
            <a:off x="576262" y="3751957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5061DF4D-ED33-51D1-E1FF-C1E239D32D1E}"/>
              </a:ext>
            </a:extLst>
          </p:cNvPr>
          <p:cNvSpPr/>
          <p:nvPr/>
        </p:nvSpPr>
        <p:spPr>
          <a:xfrm>
            <a:off x="3369171" y="3751957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6BC1E4B0-F6B2-9328-962A-8E4E890AA22D}"/>
              </a:ext>
            </a:extLst>
          </p:cNvPr>
          <p:cNvSpPr/>
          <p:nvPr/>
        </p:nvSpPr>
        <p:spPr>
          <a:xfrm>
            <a:off x="6684317" y="3751957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94032DC-BCC7-A29B-4F46-AAEFDCA95047}"/>
              </a:ext>
            </a:extLst>
          </p:cNvPr>
          <p:cNvSpPr/>
          <p:nvPr/>
        </p:nvSpPr>
        <p:spPr>
          <a:xfrm>
            <a:off x="9966275" y="3751957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8E3BE15B-98A7-3961-C911-85F46320EAB9}"/>
              </a:ext>
            </a:extLst>
          </p:cNvPr>
          <p:cNvSpPr/>
          <p:nvPr/>
        </p:nvSpPr>
        <p:spPr>
          <a:xfrm>
            <a:off x="576262" y="4401442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1B307AC7-8F2E-29CE-6BC6-22D11DECB677}"/>
              </a:ext>
            </a:extLst>
          </p:cNvPr>
          <p:cNvSpPr/>
          <p:nvPr/>
        </p:nvSpPr>
        <p:spPr>
          <a:xfrm>
            <a:off x="3369171" y="4401442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394AD0C9-9890-0750-05C2-9445CC22CDE7}"/>
              </a:ext>
            </a:extLst>
          </p:cNvPr>
          <p:cNvSpPr/>
          <p:nvPr/>
        </p:nvSpPr>
        <p:spPr>
          <a:xfrm>
            <a:off x="6684317" y="4401442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>
            <a:extLst>
              <a:ext uri="{FF2B5EF4-FFF2-40B4-BE49-F238E27FC236}">
                <a16:creationId xmlns:a16="http://schemas.microsoft.com/office/drawing/2014/main" id="{A58BE7B1-DBDF-1561-198A-21131E666A7B}"/>
              </a:ext>
            </a:extLst>
          </p:cNvPr>
          <p:cNvSpPr/>
          <p:nvPr/>
        </p:nvSpPr>
        <p:spPr>
          <a:xfrm>
            <a:off x="9966275" y="4401442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249D775A-2055-7601-03D3-3821473144E0}"/>
              </a:ext>
            </a:extLst>
          </p:cNvPr>
          <p:cNvSpPr/>
          <p:nvPr/>
        </p:nvSpPr>
        <p:spPr>
          <a:xfrm>
            <a:off x="576262" y="5050928"/>
            <a:ext cx="2792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429728C9-BCB6-F374-CFF9-094835CD6577}"/>
              </a:ext>
            </a:extLst>
          </p:cNvPr>
          <p:cNvSpPr/>
          <p:nvPr/>
        </p:nvSpPr>
        <p:spPr>
          <a:xfrm>
            <a:off x="3369171" y="5050928"/>
            <a:ext cx="3315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>
            <a:extLst>
              <a:ext uri="{FF2B5EF4-FFF2-40B4-BE49-F238E27FC236}">
                <a16:creationId xmlns:a16="http://schemas.microsoft.com/office/drawing/2014/main" id="{9DADF581-E302-F5EC-144C-D3936656FB73}"/>
              </a:ext>
            </a:extLst>
          </p:cNvPr>
          <p:cNvSpPr/>
          <p:nvPr/>
        </p:nvSpPr>
        <p:spPr>
          <a:xfrm>
            <a:off x="6684317" y="5050928"/>
            <a:ext cx="32819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>
            <a:extLst>
              <a:ext uri="{FF2B5EF4-FFF2-40B4-BE49-F238E27FC236}">
                <a16:creationId xmlns:a16="http://schemas.microsoft.com/office/drawing/2014/main" id="{D8A75CEF-BABA-44D8-9B64-77000FDD571E}"/>
              </a:ext>
            </a:extLst>
          </p:cNvPr>
          <p:cNvSpPr/>
          <p:nvPr/>
        </p:nvSpPr>
        <p:spPr>
          <a:xfrm>
            <a:off x="9966275" y="5050928"/>
            <a:ext cx="1649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>
            <a:extLst>
              <a:ext uri="{FF2B5EF4-FFF2-40B4-BE49-F238E27FC236}">
                <a16:creationId xmlns:a16="http://schemas.microsoft.com/office/drawing/2014/main" id="{0F98CB36-C8DD-7992-49B0-1E8A6E79EA09}"/>
              </a:ext>
            </a:extLst>
          </p:cNvPr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Example: Dengue Rapid Test</a:t>
            </a:r>
            <a:endParaRPr/>
          </a:p>
        </p:txBody>
      </p:sp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D7E56C4D-4067-1284-3AB6-5E558B761777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210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6189"/>
            <a:ext cx="5286375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46189"/>
            <a:ext cx="5286375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257675"/>
            <a:ext cx="4695825" cy="74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257675"/>
            <a:ext cx="4695825" cy="74473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3086100" y="2225278"/>
            <a:ext cx="6019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Crucial Note: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These values depend heavily on disease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prevalence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866775" y="3141464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PPV (Positive Predictive Value)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866775" y="3732014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test is +, how likely is disease?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66775" y="5211960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 90%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629400" y="3141464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NPV (Negative Predictive Value)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629400" y="3732014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test is -, how likely is healthy?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629400" y="5211960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 84%</a:t>
            </a:r>
            <a:endParaRPr/>
          </a:p>
        </p:txBody>
      </p:sp>
      <p:pic>
        <p:nvPicPr>
          <p:cNvPr id="263" name="Google Shape;26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4448175"/>
            <a:ext cx="4267200" cy="36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67525" y="4448175"/>
            <a:ext cx="4267200" cy="36373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Predictive Values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3595687" y="2467272"/>
            <a:ext cx="594372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Same test (Sens 90%, Spec 90%), different populations:</a:t>
            </a:r>
            <a:endParaRPr dirty="0"/>
          </a:p>
        </p:txBody>
      </p:sp>
      <p:graphicFrame>
        <p:nvGraphicFramePr>
          <p:cNvPr id="273" name="Google Shape;273;p24"/>
          <p:cNvGraphicFramePr/>
          <p:nvPr/>
        </p:nvGraphicFramePr>
        <p:xfrm>
          <a:off x="571500" y="3107233"/>
          <a:ext cx="11039450" cy="2607500"/>
        </p:xfrm>
        <a:graphic>
          <a:graphicData uri="http://schemas.openxmlformats.org/drawingml/2006/table">
            <a:tbl>
              <a:tblPr firstRow="1" bandRow="1">
                <a:noFill/>
                <a:tableStyleId>{C421F65D-FE57-48F0-8C51-FD328BE6375A}</a:tableStyleId>
              </a:tblPr>
              <a:tblGrid>
                <a:gridCol w="194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Prevalence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PPV (Confidence in +)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NPV (Confidence in -)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Screening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8.3% (Very Low!)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99.9% (High)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Hospital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90.0% (Moderate)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90.0% (Moderate)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Epidemic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98.8% (High)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52.9% (Low)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4" name="Google Shape;274;p24"/>
          <p:cNvSpPr/>
          <p:nvPr/>
        </p:nvSpPr>
        <p:spPr>
          <a:xfrm>
            <a:off x="576262" y="3751957"/>
            <a:ext cx="1945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2521594" y="3751957"/>
            <a:ext cx="21234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4645074" y="3751957"/>
            <a:ext cx="3495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8140154" y="3751957"/>
            <a:ext cx="3475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576262" y="4401442"/>
            <a:ext cx="1945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2521594" y="4401442"/>
            <a:ext cx="21234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4645074" y="4401442"/>
            <a:ext cx="3495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8140154" y="4401442"/>
            <a:ext cx="3475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576262" y="5050928"/>
            <a:ext cx="1945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521594" y="5050928"/>
            <a:ext cx="21234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4645074" y="5050928"/>
            <a:ext cx="3495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8140154" y="5050928"/>
            <a:ext cx="3475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Effect of Prevalence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6334125" y="2809512"/>
            <a:ext cx="55506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Verification</a:t>
            </a:r>
            <a:endParaRPr dirty="0"/>
          </a:p>
        </p:txBody>
      </p:sp>
      <p:sp>
        <p:nvSpPr>
          <p:cNvPr id="294" name="Google Shape;294;p25"/>
          <p:cNvSpPr txBox="1"/>
          <p:nvPr/>
        </p:nvSpPr>
        <p:spPr>
          <a:xfrm>
            <a:off x="6334125" y="3385596"/>
            <a:ext cx="5286375" cy="73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 is often easiest to define the variables directly from your confusion matrix (table) output and run the formulas.</a:t>
            </a:r>
            <a:endParaRPr dirty="0"/>
          </a:p>
        </p:txBody>
      </p:sp>
      <p:sp>
        <p:nvSpPr>
          <p:cNvPr id="295" name="Google Shape;295;p25"/>
          <p:cNvSpPr txBox="1"/>
          <p:nvPr/>
        </p:nvSpPr>
        <p:spPr>
          <a:xfrm>
            <a:off x="6334124" y="4855364"/>
            <a:ext cx="5286375" cy="36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ensures you don't mix up the denominators.</a:t>
            </a:r>
            <a:endParaRPr dirty="0"/>
          </a:p>
        </p:txBody>
      </p:sp>
      <p:sp>
        <p:nvSpPr>
          <p:cNvPr id="296" name="Google Shape;296;p2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Calculating Metrics in R</a:t>
            </a:r>
            <a:endParaRPr/>
          </a:p>
        </p:txBody>
      </p:sp>
      <p:sp>
        <p:nvSpPr>
          <p:cNvPr id="297" name="Google Shape;297;p2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571500" y="224164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You can't maximize both!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571500" y="2832199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Diagnostic tests usually output a continuous value (e.g., OD, concentration).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571500" y="3712071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Moving the cutoff:</a:t>
            </a:r>
            <a:endParaRPr/>
          </a:p>
        </p:txBody>
      </p:sp>
      <p:pic>
        <p:nvPicPr>
          <p:cNvPr id="307" name="Google Shape;30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80617"/>
            <a:ext cx="5286375" cy="381119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638175" y="416248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762000" y="4161532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Lower Cutoff: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Catch more disease (↑ Sens) but more false alarms (↓ Spec).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638175" y="494710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762000" y="4946153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Higher Cutoff: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Miss more disease (↓ Sens) but fewer false alarms (↑ Spec).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Sensitivity-Specificity Trade-off</a:t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0040"/>
            <a:ext cx="3429000" cy="351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30040"/>
            <a:ext cx="3429000" cy="351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30040"/>
            <a:ext cx="3429000" cy="351234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 txBox="1"/>
          <p:nvPr/>
        </p:nvSpPr>
        <p:spPr>
          <a:xfrm>
            <a:off x="795813" y="2525315"/>
            <a:ext cx="29803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Screening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866775" y="3782615"/>
            <a:ext cx="2838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Priority: High Sensitivity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866775" y="4327326"/>
            <a:ext cx="2838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Don't miss any cases. Accept some false positives.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4605813" y="2525315"/>
            <a:ext cx="29803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Confirmation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4676775" y="3782615"/>
            <a:ext cx="2838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Priority: High Specificity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4676775" y="4327326"/>
            <a:ext cx="2838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Avoid false diagnosis. Be sure before treating.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8415813" y="2525315"/>
            <a:ext cx="29803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Blood Bank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8486775" y="3782615"/>
            <a:ext cx="2838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Priority: Both High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8486775" y="4327326"/>
            <a:ext cx="2838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Safety critical. Cannot miss HIV/HepC, cannot waste blood.</a:t>
            </a:r>
            <a:endParaRPr/>
          </a:p>
        </p:txBody>
      </p:sp>
      <p:pic>
        <p:nvPicPr>
          <p:cNvPr id="331" name="Google Shape;331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306824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306824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4550" y="306824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Priorities</a:t>
            </a:r>
            <a:endParaRPr/>
          </a:p>
        </p:txBody>
      </p:sp>
      <p:sp>
        <p:nvSpPr>
          <p:cNvPr id="335" name="Google Shape;335;p2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43187" y="2126902"/>
            <a:ext cx="6905625" cy="260404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8"/>
          <p:cNvSpPr txBox="1"/>
          <p:nvPr/>
        </p:nvSpPr>
        <p:spPr>
          <a:xfrm>
            <a:off x="3090624" y="2717452"/>
            <a:ext cx="6010751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ROC Analysis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3233737" y="3660427"/>
            <a:ext cx="57245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Receiver Operating Characteristic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571500" y="2987278"/>
            <a:ext cx="710204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graph that visualizes the performance of a test across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all possible cutoffs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50" name="Google Shape;350;p29"/>
          <p:cNvSpPr txBox="1"/>
          <p:nvPr/>
        </p:nvSpPr>
        <p:spPr>
          <a:xfrm>
            <a:off x="571500" y="377190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Axes</a:t>
            </a:r>
            <a:endParaRPr/>
          </a:p>
        </p:txBody>
      </p:sp>
      <p:sp>
        <p:nvSpPr>
          <p:cNvPr id="352" name="Google Shape;352;p29"/>
          <p:cNvSpPr txBox="1"/>
          <p:nvPr/>
        </p:nvSpPr>
        <p:spPr>
          <a:xfrm>
            <a:off x="638175" y="42967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762000" y="4295775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Y-Axis: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Sensitivity (True Positive Rate)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638175" y="474618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762000" y="4745235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X-Axis: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1 - Specificity (False Positive Rate)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an ROC Curve?</a:t>
            </a:r>
            <a:endParaRPr/>
          </a:p>
        </p:txBody>
      </p:sp>
      <p:sp>
        <p:nvSpPr>
          <p:cNvPr id="357" name="Google Shape;357;p2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0"/>
          <p:cNvSpPr txBox="1"/>
          <p:nvPr/>
        </p:nvSpPr>
        <p:spPr>
          <a:xfrm>
            <a:off x="571500" y="2547342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Key Landmarks</a:t>
            </a:r>
            <a:endParaRPr/>
          </a:p>
        </p:txBody>
      </p:sp>
      <p:pic>
        <p:nvPicPr>
          <p:cNvPr id="365" name="Google Shape;36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70930"/>
            <a:ext cx="5286375" cy="403056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0"/>
          <p:cNvSpPr txBox="1"/>
          <p:nvPr/>
        </p:nvSpPr>
        <p:spPr>
          <a:xfrm>
            <a:off x="638175" y="307216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7" name="Google Shape;367;p30"/>
          <p:cNvSpPr txBox="1"/>
          <p:nvPr/>
        </p:nvSpPr>
        <p:spPr>
          <a:xfrm>
            <a:off x="762000" y="3071217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Upper Left Corner: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"Perfect" Test (100% Sens, 100% Spec).</a:t>
            </a:r>
            <a:endParaRPr/>
          </a:p>
        </p:txBody>
      </p:sp>
      <p:sp>
        <p:nvSpPr>
          <p:cNvPr id="368" name="Google Shape;368;p30"/>
          <p:cNvSpPr txBox="1"/>
          <p:nvPr/>
        </p:nvSpPr>
        <p:spPr>
          <a:xfrm>
            <a:off x="638175" y="385679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9" name="Google Shape;369;p30"/>
          <p:cNvSpPr txBox="1"/>
          <p:nvPr/>
        </p:nvSpPr>
        <p:spPr>
          <a:xfrm>
            <a:off x="762000" y="3855839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Diagonal Line: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Random Guessing (no better than a coin flip).</a:t>
            </a:r>
            <a:endParaRPr/>
          </a:p>
        </p:txBody>
      </p:sp>
      <p:sp>
        <p:nvSpPr>
          <p:cNvPr id="370" name="Google Shape;370;p30"/>
          <p:cNvSpPr txBox="1"/>
          <p:nvPr/>
        </p:nvSpPr>
        <p:spPr>
          <a:xfrm>
            <a:off x="638175" y="464141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1" name="Google Shape;371;p30"/>
          <p:cNvSpPr txBox="1"/>
          <p:nvPr/>
        </p:nvSpPr>
        <p:spPr>
          <a:xfrm>
            <a:off x="762000" y="4640460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Curve: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closer it bows toward the upper left, the better the test.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Reading an ROC Curve</a:t>
            </a:r>
            <a:endParaRPr/>
          </a:p>
        </p:txBody>
      </p:sp>
      <p:sp>
        <p:nvSpPr>
          <p:cNvPr id="373" name="Google Shape;373;p3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6710"/>
            <a:ext cx="5286375" cy="4419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76710"/>
            <a:ext cx="5286375" cy="441900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1"/>
          <p:cNvSpPr txBox="1"/>
          <p:nvPr/>
        </p:nvSpPr>
        <p:spPr>
          <a:xfrm>
            <a:off x="866775" y="207198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</a:t>
            </a:r>
            <a:endParaRPr/>
          </a:p>
        </p:txBody>
      </p:sp>
      <p:sp>
        <p:nvSpPr>
          <p:cNvPr id="382" name="Google Shape;382;p31"/>
          <p:cNvSpPr txBox="1"/>
          <p:nvPr/>
        </p:nvSpPr>
        <p:spPr>
          <a:xfrm>
            <a:off x="866775" y="2662535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single number that summarizes the overall discrimination ability of the test.</a:t>
            </a:r>
            <a:endParaRPr/>
          </a:p>
        </p:txBody>
      </p:sp>
      <p:sp>
        <p:nvSpPr>
          <p:cNvPr id="383" name="Google Shape;383;p31"/>
          <p:cNvSpPr txBox="1"/>
          <p:nvPr/>
        </p:nvSpPr>
        <p:spPr>
          <a:xfrm>
            <a:off x="866775" y="3542407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Probability that a random positive has a higher score than a random negative.</a:t>
            </a:r>
            <a:endParaRPr/>
          </a:p>
        </p:txBody>
      </p:sp>
      <p:sp>
        <p:nvSpPr>
          <p:cNvPr id="384" name="Google Shape;384;p31"/>
          <p:cNvSpPr txBox="1"/>
          <p:nvPr/>
        </p:nvSpPr>
        <p:spPr>
          <a:xfrm>
            <a:off x="6629400" y="207198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Interpretation</a:t>
            </a:r>
            <a:endParaRPr/>
          </a:p>
        </p:txBody>
      </p:sp>
      <p:graphicFrame>
        <p:nvGraphicFramePr>
          <p:cNvPr id="385" name="Google Shape;385;p31"/>
          <p:cNvGraphicFramePr/>
          <p:nvPr/>
        </p:nvGraphicFramePr>
        <p:xfrm>
          <a:off x="6629400" y="2643485"/>
          <a:ext cx="4686300" cy="3257000"/>
        </p:xfrm>
        <a:graphic>
          <a:graphicData uri="http://schemas.openxmlformats.org/drawingml/2006/table">
            <a:tbl>
              <a:tblPr firstRow="1" bandRow="1">
                <a:noFill/>
                <a:tableStyleId>{C421F65D-FE57-48F0-8C51-FD328BE6375A}</a:tableStyleId>
              </a:tblPr>
              <a:tblGrid>
                <a:gridCol w="12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1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discrimination (Random)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0.7-0.8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Acceptable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0.8-0.9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Excellent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&gt;0.9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Outstanding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6" name="Google Shape;386;p31"/>
          <p:cNvSpPr/>
          <p:nvPr/>
        </p:nvSpPr>
        <p:spPr>
          <a:xfrm>
            <a:off x="6634162" y="328820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7910661" y="3288208"/>
            <a:ext cx="3409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6634162" y="3937694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7910661" y="3937694"/>
            <a:ext cx="3409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6634162" y="4587180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7910661" y="4587180"/>
            <a:ext cx="3409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6634162" y="5236666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7910661" y="5236666"/>
            <a:ext cx="3409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AUC: Area Under the Curve</a:t>
            </a:r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2"/>
          <p:cNvSpPr txBox="1"/>
          <p:nvPr/>
        </p:nvSpPr>
        <p:spPr>
          <a:xfrm>
            <a:off x="6334125" y="262919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6543675" y="3163550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403" name="Google Shape;403;p32"/>
          <p:cNvSpPr txBox="1"/>
          <p:nvPr/>
        </p:nvSpPr>
        <p:spPr>
          <a:xfrm>
            <a:off x="6715125" y="3162597"/>
            <a:ext cx="49053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Load pROC.</a:t>
            </a:r>
            <a:endParaRPr/>
          </a:p>
        </p:txBody>
      </p:sp>
      <p:sp>
        <p:nvSpPr>
          <p:cNvPr id="404" name="Google Shape;404;p32"/>
          <p:cNvSpPr txBox="1"/>
          <p:nvPr/>
        </p:nvSpPr>
        <p:spPr>
          <a:xfrm>
            <a:off x="6543675" y="3622536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405" name="Google Shape;405;p32"/>
          <p:cNvSpPr txBox="1"/>
          <p:nvPr/>
        </p:nvSpPr>
        <p:spPr>
          <a:xfrm>
            <a:off x="6715125" y="362158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Create ROC object using truth vector and test result vector.</a:t>
            </a:r>
            <a:endParaRPr/>
          </a:p>
        </p:txBody>
      </p:sp>
      <p:sp>
        <p:nvSpPr>
          <p:cNvPr id="406" name="Google Shape;406;p32"/>
          <p:cNvSpPr txBox="1"/>
          <p:nvPr/>
        </p:nvSpPr>
        <p:spPr>
          <a:xfrm>
            <a:off x="6543675" y="4407157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407" name="Google Shape;407;p32"/>
          <p:cNvSpPr txBox="1"/>
          <p:nvPr/>
        </p:nvSpPr>
        <p:spPr>
          <a:xfrm>
            <a:off x="6715125" y="4406205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Extract AUC.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6543675" y="4856618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409" name="Google Shape;409;p32"/>
          <p:cNvSpPr txBox="1"/>
          <p:nvPr/>
        </p:nvSpPr>
        <p:spPr>
          <a:xfrm>
            <a:off x="6715125" y="4855666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Visualize.</a:t>
            </a:r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Using the pROC Package</a:t>
            </a:r>
            <a:endParaRPr/>
          </a:p>
        </p:txBody>
      </p:sp>
      <p:sp>
        <p:nvSpPr>
          <p:cNvPr id="411" name="Google Shape;411;p3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6658"/>
            <a:ext cx="5286375" cy="333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16658"/>
            <a:ext cx="5286375" cy="333910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3"/>
          <p:cNvSpPr txBox="1"/>
          <p:nvPr/>
        </p:nvSpPr>
        <p:spPr>
          <a:xfrm>
            <a:off x="866775" y="2611933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Youden Index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866775" y="3202483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Method to find the "best balance" between sensitivity and specificity.</a:t>
            </a:r>
            <a:endParaRPr/>
          </a:p>
        </p:txBody>
      </p:sp>
      <p:sp>
        <p:nvSpPr>
          <p:cNvPr id="421" name="Google Shape;421;p33"/>
          <p:cNvSpPr/>
          <p:nvPr/>
        </p:nvSpPr>
        <p:spPr>
          <a:xfrm>
            <a:off x="866775" y="4063305"/>
            <a:ext cx="4695825" cy="63817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"/>
          <p:cNvSpPr txBox="1"/>
          <p:nvPr/>
        </p:nvSpPr>
        <p:spPr>
          <a:xfrm>
            <a:off x="1057275" y="425380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Sensitivity + Specificity - 1</a:t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866775" y="4063305"/>
            <a:ext cx="47625" cy="6381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866775" y="4911030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Maximizes distance from the diagonal line.</a:t>
            </a: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6629400" y="2611933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 Code</a:t>
            </a:r>
            <a:endParaRPr/>
          </a:p>
        </p:txBody>
      </p:sp>
      <p:sp>
        <p:nvSpPr>
          <p:cNvPr id="426" name="Google Shape;426;p3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Finding the Optimal Cutoff</a:t>
            </a:r>
            <a:endParaRPr/>
          </a:p>
        </p:txBody>
      </p:sp>
      <p:sp>
        <p:nvSpPr>
          <p:cNvPr id="427" name="Google Shape;427;p3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4"/>
          <p:cNvSpPr txBox="1"/>
          <p:nvPr/>
        </p:nvSpPr>
        <p:spPr>
          <a:xfrm>
            <a:off x="571500" y="4807446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When curves overlap, AUC helps decide the overall winner. If curves cross, one test might be better for high sensitivity while the other is better for high specificity.</a:t>
            </a:r>
            <a:endParaRPr/>
          </a:p>
        </p:txBody>
      </p:sp>
      <p:pic>
        <p:nvPicPr>
          <p:cNvPr id="435" name="Google Shape;435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67612" y="2538412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4"/>
          <p:cNvSpPr txBox="1"/>
          <p:nvPr/>
        </p:nvSpPr>
        <p:spPr>
          <a:xfrm>
            <a:off x="8150439" y="2853053"/>
            <a:ext cx="9525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Test 1</a:t>
            </a:r>
            <a:endParaRPr dirty="0"/>
          </a:p>
        </p:txBody>
      </p:sp>
      <p:sp>
        <p:nvSpPr>
          <p:cNvPr id="437" name="Google Shape;437;p34"/>
          <p:cNvSpPr txBox="1"/>
          <p:nvPr/>
        </p:nvSpPr>
        <p:spPr>
          <a:xfrm>
            <a:off x="9472611" y="4195762"/>
            <a:ext cx="95249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Test 2</a:t>
            </a:r>
            <a:endParaRPr dirty="0"/>
          </a:p>
        </p:txBody>
      </p:sp>
      <p:sp>
        <p:nvSpPr>
          <p:cNvPr id="438" name="Google Shape;438;p3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Comparing Two Tests</a:t>
            </a:r>
            <a:endParaRPr/>
          </a:p>
        </p:txBody>
      </p:sp>
      <p:sp>
        <p:nvSpPr>
          <p:cNvPr id="439" name="Google Shape;439;p3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1585"/>
            <a:ext cx="5286375" cy="2609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81585"/>
            <a:ext cx="5286375" cy="260925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5"/>
          <p:cNvSpPr txBox="1"/>
          <p:nvPr/>
        </p:nvSpPr>
        <p:spPr>
          <a:xfrm>
            <a:off x="933450" y="297781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8" name="Google Shape;448;p35"/>
          <p:cNvSpPr txBox="1"/>
          <p:nvPr/>
        </p:nvSpPr>
        <p:spPr>
          <a:xfrm>
            <a:off x="1057275" y="2976860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Confusion Matrix: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foundation (TP, FP, FN, TN).</a:t>
            </a:r>
            <a:endParaRPr/>
          </a:p>
        </p:txBody>
      </p:sp>
      <p:sp>
        <p:nvSpPr>
          <p:cNvPr id="449" name="Google Shape;449;p35"/>
          <p:cNvSpPr txBox="1"/>
          <p:nvPr/>
        </p:nvSpPr>
        <p:spPr>
          <a:xfrm>
            <a:off x="933450" y="376243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50" name="Google Shape;450;p35"/>
          <p:cNvSpPr txBox="1"/>
          <p:nvPr/>
        </p:nvSpPr>
        <p:spPr>
          <a:xfrm>
            <a:off x="1057275" y="3761482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Sensitivity: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Finding positives (Rule OUT).</a:t>
            </a:r>
            <a:endParaRPr/>
          </a:p>
        </p:txBody>
      </p:sp>
      <p:sp>
        <p:nvSpPr>
          <p:cNvPr id="451" name="Google Shape;451;p35"/>
          <p:cNvSpPr txBox="1"/>
          <p:nvPr/>
        </p:nvSpPr>
        <p:spPr>
          <a:xfrm>
            <a:off x="933450" y="421189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1057275" y="4210942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Specificity: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Finding negatives (Rule IN).</a:t>
            </a:r>
            <a:endParaRPr/>
          </a:p>
        </p:txBody>
      </p:sp>
      <p:sp>
        <p:nvSpPr>
          <p:cNvPr id="453" name="Google Shape;453;p35"/>
          <p:cNvSpPr txBox="1"/>
          <p:nvPr/>
        </p:nvSpPr>
        <p:spPr>
          <a:xfrm>
            <a:off x="6696075" y="297781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54" name="Google Shape;454;p35"/>
          <p:cNvSpPr txBox="1"/>
          <p:nvPr/>
        </p:nvSpPr>
        <p:spPr>
          <a:xfrm>
            <a:off x="6819900" y="2976860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ROC Curve: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Visualizes performance across all cutoffs.</a:t>
            </a:r>
            <a:endParaRPr/>
          </a:p>
        </p:txBody>
      </p:sp>
      <p:sp>
        <p:nvSpPr>
          <p:cNvPr id="455" name="Google Shape;455;p35"/>
          <p:cNvSpPr txBox="1"/>
          <p:nvPr/>
        </p:nvSpPr>
        <p:spPr>
          <a:xfrm>
            <a:off x="6696075" y="376243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56" name="Google Shape;456;p35"/>
          <p:cNvSpPr txBox="1"/>
          <p:nvPr/>
        </p:nvSpPr>
        <p:spPr>
          <a:xfrm>
            <a:off x="6819900" y="3761482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AUC: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grade of the test (0.5 to 1.0).</a:t>
            </a:r>
            <a:endParaRPr/>
          </a:p>
        </p:txBody>
      </p:sp>
      <p:sp>
        <p:nvSpPr>
          <p:cNvPr id="457" name="Google Shape;457;p35"/>
          <p:cNvSpPr txBox="1"/>
          <p:nvPr/>
        </p:nvSpPr>
        <p:spPr>
          <a:xfrm>
            <a:off x="6696075" y="421189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58" name="Google Shape;458;p35"/>
          <p:cNvSpPr txBox="1"/>
          <p:nvPr/>
        </p:nvSpPr>
        <p:spPr>
          <a:xfrm>
            <a:off x="6819900" y="4210942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Optimal Cutoff: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Depends on clinical context (Screening vs Confirmation).</a:t>
            </a:r>
            <a:endParaRPr/>
          </a:p>
        </p:txBody>
      </p:sp>
      <p:sp>
        <p:nvSpPr>
          <p:cNvPr id="459" name="Google Shape;459;p3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Takeaways</a:t>
            </a:r>
            <a:endParaRPr/>
          </a:p>
        </p:txBody>
      </p:sp>
      <p:sp>
        <p:nvSpPr>
          <p:cNvPr id="460" name="Google Shape;460;p3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0" y="2003077"/>
            <a:ext cx="3962400" cy="285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6"/>
          <p:cNvSpPr txBox="1"/>
          <p:nvPr/>
        </p:nvSpPr>
        <p:spPr>
          <a:xfrm>
            <a:off x="4635817" y="2593627"/>
            <a:ext cx="292036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7</a:t>
            </a:r>
            <a:endParaRPr/>
          </a:p>
        </p:txBody>
      </p:sp>
      <p:sp>
        <p:nvSpPr>
          <p:cNvPr id="468" name="Google Shape;468;p36"/>
          <p:cNvSpPr txBox="1"/>
          <p:nvPr/>
        </p:nvSpPr>
        <p:spPr>
          <a:xfrm>
            <a:off x="4705350" y="3536602"/>
            <a:ext cx="27813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Optimizing the Cutoff</a:t>
            </a:r>
            <a:endParaRPr/>
          </a:p>
        </p:txBody>
      </p:sp>
      <p:sp>
        <p:nvSpPr>
          <p:cNvPr id="469" name="Google Shape;469;p36"/>
          <p:cNvSpPr txBox="1"/>
          <p:nvPr/>
        </p:nvSpPr>
        <p:spPr>
          <a:xfrm>
            <a:off x="4705350" y="4092773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your R environment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7"/>
          <p:cNvSpPr txBox="1"/>
          <p:nvPr/>
        </p:nvSpPr>
        <p:spPr>
          <a:xfrm>
            <a:off x="1595437" y="2091630"/>
            <a:ext cx="90011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7: Optimizing the Cutoff</a:t>
            </a:r>
            <a:endParaRPr/>
          </a:p>
        </p:txBody>
      </p:sp>
      <p:sp>
        <p:nvSpPr>
          <p:cNvPr id="476" name="Google Shape;476;p37"/>
          <p:cNvSpPr/>
          <p:nvPr/>
        </p:nvSpPr>
        <p:spPr>
          <a:xfrm>
            <a:off x="5619750" y="3901380"/>
            <a:ext cx="9525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7"/>
          <p:cNvSpPr txBox="1"/>
          <p:nvPr/>
        </p:nvSpPr>
        <p:spPr>
          <a:xfrm>
            <a:off x="1809750" y="4225230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ROC Analysis in Practice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8"/>
          <p:cNvSpPr txBox="1"/>
          <p:nvPr/>
        </p:nvSpPr>
        <p:spPr>
          <a:xfrm>
            <a:off x="571500" y="235207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Lab Context</a:t>
            </a:r>
            <a:endParaRPr/>
          </a:p>
        </p:txBody>
      </p:sp>
      <p:sp>
        <p:nvSpPr>
          <p:cNvPr id="485" name="Google Shape;485;p38"/>
          <p:cNvSpPr txBox="1"/>
          <p:nvPr/>
        </p:nvSpPr>
        <p:spPr>
          <a:xfrm>
            <a:off x="571500" y="2942629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Your lab is evaluating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new dengue ELISA assay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86" name="Google Shape;486;p38"/>
          <p:cNvSpPr txBox="1"/>
          <p:nvPr/>
        </p:nvSpPr>
        <p:spPr>
          <a:xfrm>
            <a:off x="571500" y="5170884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Find the optimal OD cutoff for reporting.</a:t>
            </a:r>
            <a:endParaRPr/>
          </a:p>
        </p:txBody>
      </p:sp>
      <p:pic>
        <p:nvPicPr>
          <p:cNvPr id="487" name="Google Shape;487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24087"/>
            <a:ext cx="528637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8"/>
          <p:cNvSpPr txBox="1"/>
          <p:nvPr/>
        </p:nvSpPr>
        <p:spPr>
          <a:xfrm>
            <a:off x="638175" y="339304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9" name="Google Shape;489;p38"/>
          <p:cNvSpPr txBox="1"/>
          <p:nvPr/>
        </p:nvSpPr>
        <p:spPr>
          <a:xfrm>
            <a:off x="762000" y="339209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40 patient samples.</a:t>
            </a:r>
            <a:endParaRPr/>
          </a:p>
        </p:txBody>
      </p:sp>
      <p:sp>
        <p:nvSpPr>
          <p:cNvPr id="490" name="Google Shape;490;p38"/>
          <p:cNvSpPr txBox="1"/>
          <p:nvPr/>
        </p:nvSpPr>
        <p:spPr>
          <a:xfrm>
            <a:off x="638175" y="384250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91" name="Google Shape;491;p38"/>
          <p:cNvSpPr txBox="1"/>
          <p:nvPr/>
        </p:nvSpPr>
        <p:spPr>
          <a:xfrm>
            <a:off x="762000" y="3841551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Measurements: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ELISA OD values (higher = more positive).</a:t>
            </a:r>
            <a:endParaRPr/>
          </a:p>
        </p:txBody>
      </p:sp>
      <p:sp>
        <p:nvSpPr>
          <p:cNvPr id="492" name="Google Shape;492;p38"/>
          <p:cNvSpPr txBox="1"/>
          <p:nvPr/>
        </p:nvSpPr>
        <p:spPr>
          <a:xfrm>
            <a:off x="638175" y="462712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93" name="Google Shape;493;p38"/>
          <p:cNvSpPr txBox="1"/>
          <p:nvPr/>
        </p:nvSpPr>
        <p:spPr>
          <a:xfrm>
            <a:off x="762000" y="4626173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Gold Standard: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PCR results (0/1).</a:t>
            </a:r>
            <a:endParaRPr/>
          </a:p>
        </p:txBody>
      </p:sp>
      <p:sp>
        <p:nvSpPr>
          <p:cNvPr id="494" name="Google Shape;494;p3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Your Scenario</a:t>
            </a:r>
            <a:endParaRPr/>
          </a:p>
        </p:txBody>
      </p:sp>
      <p:sp>
        <p:nvSpPr>
          <p:cNvPr id="495" name="Google Shape;495;p3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6164"/>
            <a:ext cx="2476500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0" y="2646164"/>
            <a:ext cx="2476500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646164"/>
            <a:ext cx="2476500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0" y="2646164"/>
            <a:ext cx="2476500" cy="2680096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9"/>
          <p:cNvSpPr txBox="1"/>
          <p:nvPr/>
        </p:nvSpPr>
        <p:spPr>
          <a:xfrm>
            <a:off x="866775" y="2941439"/>
            <a:ext cx="18859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06" name="Google Shape;506;p39"/>
          <p:cNvSpPr txBox="1"/>
          <p:nvPr/>
        </p:nvSpPr>
        <p:spPr>
          <a:xfrm>
            <a:off x="819626" y="3655814"/>
            <a:ext cx="198024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Load</a:t>
            </a:r>
            <a:endParaRPr/>
          </a:p>
        </p:txBody>
      </p:sp>
      <p:sp>
        <p:nvSpPr>
          <p:cNvPr id="507" name="Google Shape;507;p39"/>
          <p:cNvSpPr txBox="1"/>
          <p:nvPr/>
        </p:nvSpPr>
        <p:spPr>
          <a:xfrm>
            <a:off x="866775" y="4246364"/>
            <a:ext cx="1885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Load the data frame.</a:t>
            </a:r>
            <a:endParaRPr/>
          </a:p>
        </p:txBody>
      </p:sp>
      <p:sp>
        <p:nvSpPr>
          <p:cNvPr id="508" name="Google Shape;508;p39"/>
          <p:cNvSpPr txBox="1"/>
          <p:nvPr/>
        </p:nvSpPr>
        <p:spPr>
          <a:xfrm>
            <a:off x="3724275" y="2941439"/>
            <a:ext cx="18859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09" name="Google Shape;509;p39"/>
          <p:cNvSpPr txBox="1"/>
          <p:nvPr/>
        </p:nvSpPr>
        <p:spPr>
          <a:xfrm>
            <a:off x="3677126" y="3655814"/>
            <a:ext cx="198024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ROC</a:t>
            </a:r>
            <a:endParaRPr/>
          </a:p>
        </p:txBody>
      </p:sp>
      <p:sp>
        <p:nvSpPr>
          <p:cNvPr id="510" name="Google Shape;510;p39"/>
          <p:cNvSpPr txBox="1"/>
          <p:nvPr/>
        </p:nvSpPr>
        <p:spPr>
          <a:xfrm>
            <a:off x="3724275" y="4246364"/>
            <a:ext cx="1885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Generate ROC object.</a:t>
            </a:r>
            <a:endParaRPr/>
          </a:p>
        </p:txBody>
      </p:sp>
      <p:sp>
        <p:nvSpPr>
          <p:cNvPr id="511" name="Google Shape;511;p39"/>
          <p:cNvSpPr txBox="1"/>
          <p:nvPr/>
        </p:nvSpPr>
        <p:spPr>
          <a:xfrm>
            <a:off x="6581775" y="2941439"/>
            <a:ext cx="18859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12" name="Google Shape;512;p39"/>
          <p:cNvSpPr txBox="1"/>
          <p:nvPr/>
        </p:nvSpPr>
        <p:spPr>
          <a:xfrm>
            <a:off x="6534626" y="3655814"/>
            <a:ext cx="198024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Plot</a:t>
            </a:r>
            <a:endParaRPr/>
          </a:p>
        </p:txBody>
      </p:sp>
      <p:sp>
        <p:nvSpPr>
          <p:cNvPr id="513" name="Google Shape;513;p39"/>
          <p:cNvSpPr txBox="1"/>
          <p:nvPr/>
        </p:nvSpPr>
        <p:spPr>
          <a:xfrm>
            <a:off x="6581775" y="4246364"/>
            <a:ext cx="1885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Visualize curve &amp; AUC.</a:t>
            </a:r>
            <a:endParaRPr/>
          </a:p>
        </p:txBody>
      </p:sp>
      <p:sp>
        <p:nvSpPr>
          <p:cNvPr id="514" name="Google Shape;514;p39"/>
          <p:cNvSpPr txBox="1"/>
          <p:nvPr/>
        </p:nvSpPr>
        <p:spPr>
          <a:xfrm>
            <a:off x="9439275" y="2941439"/>
            <a:ext cx="18859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15" name="Google Shape;515;p39"/>
          <p:cNvSpPr txBox="1"/>
          <p:nvPr/>
        </p:nvSpPr>
        <p:spPr>
          <a:xfrm>
            <a:off x="9392126" y="3655814"/>
            <a:ext cx="198024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Cutoff</a:t>
            </a:r>
            <a:endParaRPr/>
          </a:p>
        </p:txBody>
      </p:sp>
      <p:sp>
        <p:nvSpPr>
          <p:cNvPr id="516" name="Google Shape;516;p39"/>
          <p:cNvSpPr txBox="1"/>
          <p:nvPr/>
        </p:nvSpPr>
        <p:spPr>
          <a:xfrm>
            <a:off x="9439275" y="4246364"/>
            <a:ext cx="1885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Find Youden Index.</a:t>
            </a:r>
            <a:endParaRPr/>
          </a:p>
        </p:txBody>
      </p:sp>
      <p:sp>
        <p:nvSpPr>
          <p:cNvPr id="517" name="Google Shape;517;p3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Steps</a:t>
            </a:r>
            <a:endParaRPr/>
          </a:p>
        </p:txBody>
      </p:sp>
      <p:sp>
        <p:nvSpPr>
          <p:cNvPr id="518" name="Google Shape;518;p3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0"/>
          <p:cNvSpPr txBox="1"/>
          <p:nvPr/>
        </p:nvSpPr>
        <p:spPr>
          <a:xfrm>
            <a:off x="2352675" y="5075932"/>
            <a:ext cx="74866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Ensure your data has a predictor column (OD) and a binary response column (PCR).</a:t>
            </a:r>
            <a:endParaRPr/>
          </a:p>
        </p:txBody>
      </p:sp>
      <p:sp>
        <p:nvSpPr>
          <p:cNvPr id="525" name="Google Shape;525;p4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Load Data</a:t>
            </a:r>
            <a:endParaRPr/>
          </a:p>
        </p:txBody>
      </p:sp>
      <p:sp>
        <p:nvSpPr>
          <p:cNvPr id="526" name="Google Shape;526;p4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1"/>
          <p:cNvSpPr txBox="1"/>
          <p:nvPr/>
        </p:nvSpPr>
        <p:spPr>
          <a:xfrm>
            <a:off x="571500" y="27908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Code</a:t>
            </a:r>
            <a:endParaRPr/>
          </a:p>
        </p:txBody>
      </p:sp>
      <p:sp>
        <p:nvSpPr>
          <p:cNvPr id="533" name="Google Shape;533;p41"/>
          <p:cNvSpPr txBox="1"/>
          <p:nvPr/>
        </p:nvSpPr>
        <p:spPr>
          <a:xfrm>
            <a:off x="6334125" y="2973883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Note</a:t>
            </a:r>
            <a:endParaRPr/>
          </a:p>
        </p:txBody>
      </p:sp>
      <p:sp>
        <p:nvSpPr>
          <p:cNvPr id="534" name="Google Shape;534;p41"/>
          <p:cNvSpPr txBox="1"/>
          <p:nvPr/>
        </p:nvSpPr>
        <p:spPr>
          <a:xfrm>
            <a:off x="6334125" y="3564433"/>
            <a:ext cx="52863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roc() function needs:</a:t>
            </a:r>
            <a:endParaRPr/>
          </a:p>
        </p:txBody>
      </p:sp>
      <p:sp>
        <p:nvSpPr>
          <p:cNvPr id="535" name="Google Shape;535;p41"/>
          <p:cNvSpPr txBox="1"/>
          <p:nvPr/>
        </p:nvSpPr>
        <p:spPr>
          <a:xfrm>
            <a:off x="6543675" y="406247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536" name="Google Shape;536;p41"/>
          <p:cNvSpPr txBox="1"/>
          <p:nvPr/>
        </p:nvSpPr>
        <p:spPr>
          <a:xfrm>
            <a:off x="6715125" y="406151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truth (PCR).</a:t>
            </a:r>
            <a:endParaRPr/>
          </a:p>
        </p:txBody>
      </p:sp>
      <p:sp>
        <p:nvSpPr>
          <p:cNvPr id="537" name="Google Shape;537;p41"/>
          <p:cNvSpPr txBox="1"/>
          <p:nvPr/>
        </p:nvSpPr>
        <p:spPr>
          <a:xfrm>
            <a:off x="6543675" y="451193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538" name="Google Shape;538;p41"/>
          <p:cNvSpPr txBox="1"/>
          <p:nvPr/>
        </p:nvSpPr>
        <p:spPr>
          <a:xfrm>
            <a:off x="6715125" y="451098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Predictor: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test value (OD).</a:t>
            </a:r>
            <a:endParaRPr/>
          </a:p>
        </p:txBody>
      </p:sp>
      <p:sp>
        <p:nvSpPr>
          <p:cNvPr id="539" name="Google Shape;539;p4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Generate ROC</a:t>
            </a:r>
            <a:endParaRPr/>
          </a:p>
        </p:txBody>
      </p:sp>
      <p:sp>
        <p:nvSpPr>
          <p:cNvPr id="540" name="Google Shape;540;p4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2"/>
          <p:cNvSpPr txBox="1"/>
          <p:nvPr/>
        </p:nvSpPr>
        <p:spPr>
          <a:xfrm>
            <a:off x="6334125" y="3050083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Checklist</a:t>
            </a:r>
            <a:endParaRPr/>
          </a:p>
        </p:txBody>
      </p:sp>
      <p:sp>
        <p:nvSpPr>
          <p:cNvPr id="547" name="Google Shape;547;p42"/>
          <p:cNvSpPr txBox="1"/>
          <p:nvPr/>
        </p:nvSpPr>
        <p:spPr>
          <a:xfrm>
            <a:off x="6400800" y="357491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48" name="Google Shape;548;p42"/>
          <p:cNvSpPr txBox="1"/>
          <p:nvPr/>
        </p:nvSpPr>
        <p:spPr>
          <a:xfrm>
            <a:off x="6524625" y="3573958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 the curve above the diagonal?</a:t>
            </a:r>
            <a:endParaRPr/>
          </a:p>
        </p:txBody>
      </p:sp>
      <p:sp>
        <p:nvSpPr>
          <p:cNvPr id="549" name="Google Shape;549;p42"/>
          <p:cNvSpPr txBox="1"/>
          <p:nvPr/>
        </p:nvSpPr>
        <p:spPr>
          <a:xfrm>
            <a:off x="6400800" y="402437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50" name="Google Shape;550;p42"/>
          <p:cNvSpPr txBox="1"/>
          <p:nvPr/>
        </p:nvSpPr>
        <p:spPr>
          <a:xfrm>
            <a:off x="6524625" y="402341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 the AUC &gt; 0.8?</a:t>
            </a:r>
            <a:endParaRPr/>
          </a:p>
        </p:txBody>
      </p:sp>
      <p:sp>
        <p:nvSpPr>
          <p:cNvPr id="551" name="Google Shape;551;p42"/>
          <p:cNvSpPr txBox="1"/>
          <p:nvPr/>
        </p:nvSpPr>
        <p:spPr>
          <a:xfrm>
            <a:off x="6400800" y="447383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52" name="Google Shape;552;p42"/>
          <p:cNvSpPr txBox="1"/>
          <p:nvPr/>
        </p:nvSpPr>
        <p:spPr>
          <a:xfrm>
            <a:off x="6524625" y="447288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Does it look smooth or jagged? (Small N = jagged)</a:t>
            </a:r>
            <a:endParaRPr/>
          </a:p>
        </p:txBody>
      </p:sp>
      <p:sp>
        <p:nvSpPr>
          <p:cNvPr id="553" name="Google Shape;553;p4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Plot ROC</a:t>
            </a:r>
            <a:endParaRPr/>
          </a:p>
        </p:txBody>
      </p:sp>
      <p:sp>
        <p:nvSpPr>
          <p:cNvPr id="554" name="Google Shape;554;p4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8254"/>
            <a:ext cx="5286375" cy="351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28254"/>
            <a:ext cx="5286375" cy="351591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3"/>
          <p:cNvSpPr txBox="1"/>
          <p:nvPr/>
        </p:nvSpPr>
        <p:spPr>
          <a:xfrm>
            <a:off x="866775" y="2523529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Code</a:t>
            </a:r>
            <a:endParaRPr/>
          </a:p>
        </p:txBody>
      </p:sp>
      <p:sp>
        <p:nvSpPr>
          <p:cNvPr id="563" name="Google Shape;563;p43"/>
          <p:cNvSpPr txBox="1"/>
          <p:nvPr/>
        </p:nvSpPr>
        <p:spPr>
          <a:xfrm>
            <a:off x="6629400" y="2523529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Output Interpretation</a:t>
            </a:r>
            <a:endParaRPr/>
          </a:p>
        </p:txBody>
      </p:sp>
      <p:sp>
        <p:nvSpPr>
          <p:cNvPr id="564" name="Google Shape;564;p43"/>
          <p:cNvSpPr txBox="1"/>
          <p:nvPr/>
        </p:nvSpPr>
        <p:spPr>
          <a:xfrm>
            <a:off x="6629400" y="3114079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will output the threshold value that maximizes Sensitivity + Specificity.</a:t>
            </a:r>
            <a:endParaRPr/>
          </a:p>
        </p:txBody>
      </p:sp>
      <p:sp>
        <p:nvSpPr>
          <p:cNvPr id="565" name="Google Shape;565;p43"/>
          <p:cNvSpPr txBox="1"/>
          <p:nvPr/>
        </p:nvSpPr>
        <p:spPr>
          <a:xfrm>
            <a:off x="6629400" y="3993951"/>
            <a:ext cx="46958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 Output: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Threshold: 0.65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Sens: 0.95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Spec: 0.90</a:t>
            </a:r>
            <a:endParaRPr/>
          </a:p>
        </p:txBody>
      </p:sp>
      <p:sp>
        <p:nvSpPr>
          <p:cNvPr id="566" name="Google Shape;566;p4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Find Optimal Cutoff</a:t>
            </a:r>
            <a:endParaRPr/>
          </a:p>
        </p:txBody>
      </p:sp>
      <p:sp>
        <p:nvSpPr>
          <p:cNvPr id="567" name="Google Shape;567;p4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25390"/>
            <a:ext cx="5286375" cy="2380654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4"/>
          <p:cNvSpPr txBox="1"/>
          <p:nvPr/>
        </p:nvSpPr>
        <p:spPr>
          <a:xfrm>
            <a:off x="571500" y="2675929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Based on your analysis, you report to the lab director.</a:t>
            </a:r>
            <a:endParaRPr/>
          </a:p>
        </p:txBody>
      </p:sp>
      <p:sp>
        <p:nvSpPr>
          <p:cNvPr id="575" name="Google Shape;575;p44"/>
          <p:cNvSpPr txBox="1"/>
          <p:nvPr/>
        </p:nvSpPr>
        <p:spPr>
          <a:xfrm>
            <a:off x="6334125" y="346620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Next Steps</a:t>
            </a:r>
            <a:endParaRPr/>
          </a:p>
        </p:txBody>
      </p:sp>
      <p:sp>
        <p:nvSpPr>
          <p:cNvPr id="576" name="Google Shape;576;p44"/>
          <p:cNvSpPr txBox="1"/>
          <p:nvPr/>
        </p:nvSpPr>
        <p:spPr>
          <a:xfrm>
            <a:off x="6334125" y="405675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Proceed to Assessment 2 to test your knowledge!</a:t>
            </a:r>
            <a:endParaRPr/>
          </a:p>
        </p:txBody>
      </p:sp>
      <p:sp>
        <p:nvSpPr>
          <p:cNvPr id="577" name="Google Shape;577;p44"/>
          <p:cNvSpPr txBox="1"/>
          <p:nvPr/>
        </p:nvSpPr>
        <p:spPr>
          <a:xfrm>
            <a:off x="809625" y="3525440"/>
            <a:ext cx="485775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"We recommend an OD cutoff of 0.65. This provides a sensitivity of 95% and specificity of 90%, optimizing our ability to detect Dengue while minimizing false positives."</a:t>
            </a:r>
            <a:endParaRPr/>
          </a:p>
        </p:txBody>
      </p:sp>
      <p:sp>
        <p:nvSpPr>
          <p:cNvPr id="578" name="Google Shape;578;p4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Final Recommendation</a:t>
            </a:r>
            <a:endParaRPr/>
          </a:p>
        </p:txBody>
      </p:sp>
      <p:sp>
        <p:nvSpPr>
          <p:cNvPr id="579" name="Google Shape;579;p4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0825" y="2126902"/>
            <a:ext cx="6610350" cy="260404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5"/>
          <p:cNvSpPr txBox="1"/>
          <p:nvPr/>
        </p:nvSpPr>
        <p:spPr>
          <a:xfrm>
            <a:off x="3245643" y="2717452"/>
            <a:ext cx="570071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7 Complete</a:t>
            </a:r>
            <a:endParaRPr/>
          </a:p>
        </p:txBody>
      </p:sp>
      <p:sp>
        <p:nvSpPr>
          <p:cNvPr id="587" name="Google Shape;587;p45"/>
          <p:cNvSpPr txBox="1"/>
          <p:nvPr/>
        </p:nvSpPr>
        <p:spPr>
          <a:xfrm>
            <a:off x="3381375" y="3660427"/>
            <a:ext cx="5429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are now ready for Assessment 2.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1397</Words>
  <Application>Microsoft Macintosh PowerPoint</Application>
  <PresentationFormat>Widescreen</PresentationFormat>
  <Paragraphs>287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Lato</vt:lpstr>
      <vt:lpstr>Arial</vt:lpstr>
      <vt:lpstr>Fira Code</vt:lpstr>
      <vt:lpstr>Times New Roman</vt:lpstr>
      <vt:lpstr>Lato Light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7</cp:revision>
  <dcterms:modified xsi:type="dcterms:W3CDTF">2026-01-21T06:13:05Z</dcterms:modified>
</cp:coreProperties>
</file>