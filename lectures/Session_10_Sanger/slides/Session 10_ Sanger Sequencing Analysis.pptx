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95" r:id="rId14"/>
    <p:sldId id="268" r:id="rId15"/>
    <p:sldId id="292" r:id="rId16"/>
    <p:sldId id="293" r:id="rId17"/>
    <p:sldId id="294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2192000" cy="6858000"/>
  <p:notesSz cx="6858000" cy="9144000"/>
  <p:embeddedFontLst>
    <p:embeddedFont>
      <p:font typeface="Lato" panose="020F0502020204030203" pitchFamily="34" charset="0"/>
      <p:regular r:id="rId43"/>
      <p:bold r:id="rId44"/>
      <p:italic r:id="rId45"/>
      <p:boldItalic r:id="rId46"/>
    </p:embeddedFont>
    <p:embeddedFont>
      <p:font typeface="Lato Light" panose="020F0302020204030204" pitchFamily="34" charset="0"/>
      <p:regular r:id="rId47"/>
      <p:bold r:id="rId48"/>
      <p:italic r:id="rId49"/>
      <p:boldItalic r:id="rId50"/>
    </p:embeddedFont>
    <p:embeddedFont>
      <p:font typeface="Merriweather" pitchFamily="2" charset="77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1BFFEBE-6EB5-4321-960D-D30A915E7477}">
  <a:tblStyle styleId="{41BFFEBE-6EB5-4321-960D-D30A915E747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7"/>
    <p:restoredTop sz="94643"/>
  </p:normalViewPr>
  <p:slideViewPr>
    <p:cSldViewPr snapToGrid="0">
      <p:cViewPr varScale="1">
        <p:scale>
          <a:sx n="96" d="100"/>
          <a:sy n="96" d="100"/>
        </p:scale>
        <p:origin x="200" y="6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font" Target="fonts/font11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3376612" y="1758404"/>
            <a:ext cx="54387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MODULE 3: PROGRAMMING FOR BIOLOGICAL DATA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240643" y="2085975"/>
            <a:ext cx="5710713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Sanger Sequencing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5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 Analysis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619750" y="3800475"/>
            <a:ext cx="95250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376612" y="4124325"/>
            <a:ext cx="54387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64748B"/>
                </a:solidFill>
                <a:latin typeface="Lato Light"/>
                <a:ea typeface="Lato Light"/>
                <a:cs typeface="Lato Light"/>
                <a:sym typeface="Lato Light"/>
              </a:rPr>
              <a:t>Chromatograms, Quality Scores &amp; sangeranalyseR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376612" y="4901505"/>
            <a:ext cx="54387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Instructor: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Dr. Haogao Gu |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Date: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February 4,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71997"/>
            <a:ext cx="2276475" cy="3666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33725" y="2171997"/>
            <a:ext cx="2867025" cy="3666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2171997"/>
            <a:ext cx="2276475" cy="3666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48725" y="2171997"/>
            <a:ext cx="2771775" cy="366652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824626" y="3181647"/>
            <a:ext cx="177022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4F46E5"/>
                </a:solidFill>
                <a:latin typeface="Merriweather"/>
                <a:ea typeface="Merriweather"/>
                <a:cs typeface="Merriweather"/>
                <a:sym typeface="Merriweather"/>
              </a:rPr>
              <a:t>Sanger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66775" y="3753147"/>
            <a:ext cx="1685925" cy="167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Understand the principles of Sanger sequencing and chain termination.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3372088" y="3181647"/>
            <a:ext cx="2390298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4F46E5"/>
                </a:solidFill>
                <a:latin typeface="Merriweather"/>
                <a:ea typeface="Merriweather"/>
                <a:cs typeface="Merriweather"/>
                <a:sym typeface="Merriweather"/>
              </a:rPr>
              <a:t>Chromatograms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3429000" y="3753147"/>
            <a:ext cx="22764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Interpret trace files (.ab1) and identify common artifacts.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539626" y="3181647"/>
            <a:ext cx="177022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4F46E5"/>
                </a:solidFill>
                <a:latin typeface="Merriweather"/>
                <a:ea typeface="Merriweather"/>
                <a:cs typeface="Merriweather"/>
                <a:sym typeface="Merriweather"/>
              </a:rPr>
              <a:t>Phred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581775" y="3753147"/>
            <a:ext cx="1685925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Calculate and apply Phred quality scores (Q20, Q30).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089469" y="3181647"/>
            <a:ext cx="229028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4F46E5"/>
                </a:solidFill>
                <a:latin typeface="Merriweather"/>
                <a:ea typeface="Merriweather"/>
                <a:cs typeface="Merriweather"/>
                <a:sym typeface="Merriweather"/>
              </a:rPr>
              <a:t>sangeranalyseR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144000" y="3753147"/>
            <a:ext cx="218122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Process, trim, and assemble sequences using Bioconductor.</a:t>
            </a:r>
            <a:endParaRPr/>
          </a:p>
        </p:txBody>
      </p:sp>
      <p:pic>
        <p:nvPicPr>
          <p:cNvPr id="109" name="Google Shape;109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09712" y="248632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338637" y="248632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253287" y="2486322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948862" y="2486322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Learning Objectives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45915"/>
            <a:ext cx="11049000" cy="322317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915352" y="2436465"/>
            <a:ext cx="10361295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Part 1: The Anatomy of a Chromatogram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162050" y="3998565"/>
            <a:ext cx="98679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From Fluorescent Peaks to DNA Sequence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002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571500" y="2118717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4F46E5"/>
                </a:solidFill>
                <a:latin typeface="Merriweather"/>
                <a:ea typeface="Merriweather"/>
                <a:cs typeface="Merriweather"/>
                <a:sym typeface="Merriweather"/>
              </a:rPr>
              <a:t>The Gold Standard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71500" y="2690217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Developed by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Frederick Sanger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 1977.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571500" y="4038600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4F46E5"/>
                </a:solidFill>
                <a:latin typeface="Merriweather"/>
                <a:ea typeface="Merriweather"/>
                <a:cs typeface="Merriweather"/>
                <a:sym typeface="Merriweather"/>
              </a:rPr>
              <a:t>Modern Use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38175" y="3140630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762000" y="3139678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Won Nobel Prize in Chemistry (1980).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38175" y="3590091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762000" y="3589139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Known as "Chain Termination" method.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38175" y="4544377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762000" y="4543425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Confirming mutations found by NGS.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38175" y="4993838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762000" y="4992885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Sequencing single genes (e.g., 16S rRNA).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38175" y="5443299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762000" y="5442346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Validating cloning results.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Sanger Sequencing History</a:t>
            </a:r>
            <a:endParaRPr dirty="0"/>
          </a:p>
        </p:txBody>
      </p:sp>
      <p:sp>
        <p:nvSpPr>
          <p:cNvPr id="146" name="Google Shape;146;p16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A Beginner's Guide to DNA Sequencing - Novogene">
            <a:extLst>
              <a:ext uri="{FF2B5EF4-FFF2-40B4-BE49-F238E27FC236}">
                <a16:creationId xmlns:a16="http://schemas.microsoft.com/office/drawing/2014/main" id="{8291324A-5209-E9A4-3A5E-9FC07F7D4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9932" y="1914162"/>
            <a:ext cx="7130148" cy="401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42529"/>
            <a:ext cx="5286375" cy="3725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142529"/>
            <a:ext cx="5286375" cy="372546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866775" y="2437804"/>
            <a:ext cx="493061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4F46E5"/>
                </a:solidFill>
                <a:latin typeface="Merriweather"/>
                <a:ea typeface="Merriweather"/>
                <a:cs typeface="Merriweather"/>
                <a:sym typeface="Merriweather"/>
              </a:rPr>
              <a:t>The Ingredients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629400" y="2437804"/>
            <a:ext cx="493061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4F46E5"/>
                </a:solidFill>
                <a:latin typeface="Merriweather"/>
                <a:ea typeface="Merriweather"/>
                <a:cs typeface="Merriweather"/>
                <a:sym typeface="Merriweather"/>
              </a:rPr>
              <a:t>The Process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933450" y="2943582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1057275" y="2942629"/>
            <a:ext cx="4505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Template DNA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933450" y="3393043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1057275" y="3392090"/>
            <a:ext cx="4505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Primer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933450" y="3842504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1057275" y="3841551"/>
            <a:ext cx="4505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DNA Polymerase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933450" y="4291965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1057275" y="4291012"/>
            <a:ext cx="4505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dNTPs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(Normal nucleotides)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933450" y="4741425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1057275" y="4740473"/>
            <a:ext cx="4505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ddNTPs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(Fluorescent Terminators)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838950" y="2953107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7010400" y="2865528"/>
            <a:ext cx="4314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Synthesis starts.</a:t>
            </a:r>
            <a:endParaRPr dirty="0"/>
          </a:p>
        </p:txBody>
      </p:sp>
      <p:sp>
        <p:nvSpPr>
          <p:cNvPr id="169" name="Google Shape;169;p17"/>
          <p:cNvSpPr txBox="1"/>
          <p:nvPr/>
        </p:nvSpPr>
        <p:spPr>
          <a:xfrm>
            <a:off x="6838950" y="3402568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7010400" y="3314989"/>
            <a:ext cx="43148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Random incorporation of a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ddNTP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stops the chain.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6838950" y="4187190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7010400" y="4099611"/>
            <a:ext cx="4314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Fragments of all lengths are produced.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6838950" y="4636650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4.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7010400" y="4549072"/>
            <a:ext cx="4314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Separated by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Capillary Electrophoresis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6838950" y="5086111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5.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7010400" y="4998533"/>
            <a:ext cx="4314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Laser detects the color of the last base.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How It Works</a:t>
            </a:r>
            <a:endParaRPr/>
          </a:p>
        </p:txBody>
      </p:sp>
      <p:sp>
        <p:nvSpPr>
          <p:cNvPr id="178" name="Google Shape;178;p17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29723" y="2524990"/>
            <a:ext cx="3209932" cy="232354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571500" y="1854696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key to the method is the missing 3'-OH group.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571501" y="2399407"/>
            <a:ext cx="527685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Without it, the DNA polymerase cannot add the next nucleotide.</a:t>
            </a:r>
            <a:endParaRPr dirty="0"/>
          </a:p>
        </p:txBody>
      </p:sp>
      <p:graphicFrame>
        <p:nvGraphicFramePr>
          <p:cNvPr id="188" name="Google Shape;188;p18"/>
          <p:cNvGraphicFramePr/>
          <p:nvPr/>
        </p:nvGraphicFramePr>
        <p:xfrm>
          <a:off x="571500" y="3260228"/>
          <a:ext cx="5276850" cy="3105125"/>
        </p:xfrm>
        <a:graphic>
          <a:graphicData uri="http://schemas.openxmlformats.org/drawingml/2006/table">
            <a:tbl>
              <a:tblPr firstRow="1" bandRow="1">
                <a:noFill/>
                <a:tableStyleId>{41BFFEBE-6EB5-4321-960D-D30A915E7477}</a:tableStyleId>
              </a:tblPr>
              <a:tblGrid>
                <a:gridCol w="310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Terminator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Color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ddATP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8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Green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ddTTP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ddGTP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Black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ddCTP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00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Blue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0" name="Google Shape;190;p18"/>
          <p:cNvSpPr/>
          <p:nvPr/>
        </p:nvSpPr>
        <p:spPr>
          <a:xfrm>
            <a:off x="576262" y="3874591"/>
            <a:ext cx="31008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3677096" y="3874591"/>
            <a:ext cx="21760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576262" y="4493716"/>
            <a:ext cx="31008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3677096" y="4493716"/>
            <a:ext cx="21760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576262" y="5112841"/>
            <a:ext cx="31008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3677096" y="5112841"/>
            <a:ext cx="21760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576262" y="5731966"/>
            <a:ext cx="31008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3677096" y="5731966"/>
            <a:ext cx="21760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571500" y="549771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 dirty="0" err="1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Dideoxynucleotides</a:t>
            </a:r>
            <a:r>
              <a:rPr lang="en-US" sz="3450" b="1" i="0" u="none" strike="noStrike" cap="none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 (</a:t>
            </a:r>
            <a:r>
              <a:rPr lang="en-US" sz="3450" b="1" i="0" u="none" strike="noStrike" cap="none" dirty="0" err="1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ddNTPs</a:t>
            </a:r>
            <a:r>
              <a:rPr lang="en-US" sz="3450" b="1" i="0" u="none" strike="noStrike" cap="none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  <a:endParaRPr dirty="0"/>
          </a:p>
        </p:txBody>
      </p:sp>
      <p:sp>
        <p:nvSpPr>
          <p:cNvPr id="199" name="Google Shape;199;p18"/>
          <p:cNvSpPr/>
          <p:nvPr/>
        </p:nvSpPr>
        <p:spPr>
          <a:xfrm>
            <a:off x="571500" y="1245096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 descr="The chemistry of next-generation sequencing | Nature Biotechnology">
            <a:extLst>
              <a:ext uri="{FF2B5EF4-FFF2-40B4-BE49-F238E27FC236}">
                <a16:creationId xmlns:a16="http://schemas.microsoft.com/office/drawing/2014/main" id="{6E541EAF-BBDC-9531-5B28-E7E847D7CA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13892"/>
            <a:ext cx="5657829" cy="4182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002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571500" y="3043535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raw data file (.ab1) contains the fluorescence signal trace.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638175" y="3829109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762000" y="3828157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X-axis: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Time / Position.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638175" y="4278570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762000" y="4277617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Y-axis: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Fluorescence Intensity.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638175" y="4728031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762000" y="4727078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Peaks: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Represents a base call.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What is a Chromatogram?</a:t>
            </a:r>
            <a:endParaRPr dirty="0"/>
          </a:p>
        </p:txBody>
      </p:sp>
      <p:sp>
        <p:nvSpPr>
          <p:cNvPr id="216" name="Google Shape;216;p19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4" name="Picture 2" descr="Tutorial] How to identify bacteria using a single Sanger sequence –  EzBioCloud Help center">
            <a:extLst>
              <a:ext uri="{FF2B5EF4-FFF2-40B4-BE49-F238E27FC236}">
                <a16:creationId xmlns:a16="http://schemas.microsoft.com/office/drawing/2014/main" id="{5E9B87B0-FFA4-FABF-46D8-8821DE361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950" y="1882527"/>
            <a:ext cx="4445000" cy="444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58653"/>
            <a:ext cx="5286375" cy="2893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558653"/>
            <a:ext cx="5286375" cy="2893218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0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866775" y="2853928"/>
            <a:ext cx="493061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4F46E5"/>
                </a:solidFill>
                <a:latin typeface="Merriweather"/>
                <a:ea typeface="Merriweather"/>
                <a:cs typeface="Merriweather"/>
                <a:sym typeface="Merriweather"/>
              </a:rPr>
              <a:t>Good Trace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6629400" y="2853928"/>
            <a:ext cx="493061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4F46E5"/>
                </a:solidFill>
                <a:latin typeface="Merriweather"/>
                <a:ea typeface="Merriweather"/>
                <a:cs typeface="Merriweather"/>
                <a:sym typeface="Merriweather"/>
              </a:rPr>
              <a:t>Bad Trace</a:t>
            </a:r>
            <a:endParaRPr/>
          </a:p>
        </p:txBody>
      </p:sp>
      <p:pic>
        <p:nvPicPr>
          <p:cNvPr id="227" name="Google Shape;22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2892028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 txBox="1"/>
          <p:nvPr/>
        </p:nvSpPr>
        <p:spPr>
          <a:xfrm>
            <a:off x="933450" y="3359705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1057275" y="3358753"/>
            <a:ext cx="4505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Sharp, defined peaks.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933450" y="3809166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1057275" y="3808214"/>
            <a:ext cx="4505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Even spacing.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933450" y="4258627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1057275" y="4257675"/>
            <a:ext cx="4505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Low background noise.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933450" y="4708088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1057275" y="4707135"/>
            <a:ext cx="4505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High signal intensity.</a:t>
            </a:r>
            <a:endParaRPr/>
          </a:p>
        </p:txBody>
      </p:sp>
      <p:pic>
        <p:nvPicPr>
          <p:cNvPr id="236" name="Google Shape;236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29400" y="2892028"/>
            <a:ext cx="2190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0"/>
          <p:cNvSpPr txBox="1"/>
          <p:nvPr/>
        </p:nvSpPr>
        <p:spPr>
          <a:xfrm>
            <a:off x="6696075" y="3359705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6819900" y="3358753"/>
            <a:ext cx="4505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Overlapping "mushy" peaks.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6696075" y="3809166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6819900" y="3808214"/>
            <a:ext cx="4505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Variable spacing.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6696075" y="4258627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6819900" y="4257675"/>
            <a:ext cx="4505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High background baseline.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6696075" y="4708088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6819900" y="4707135"/>
            <a:ext cx="4505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Mixed signals (two peaks at once).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Reading a Chromatogram</a:t>
            </a:r>
            <a:endParaRPr/>
          </a:p>
        </p:txBody>
      </p:sp>
      <p:sp>
        <p:nvSpPr>
          <p:cNvPr id="246" name="Google Shape;246;p20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3" name="Google Shape;253;p21"/>
          <p:cNvGraphicFramePr/>
          <p:nvPr/>
        </p:nvGraphicFramePr>
        <p:xfrm>
          <a:off x="571500" y="2857500"/>
          <a:ext cx="11039475" cy="2486000"/>
        </p:xfrm>
        <a:graphic>
          <a:graphicData uri="http://schemas.openxmlformats.org/drawingml/2006/table">
            <a:tbl>
              <a:tblPr firstRow="1" bandRow="1">
                <a:noFill/>
                <a:tableStyleId>{41BFFEBE-6EB5-4321-960D-D30A915E7477}</a:tableStyleId>
              </a:tblPr>
              <a:tblGrid>
                <a:gridCol w="218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5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91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Issue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Cause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Dye Blobs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Start (5')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Unincorporated dye terminators not removed.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Signal Decay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End (3')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Depletion of reagents; long fragments difficult to resolve.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Mixed Peaks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Variable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Heterozygous mutation or sample contamination.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4" name="Google Shape;254;p21"/>
          <p:cNvSpPr/>
          <p:nvPr/>
        </p:nvSpPr>
        <p:spPr>
          <a:xfrm>
            <a:off x="576262" y="3471862"/>
            <a:ext cx="21822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2758529" y="3471862"/>
            <a:ext cx="16652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4423767" y="3471862"/>
            <a:ext cx="71919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576262" y="4090987"/>
            <a:ext cx="21822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2758529" y="4090987"/>
            <a:ext cx="16652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4423767" y="4090987"/>
            <a:ext cx="71919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576262" y="4710112"/>
            <a:ext cx="21822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2758529" y="4710112"/>
            <a:ext cx="16652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4423767" y="4710112"/>
            <a:ext cx="71919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Common Chromatogram Issues</a:t>
            </a:r>
            <a:endParaRPr/>
          </a:p>
        </p:txBody>
      </p:sp>
      <p:sp>
        <p:nvSpPr>
          <p:cNvPr id="264" name="Google Shape;264;p21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81300" y="3616225"/>
            <a:ext cx="6629400" cy="796974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 txBox="1"/>
          <p:nvPr/>
        </p:nvSpPr>
        <p:spPr>
          <a:xfrm>
            <a:off x="3629024" y="3166764"/>
            <a:ext cx="606361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standardized metric to quantify base call confidence.</a:t>
            </a:r>
            <a:endParaRPr dirty="0"/>
          </a:p>
        </p:txBody>
      </p:sp>
      <p:sp>
        <p:nvSpPr>
          <p:cNvPr id="273" name="Google Shape;273;p22"/>
          <p:cNvSpPr txBox="1"/>
          <p:nvPr/>
        </p:nvSpPr>
        <p:spPr>
          <a:xfrm>
            <a:off x="3690937" y="4603700"/>
            <a:ext cx="5414963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Developed by Phil Green (University of Washington).</a:t>
            </a:r>
            <a:endParaRPr dirty="0"/>
          </a:p>
        </p:txBody>
      </p:sp>
      <p:pic>
        <p:nvPicPr>
          <p:cNvPr id="274" name="Google Shape;27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86100" y="3921025"/>
            <a:ext cx="6019800" cy="187374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2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Phred Quality Scores</a:t>
            </a:r>
            <a:endParaRPr/>
          </a:p>
        </p:txBody>
      </p:sp>
      <p:sp>
        <p:nvSpPr>
          <p:cNvPr id="276" name="Google Shape;276;p22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3" name="Google Shape;283;p23"/>
          <p:cNvGraphicFramePr/>
          <p:nvPr/>
        </p:nvGraphicFramePr>
        <p:xfrm>
          <a:off x="571500" y="2227957"/>
          <a:ext cx="11039500" cy="3105125"/>
        </p:xfrm>
        <a:graphic>
          <a:graphicData uri="http://schemas.openxmlformats.org/drawingml/2006/table">
            <a:tbl>
              <a:tblPr firstRow="1" bandRow="1">
                <a:noFill/>
                <a:tableStyleId>{41BFFEBE-6EB5-4321-960D-D30A915E7477}</a:tableStyleId>
              </a:tblPr>
              <a:tblGrid>
                <a:gridCol w="294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5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 Score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Error Probability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Accuracy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 in 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Q20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 in 100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99%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Q30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 in 1,000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99.9%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Q40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 in 10,000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99.99%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4" name="Google Shape;284;p23"/>
          <p:cNvSpPr txBox="1"/>
          <p:nvPr/>
        </p:nvSpPr>
        <p:spPr>
          <a:xfrm>
            <a:off x="3595687" y="5523607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Rule of Thumb: Q20 is the minimum for reliable data.</a:t>
            </a:r>
            <a:endParaRPr/>
          </a:p>
        </p:txBody>
      </p:sp>
      <p:sp>
        <p:nvSpPr>
          <p:cNvPr id="285" name="Google Shape;285;p23"/>
          <p:cNvSpPr/>
          <p:nvPr/>
        </p:nvSpPr>
        <p:spPr>
          <a:xfrm>
            <a:off x="576262" y="2842319"/>
            <a:ext cx="29445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3"/>
          <p:cNvSpPr/>
          <p:nvPr/>
        </p:nvSpPr>
        <p:spPr>
          <a:xfrm>
            <a:off x="3520826" y="2842319"/>
            <a:ext cx="48297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3"/>
          <p:cNvSpPr/>
          <p:nvPr/>
        </p:nvSpPr>
        <p:spPr>
          <a:xfrm>
            <a:off x="8350597" y="2842319"/>
            <a:ext cx="326514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3"/>
          <p:cNvSpPr/>
          <p:nvPr/>
        </p:nvSpPr>
        <p:spPr>
          <a:xfrm>
            <a:off x="576262" y="3461444"/>
            <a:ext cx="29445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3"/>
          <p:cNvSpPr/>
          <p:nvPr/>
        </p:nvSpPr>
        <p:spPr>
          <a:xfrm>
            <a:off x="3520826" y="3461444"/>
            <a:ext cx="48297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3"/>
          <p:cNvSpPr/>
          <p:nvPr/>
        </p:nvSpPr>
        <p:spPr>
          <a:xfrm>
            <a:off x="8350597" y="3461444"/>
            <a:ext cx="326514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3"/>
          <p:cNvSpPr/>
          <p:nvPr/>
        </p:nvSpPr>
        <p:spPr>
          <a:xfrm>
            <a:off x="576262" y="4080569"/>
            <a:ext cx="29445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3"/>
          <p:cNvSpPr/>
          <p:nvPr/>
        </p:nvSpPr>
        <p:spPr>
          <a:xfrm>
            <a:off x="3520826" y="4080569"/>
            <a:ext cx="48297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3"/>
          <p:cNvSpPr/>
          <p:nvPr/>
        </p:nvSpPr>
        <p:spPr>
          <a:xfrm>
            <a:off x="8350597" y="4080569"/>
            <a:ext cx="326514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3"/>
          <p:cNvSpPr/>
          <p:nvPr/>
        </p:nvSpPr>
        <p:spPr>
          <a:xfrm>
            <a:off x="576262" y="4699694"/>
            <a:ext cx="29445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3"/>
          <p:cNvSpPr/>
          <p:nvPr/>
        </p:nvSpPr>
        <p:spPr>
          <a:xfrm>
            <a:off x="3520826" y="4699694"/>
            <a:ext cx="48297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3"/>
          <p:cNvSpPr/>
          <p:nvPr/>
        </p:nvSpPr>
        <p:spPr>
          <a:xfrm>
            <a:off x="8350597" y="4699694"/>
            <a:ext cx="326514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3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Interpreting Phred Scores</a:t>
            </a:r>
            <a:endParaRPr/>
          </a:p>
        </p:txBody>
      </p:sp>
      <p:sp>
        <p:nvSpPr>
          <p:cNvPr id="298" name="Google Shape;298;p23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002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4"/>
          <p:cNvSpPr txBox="1"/>
          <p:nvPr/>
        </p:nvSpPr>
        <p:spPr>
          <a:xfrm>
            <a:off x="571500" y="2485429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4F46E5"/>
                </a:solidFill>
                <a:latin typeface="Merriweather"/>
                <a:ea typeface="Merriweather"/>
                <a:cs typeface="Merriweather"/>
                <a:sym typeface="Merriweather"/>
              </a:rPr>
              <a:t>The "Frown" Shape</a:t>
            </a:r>
            <a:endParaRPr/>
          </a:p>
        </p:txBody>
      </p:sp>
      <p:sp>
        <p:nvSpPr>
          <p:cNvPr id="307" name="Google Shape;307;p24"/>
          <p:cNvSpPr txBox="1"/>
          <p:nvPr/>
        </p:nvSpPr>
        <p:spPr>
          <a:xfrm>
            <a:off x="571500" y="3056929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Sanger reads typically show:</a:t>
            </a:r>
            <a:endParaRPr/>
          </a:p>
        </p:txBody>
      </p:sp>
      <p:sp>
        <p:nvSpPr>
          <p:cNvPr id="309" name="Google Shape;309;p24"/>
          <p:cNvSpPr txBox="1"/>
          <p:nvPr/>
        </p:nvSpPr>
        <p:spPr>
          <a:xfrm>
            <a:off x="638175" y="3507343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0" name="Google Shape;310;p24"/>
          <p:cNvSpPr txBox="1"/>
          <p:nvPr/>
        </p:nvSpPr>
        <p:spPr>
          <a:xfrm>
            <a:off x="762000" y="3506390"/>
            <a:ext cx="5095875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Start (5'):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Lower quality due to primer effects and dye blobs.</a:t>
            </a:r>
            <a:endParaRPr dirty="0"/>
          </a:p>
        </p:txBody>
      </p:sp>
      <p:sp>
        <p:nvSpPr>
          <p:cNvPr id="311" name="Google Shape;311;p24"/>
          <p:cNvSpPr txBox="1"/>
          <p:nvPr/>
        </p:nvSpPr>
        <p:spPr>
          <a:xfrm>
            <a:off x="638175" y="4291965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2" name="Google Shape;312;p24"/>
          <p:cNvSpPr txBox="1"/>
          <p:nvPr/>
        </p:nvSpPr>
        <p:spPr>
          <a:xfrm>
            <a:off x="762000" y="4291012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Middle: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High quality, reliable sequence.</a:t>
            </a:r>
            <a:endParaRPr/>
          </a:p>
        </p:txBody>
      </p:sp>
      <p:sp>
        <p:nvSpPr>
          <p:cNvPr id="313" name="Google Shape;313;p24"/>
          <p:cNvSpPr txBox="1"/>
          <p:nvPr/>
        </p:nvSpPr>
        <p:spPr>
          <a:xfrm>
            <a:off x="638175" y="4741425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4" name="Google Shape;314;p24"/>
          <p:cNvSpPr txBox="1"/>
          <p:nvPr/>
        </p:nvSpPr>
        <p:spPr>
          <a:xfrm>
            <a:off x="762000" y="4740473"/>
            <a:ext cx="5095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End (3'):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Declining quality as signal weakens and resolution drops.</a:t>
            </a:r>
            <a:endParaRPr/>
          </a:p>
        </p:txBody>
      </p:sp>
      <p:sp>
        <p:nvSpPr>
          <p:cNvPr id="315" name="Google Shape;315;p24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Typical Quality Profile</a:t>
            </a:r>
            <a:endParaRPr/>
          </a:p>
        </p:txBody>
      </p:sp>
      <p:sp>
        <p:nvSpPr>
          <p:cNvPr id="316" name="Google Shape;316;p24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98" name="Picture 2" descr="Advanced User Guide - SangerAlignment (AB1) — sangeranalyseR documentation">
            <a:extLst>
              <a:ext uri="{FF2B5EF4-FFF2-40B4-BE49-F238E27FC236}">
                <a16:creationId xmlns:a16="http://schemas.microsoft.com/office/drawing/2014/main" id="{8C83E3C9-7E0C-B32C-CF85-7CFE34A77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3841" y="2296780"/>
            <a:ext cx="6127545" cy="3305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26D14-E066-A943-6247-B0F1C3DAEA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604337-1D3D-C721-8E03-53685667F1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D0AD0C-0D40-FFEE-0B8F-CC75F7B13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960" y="0"/>
            <a:ext cx="75400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125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07158"/>
            <a:ext cx="3492549" cy="2996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507158"/>
            <a:ext cx="3492549" cy="2996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507158"/>
            <a:ext cx="3492549" cy="2996207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5"/>
          <p:cNvSpPr txBox="1"/>
          <p:nvPr/>
        </p:nvSpPr>
        <p:spPr>
          <a:xfrm>
            <a:off x="794225" y="3516808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4F46E5"/>
                </a:solidFill>
                <a:latin typeface="Merriweather"/>
                <a:ea typeface="Merriweather"/>
                <a:cs typeface="Merriweather"/>
                <a:sym typeface="Merriweather"/>
              </a:rPr>
              <a:t>Errors</a:t>
            </a:r>
            <a:endParaRPr/>
          </a:p>
        </p:txBody>
      </p:sp>
      <p:sp>
        <p:nvSpPr>
          <p:cNvPr id="327" name="Google Shape;327;p25"/>
          <p:cNvSpPr txBox="1"/>
          <p:nvPr/>
        </p:nvSpPr>
        <p:spPr>
          <a:xfrm>
            <a:off x="866775" y="4088308"/>
            <a:ext cx="2901999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Low-quality bases lead to false mutation calls.</a:t>
            </a:r>
            <a:endParaRPr/>
          </a:p>
        </p:txBody>
      </p:sp>
      <p:sp>
        <p:nvSpPr>
          <p:cNvPr id="328" name="Google Shape;328;p25"/>
          <p:cNvSpPr txBox="1"/>
          <p:nvPr/>
        </p:nvSpPr>
        <p:spPr>
          <a:xfrm>
            <a:off x="4572524" y="3516808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4F46E5"/>
                </a:solidFill>
                <a:latin typeface="Merriweather"/>
                <a:ea typeface="Merriweather"/>
                <a:cs typeface="Merriweather"/>
                <a:sym typeface="Merriweather"/>
              </a:rPr>
              <a:t>Alignment</a:t>
            </a:r>
            <a:endParaRPr/>
          </a:p>
        </p:txBody>
      </p:sp>
      <p:sp>
        <p:nvSpPr>
          <p:cNvPr id="329" name="Google Shape;329;p25"/>
          <p:cNvSpPr txBox="1"/>
          <p:nvPr/>
        </p:nvSpPr>
        <p:spPr>
          <a:xfrm>
            <a:off x="4645074" y="4088308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Noisy ends prevent accurate alignment to reference genomes.</a:t>
            </a:r>
            <a:endParaRPr/>
          </a:p>
        </p:txBody>
      </p:sp>
      <p:sp>
        <p:nvSpPr>
          <p:cNvPr id="330" name="Google Shape;330;p25"/>
          <p:cNvSpPr txBox="1"/>
          <p:nvPr/>
        </p:nvSpPr>
        <p:spPr>
          <a:xfrm>
            <a:off x="8350824" y="3516808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4F46E5"/>
                </a:solidFill>
                <a:latin typeface="Merriweather"/>
                <a:ea typeface="Merriweather"/>
                <a:cs typeface="Merriweather"/>
                <a:sym typeface="Merriweather"/>
              </a:rPr>
              <a:t>Solution</a:t>
            </a:r>
            <a:endParaRPr/>
          </a:p>
        </p:txBody>
      </p:sp>
      <p:sp>
        <p:nvSpPr>
          <p:cNvPr id="331" name="Google Shape;331;p25"/>
          <p:cNvSpPr txBox="1"/>
          <p:nvPr/>
        </p:nvSpPr>
        <p:spPr>
          <a:xfrm>
            <a:off x="8423374" y="4088308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Trim the unreliable ends to keep only the high-quality middle.</a:t>
            </a:r>
            <a:endParaRPr/>
          </a:p>
        </p:txBody>
      </p:sp>
      <p:pic>
        <p:nvPicPr>
          <p:cNvPr id="332" name="Google Shape;332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89100" y="282148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95975" y="2821483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45699" y="2821483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5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Why Quality Trimming?</a:t>
            </a:r>
            <a:endParaRPr/>
          </a:p>
        </p:txBody>
      </p:sp>
      <p:sp>
        <p:nvSpPr>
          <p:cNvPr id="336" name="Google Shape;336;p25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657E2-B3B6-BE47-01E3-DACC5742D6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BE4590-30B2-BA5A-9F71-560DCC726B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AE74E0-EAFC-6FD2-8F7E-C997C3990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546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C0353-4C23-A608-392A-A16AF2DC2C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8D029-3FAE-967E-7CF8-CFA09BD49A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BBBD89-874C-33FD-6EF6-8A8B3F297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62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122AC-CED9-FC65-1CA6-51680A8588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BB1A1E-3D10-64DE-8D87-AC04E5B3E8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068C67-29C4-FD43-7630-4801B76E1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642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2179290"/>
            <a:ext cx="10572750" cy="255642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6"/>
          <p:cNvSpPr txBox="1"/>
          <p:nvPr/>
        </p:nvSpPr>
        <p:spPr>
          <a:xfrm>
            <a:off x="1165383" y="2769840"/>
            <a:ext cx="9861232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Part 2: The sangeranalyseR Package</a:t>
            </a:r>
            <a:endParaRPr/>
          </a:p>
        </p:txBody>
      </p:sp>
      <p:sp>
        <p:nvSpPr>
          <p:cNvPr id="345" name="Google Shape;345;p26"/>
          <p:cNvSpPr txBox="1"/>
          <p:nvPr/>
        </p:nvSpPr>
        <p:spPr>
          <a:xfrm>
            <a:off x="1400175" y="3665190"/>
            <a:ext cx="93916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Automated Analysis in R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7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7"/>
          <p:cNvSpPr txBox="1"/>
          <p:nvPr/>
        </p:nvSpPr>
        <p:spPr>
          <a:xfrm>
            <a:off x="571500" y="2629197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 dirty="0">
                <a:solidFill>
                  <a:srgbClr val="4F46E5"/>
                </a:solidFill>
                <a:latin typeface="Merriweather"/>
                <a:ea typeface="Merriweather"/>
                <a:cs typeface="Merriweather"/>
                <a:sym typeface="Merriweather"/>
              </a:rPr>
              <a:t>Features</a:t>
            </a:r>
            <a:endParaRPr dirty="0"/>
          </a:p>
        </p:txBody>
      </p:sp>
      <p:pic>
        <p:nvPicPr>
          <p:cNvPr id="353" name="Google Shape;353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01062" y="3304282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7"/>
          <p:cNvSpPr txBox="1"/>
          <p:nvPr/>
        </p:nvSpPr>
        <p:spPr>
          <a:xfrm>
            <a:off x="-92765" y="6452151"/>
            <a:ext cx="8103704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0000"/>
              </a:lnSpc>
            </a:pPr>
            <a:r>
              <a:rPr lang="en-US" sz="1650" b="1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</a:t>
            </a:r>
            <a:r>
              <a:rPr lang="en-US" sz="1650" b="1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sangeranalyser.readthedocs.io</a:t>
            </a:r>
            <a:r>
              <a:rPr lang="en-US" sz="1650" b="1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/</a:t>
            </a:r>
            <a:r>
              <a:rPr lang="en-US" sz="1650" b="1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650" b="1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/latest/content/</a:t>
            </a:r>
            <a:r>
              <a:rPr lang="en-US" sz="1650" b="1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quickstart.html</a:t>
            </a:r>
            <a:endParaRPr dirty="0"/>
          </a:p>
        </p:txBody>
      </p:sp>
      <p:sp>
        <p:nvSpPr>
          <p:cNvPr id="355" name="Google Shape;355;p27"/>
          <p:cNvSpPr txBox="1"/>
          <p:nvPr/>
        </p:nvSpPr>
        <p:spPr>
          <a:xfrm>
            <a:off x="638175" y="3134975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56" name="Google Shape;356;p27"/>
          <p:cNvSpPr txBox="1"/>
          <p:nvPr/>
        </p:nvSpPr>
        <p:spPr>
          <a:xfrm>
            <a:off x="762000" y="3134022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Bioconductor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package.</a:t>
            </a:r>
            <a:endParaRPr dirty="0"/>
          </a:p>
        </p:txBody>
      </p:sp>
      <p:sp>
        <p:nvSpPr>
          <p:cNvPr id="357" name="Google Shape;357;p27"/>
          <p:cNvSpPr txBox="1"/>
          <p:nvPr/>
        </p:nvSpPr>
        <p:spPr>
          <a:xfrm>
            <a:off x="638175" y="3584436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58" name="Google Shape;358;p27"/>
          <p:cNvSpPr txBox="1"/>
          <p:nvPr/>
        </p:nvSpPr>
        <p:spPr>
          <a:xfrm>
            <a:off x="762000" y="3583483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Reads .ab1 files directly.</a:t>
            </a:r>
            <a:endParaRPr/>
          </a:p>
        </p:txBody>
      </p:sp>
      <p:sp>
        <p:nvSpPr>
          <p:cNvPr id="359" name="Google Shape;359;p27"/>
          <p:cNvSpPr txBox="1"/>
          <p:nvPr/>
        </p:nvSpPr>
        <p:spPr>
          <a:xfrm>
            <a:off x="638175" y="4033897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60" name="Google Shape;360;p27"/>
          <p:cNvSpPr txBox="1"/>
          <p:nvPr/>
        </p:nvSpPr>
        <p:spPr>
          <a:xfrm>
            <a:off x="762000" y="4032944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Visualizes chromatograms and quality.</a:t>
            </a:r>
            <a:endParaRPr dirty="0"/>
          </a:p>
        </p:txBody>
      </p:sp>
      <p:sp>
        <p:nvSpPr>
          <p:cNvPr id="361" name="Google Shape;361;p27"/>
          <p:cNvSpPr txBox="1"/>
          <p:nvPr/>
        </p:nvSpPr>
        <p:spPr>
          <a:xfrm>
            <a:off x="638175" y="4483357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62" name="Google Shape;362;p27"/>
          <p:cNvSpPr txBox="1"/>
          <p:nvPr/>
        </p:nvSpPr>
        <p:spPr>
          <a:xfrm>
            <a:off x="762000" y="4482405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Automated trimming (Mott's Algorithm).</a:t>
            </a:r>
            <a:endParaRPr/>
          </a:p>
        </p:txBody>
      </p:sp>
      <p:sp>
        <p:nvSpPr>
          <p:cNvPr id="363" name="Google Shape;363;p27"/>
          <p:cNvSpPr txBox="1"/>
          <p:nvPr/>
        </p:nvSpPr>
        <p:spPr>
          <a:xfrm>
            <a:off x="638175" y="4932818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64" name="Google Shape;364;p27"/>
          <p:cNvSpPr txBox="1"/>
          <p:nvPr/>
        </p:nvSpPr>
        <p:spPr>
          <a:xfrm>
            <a:off x="762000" y="4931866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Contig assembly (Forward + Reverse).</a:t>
            </a:r>
            <a:endParaRPr/>
          </a:p>
        </p:txBody>
      </p:sp>
      <p:sp>
        <p:nvSpPr>
          <p:cNvPr id="365" name="Google Shape;365;p27"/>
          <p:cNvSpPr txBox="1"/>
          <p:nvPr/>
        </p:nvSpPr>
        <p:spPr>
          <a:xfrm>
            <a:off x="571500" y="628650"/>
            <a:ext cx="4663109" cy="53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 dirty="0" err="1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sangeranalyseR</a:t>
            </a:r>
            <a:endParaRPr dirty="0"/>
          </a:p>
        </p:txBody>
      </p:sp>
      <p:sp>
        <p:nvSpPr>
          <p:cNvPr id="366" name="Google Shape;366;p27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D9D962-4740-EA30-BCD5-38A1EE1767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4609" y="30647"/>
            <a:ext cx="6588451" cy="649130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8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8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Loading an AB1 File</a:t>
            </a:r>
            <a:endParaRPr/>
          </a:p>
        </p:txBody>
      </p:sp>
      <p:sp>
        <p:nvSpPr>
          <p:cNvPr id="374" name="Google Shape;374;p28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8"/>
          <p:cNvSpPr txBox="1"/>
          <p:nvPr/>
        </p:nvSpPr>
        <p:spPr>
          <a:xfrm>
            <a:off x="571500" y="3697487"/>
            <a:ext cx="11049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library(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sangeranalyseR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# Create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SangerRead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object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my_read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&lt;-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SangerRead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readFileName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"sample_1.ab1",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readFeature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"Forward Read" ) # View summary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my_read</a:t>
            </a:r>
            <a:endParaRPr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Google Shape;380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9"/>
          <p:cNvSpPr txBox="1"/>
          <p:nvPr/>
        </p:nvSpPr>
        <p:spPr>
          <a:xfrm>
            <a:off x="6334125" y="3717726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These functions generate interactive plots to inspect signal strength and base call confidence.</a:t>
            </a:r>
            <a:endParaRPr/>
          </a:p>
        </p:txBody>
      </p:sp>
      <p:sp>
        <p:nvSpPr>
          <p:cNvPr id="383" name="Google Shape;383;p29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Visualizing Quality</a:t>
            </a:r>
            <a:endParaRPr/>
          </a:p>
        </p:txBody>
      </p:sp>
      <p:sp>
        <p:nvSpPr>
          <p:cNvPr id="384" name="Google Shape;384;p29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30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0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Extracting Sequences</a:t>
            </a:r>
            <a:endParaRPr/>
          </a:p>
        </p:txBody>
      </p:sp>
      <p:sp>
        <p:nvSpPr>
          <p:cNvPr id="392" name="Google Shape;392;p30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0"/>
          <p:cNvSpPr txBox="1"/>
          <p:nvPr/>
        </p:nvSpPr>
        <p:spPr>
          <a:xfrm>
            <a:off x="571500" y="3728264"/>
            <a:ext cx="11049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 Get raw sequence (Untrimmed)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primarySeq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my_read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trim = FALSE) # Get trimmed sequence (Clean)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primarySeq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my_read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trim = TRUE) # Get quality scores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rawSeqQuality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my_read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62497"/>
            <a:ext cx="5286375" cy="3285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362497"/>
            <a:ext cx="5286375" cy="328552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1"/>
          <p:cNvSpPr txBox="1"/>
          <p:nvPr/>
        </p:nvSpPr>
        <p:spPr>
          <a:xfrm>
            <a:off x="866775" y="2657772"/>
            <a:ext cx="493061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4F46E5"/>
                </a:solidFill>
                <a:latin typeface="Merriweather"/>
                <a:ea typeface="Merriweather"/>
                <a:cs typeface="Merriweather"/>
                <a:sym typeface="Merriweather"/>
              </a:rPr>
              <a:t>The Logic</a:t>
            </a:r>
            <a:endParaRPr/>
          </a:p>
        </p:txBody>
      </p:sp>
      <p:sp>
        <p:nvSpPr>
          <p:cNvPr id="403" name="Google Shape;403;p31"/>
          <p:cNvSpPr txBox="1"/>
          <p:nvPr/>
        </p:nvSpPr>
        <p:spPr>
          <a:xfrm>
            <a:off x="6629400" y="2657772"/>
            <a:ext cx="493061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4F46E5"/>
                </a:solidFill>
                <a:latin typeface="Merriweather"/>
                <a:ea typeface="Merriweather"/>
                <a:cs typeface="Merriweather"/>
                <a:sym typeface="Merriweather"/>
              </a:rPr>
              <a:t>The Result</a:t>
            </a:r>
            <a:endParaRPr/>
          </a:p>
        </p:txBody>
      </p:sp>
      <p:sp>
        <p:nvSpPr>
          <p:cNvPr id="404" name="Google Shape;404;p31"/>
          <p:cNvSpPr txBox="1"/>
          <p:nvPr/>
        </p:nvSpPr>
        <p:spPr>
          <a:xfrm>
            <a:off x="6629400" y="3229272"/>
            <a:ext cx="469582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This dynamic method trims poor quality regions from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both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ends while preserving the high-quality core.</a:t>
            </a:r>
            <a:endParaRPr/>
          </a:p>
        </p:txBody>
      </p:sp>
      <p:sp>
        <p:nvSpPr>
          <p:cNvPr id="405" name="Google Shape;405;p31"/>
          <p:cNvSpPr txBox="1"/>
          <p:nvPr/>
        </p:nvSpPr>
        <p:spPr>
          <a:xfrm>
            <a:off x="1076325" y="3173075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406" name="Google Shape;406;p31"/>
          <p:cNvSpPr txBox="1"/>
          <p:nvPr/>
        </p:nvSpPr>
        <p:spPr>
          <a:xfrm>
            <a:off x="1247775" y="3172122"/>
            <a:ext cx="4314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Set an error probability limit (e.g., 0.05).</a:t>
            </a:r>
            <a:endParaRPr/>
          </a:p>
        </p:txBody>
      </p:sp>
      <p:sp>
        <p:nvSpPr>
          <p:cNvPr id="407" name="Google Shape;407;p31"/>
          <p:cNvSpPr txBox="1"/>
          <p:nvPr/>
        </p:nvSpPr>
        <p:spPr>
          <a:xfrm>
            <a:off x="1076325" y="3622536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408" name="Google Shape;408;p31"/>
          <p:cNvSpPr txBox="1"/>
          <p:nvPr/>
        </p:nvSpPr>
        <p:spPr>
          <a:xfrm>
            <a:off x="1247775" y="3621583"/>
            <a:ext cx="4314825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Calculate score: Limit - P_error.</a:t>
            </a:r>
            <a:endParaRPr/>
          </a:p>
        </p:txBody>
      </p:sp>
      <p:sp>
        <p:nvSpPr>
          <p:cNvPr id="409" name="Google Shape;409;p31"/>
          <p:cNvSpPr txBox="1"/>
          <p:nvPr/>
        </p:nvSpPr>
        <p:spPr>
          <a:xfrm>
            <a:off x="1076325" y="4081522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410" name="Google Shape;410;p31"/>
          <p:cNvSpPr txBox="1"/>
          <p:nvPr/>
        </p:nvSpPr>
        <p:spPr>
          <a:xfrm>
            <a:off x="1247775" y="4080569"/>
            <a:ext cx="4314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Calculate cumulative sum across sequence.</a:t>
            </a:r>
            <a:endParaRPr/>
          </a:p>
        </p:txBody>
      </p:sp>
      <p:sp>
        <p:nvSpPr>
          <p:cNvPr id="411" name="Google Shape;411;p31"/>
          <p:cNvSpPr txBox="1"/>
          <p:nvPr/>
        </p:nvSpPr>
        <p:spPr>
          <a:xfrm>
            <a:off x="1076325" y="4530982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4.</a:t>
            </a:r>
            <a:endParaRPr/>
          </a:p>
        </p:txBody>
      </p:sp>
      <p:sp>
        <p:nvSpPr>
          <p:cNvPr id="412" name="Google Shape;412;p31"/>
          <p:cNvSpPr txBox="1"/>
          <p:nvPr/>
        </p:nvSpPr>
        <p:spPr>
          <a:xfrm>
            <a:off x="1247775" y="4530030"/>
            <a:ext cx="43148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Identify the substring with the maximum cumulative score.</a:t>
            </a:r>
            <a:endParaRPr/>
          </a:p>
        </p:txBody>
      </p:sp>
      <p:sp>
        <p:nvSpPr>
          <p:cNvPr id="413" name="Google Shape;413;p31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Mott's Trimming Algorithm</a:t>
            </a:r>
            <a:endParaRPr/>
          </a:p>
        </p:txBody>
      </p:sp>
      <p:sp>
        <p:nvSpPr>
          <p:cNvPr id="414" name="Google Shape;414;p31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2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Trimming Parameters</a:t>
            </a:r>
            <a:endParaRPr/>
          </a:p>
        </p:txBody>
      </p:sp>
      <p:sp>
        <p:nvSpPr>
          <p:cNvPr id="422" name="Google Shape;422;p32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2"/>
          <p:cNvSpPr txBox="1"/>
          <p:nvPr/>
        </p:nvSpPr>
        <p:spPr>
          <a:xfrm>
            <a:off x="571500" y="3728264"/>
            <a:ext cx="11049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my_read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&lt;-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SangerRead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readFileName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"sample.ab1",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TrimmingMethod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"M1", # Mott's Algorithm M1TrimmingCutoff = 0.0001, # Stringency (Lower = Stricter)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baseNumPerRow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100 # Formatting )</a:t>
            </a:r>
            <a:endParaRPr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3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Quality Statistics</a:t>
            </a:r>
            <a:endParaRPr/>
          </a:p>
        </p:txBody>
      </p:sp>
      <p:sp>
        <p:nvSpPr>
          <p:cNvPr id="431" name="Google Shape;431;p33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3"/>
          <p:cNvSpPr txBox="1"/>
          <p:nvPr/>
        </p:nvSpPr>
        <p:spPr>
          <a:xfrm>
            <a:off x="571500" y="3728264"/>
            <a:ext cx="11049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 Extract quality vector quals &lt;-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rawSeqQuality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my_read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# Calculate metrics mean(quals) # Average quality sum(quals &gt;= 20) # Count of good bases length(quals) # Read length</a:t>
            </a:r>
            <a:endParaRPr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Google Shape;437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4"/>
          <p:cNvSpPr txBox="1"/>
          <p:nvPr/>
        </p:nvSpPr>
        <p:spPr>
          <a:xfrm>
            <a:off x="3076575" y="3199507"/>
            <a:ext cx="680857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Once trimmed, save your clean sequence for downstream analysis.</a:t>
            </a:r>
            <a:endParaRPr dirty="0"/>
          </a:p>
        </p:txBody>
      </p:sp>
      <p:sp>
        <p:nvSpPr>
          <p:cNvPr id="440" name="Google Shape;440;p34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Exporting to FASTA</a:t>
            </a:r>
            <a:endParaRPr/>
          </a:p>
        </p:txBody>
      </p:sp>
      <p:sp>
        <p:nvSpPr>
          <p:cNvPr id="441" name="Google Shape;441;p34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6" name="Google Shape;446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002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3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5"/>
          <p:cNvSpPr txBox="1"/>
          <p:nvPr/>
        </p:nvSpPr>
        <p:spPr>
          <a:xfrm>
            <a:off x="571500" y="3054846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4F46E5"/>
                </a:solidFill>
                <a:latin typeface="Merriweather"/>
                <a:ea typeface="Merriweather"/>
                <a:cs typeface="Merriweather"/>
                <a:sym typeface="Merriweather"/>
              </a:rPr>
              <a:t>Forward + Reverse</a:t>
            </a:r>
            <a:endParaRPr/>
          </a:p>
        </p:txBody>
      </p:sp>
      <p:sp>
        <p:nvSpPr>
          <p:cNvPr id="450" name="Google Shape;450;p35"/>
          <p:cNvSpPr txBox="1"/>
          <p:nvPr/>
        </p:nvSpPr>
        <p:spPr>
          <a:xfrm>
            <a:off x="571500" y="3626346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Sequencing both strands provides confirmation.</a:t>
            </a:r>
            <a:endParaRPr/>
          </a:p>
        </p:txBody>
      </p:sp>
      <p:sp>
        <p:nvSpPr>
          <p:cNvPr id="451" name="Google Shape;451;p35"/>
          <p:cNvSpPr txBox="1"/>
          <p:nvPr/>
        </p:nvSpPr>
        <p:spPr>
          <a:xfrm>
            <a:off x="571500" y="4171057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</a:t>
            </a:r>
            <a:r>
              <a:rPr lang="en-US" sz="16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Contig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is the consensus sequence built by aligning overlapping forward and reverse reads.</a:t>
            </a:r>
            <a:endParaRPr dirty="0"/>
          </a:p>
        </p:txBody>
      </p:sp>
      <p:sp>
        <p:nvSpPr>
          <p:cNvPr id="453" name="Google Shape;453;p35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Building Contigs</a:t>
            </a:r>
            <a:endParaRPr/>
          </a:p>
        </p:txBody>
      </p:sp>
      <p:sp>
        <p:nvSpPr>
          <p:cNvPr id="454" name="Google Shape;454;p35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22" name="Picture 2" descr="9. SANGER Sequence editing">
            <a:extLst>
              <a:ext uri="{FF2B5EF4-FFF2-40B4-BE49-F238E27FC236}">
                <a16:creationId xmlns:a16="http://schemas.microsoft.com/office/drawing/2014/main" id="{A9E555C9-74EB-FA73-F3D7-5CA4978827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167" y="1631304"/>
            <a:ext cx="6505765" cy="5079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3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6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Contig Assembly Code</a:t>
            </a:r>
            <a:endParaRPr/>
          </a:p>
        </p:txBody>
      </p:sp>
      <p:sp>
        <p:nvSpPr>
          <p:cNvPr id="462" name="Google Shape;462;p36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6"/>
          <p:cNvSpPr txBox="1"/>
          <p:nvPr/>
        </p:nvSpPr>
        <p:spPr>
          <a:xfrm>
            <a:off x="571500" y="3697487"/>
            <a:ext cx="11049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 Load reads into a contig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my_contig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&lt;-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SangerContig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parentDirectory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"data/",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FASTA_File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"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reference.fasta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",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contigName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"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Gene_X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 ) # Extract consensus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consensusString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my_contig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8" name="Google Shape;468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37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7"/>
          <p:cNvSpPr txBox="1"/>
          <p:nvPr/>
        </p:nvSpPr>
        <p:spPr>
          <a:xfrm>
            <a:off x="3471862" y="2984301"/>
            <a:ext cx="6384407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Create a comprehensive HTML report for documentation.</a:t>
            </a:r>
            <a:endParaRPr dirty="0"/>
          </a:p>
        </p:txBody>
      </p:sp>
      <p:sp>
        <p:nvSpPr>
          <p:cNvPr id="471" name="Google Shape;471;p37"/>
          <p:cNvSpPr txBox="1"/>
          <p:nvPr/>
        </p:nvSpPr>
        <p:spPr>
          <a:xfrm>
            <a:off x="2690812" y="4786312"/>
            <a:ext cx="798360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Includes: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Chromatogram, trimming points, quality stats, and sequence text.</a:t>
            </a:r>
            <a:endParaRPr dirty="0"/>
          </a:p>
        </p:txBody>
      </p:sp>
      <p:sp>
        <p:nvSpPr>
          <p:cNvPr id="472" name="Google Shape;472;p37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Generating Reports</a:t>
            </a:r>
            <a:endParaRPr/>
          </a:p>
        </p:txBody>
      </p:sp>
      <p:sp>
        <p:nvSpPr>
          <p:cNvPr id="473" name="Google Shape;473;p37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97633"/>
            <a:ext cx="2547937" cy="3015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3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2497633"/>
            <a:ext cx="2547937" cy="3015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3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497633"/>
            <a:ext cx="2547937" cy="3015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3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72562" y="2497633"/>
            <a:ext cx="2547937" cy="3015257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38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8"/>
          <p:cNvSpPr txBox="1"/>
          <p:nvPr/>
        </p:nvSpPr>
        <p:spPr>
          <a:xfrm>
            <a:off x="866775" y="2792908"/>
            <a:ext cx="195738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4F46E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👀</a:t>
            </a:r>
            <a:endParaRPr/>
          </a:p>
        </p:txBody>
      </p:sp>
      <p:sp>
        <p:nvSpPr>
          <p:cNvPr id="485" name="Google Shape;485;p38"/>
          <p:cNvSpPr txBox="1"/>
          <p:nvPr/>
        </p:nvSpPr>
        <p:spPr>
          <a:xfrm>
            <a:off x="817840" y="3526333"/>
            <a:ext cx="205525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4F46E5"/>
                </a:solidFill>
                <a:latin typeface="Merriweather"/>
                <a:ea typeface="Merriweather"/>
                <a:cs typeface="Merriweather"/>
                <a:sym typeface="Merriweather"/>
              </a:rPr>
              <a:t>Visual Check</a:t>
            </a:r>
            <a:endParaRPr/>
          </a:p>
        </p:txBody>
      </p:sp>
      <p:sp>
        <p:nvSpPr>
          <p:cNvPr id="486" name="Google Shape;486;p38"/>
          <p:cNvSpPr txBox="1"/>
          <p:nvPr/>
        </p:nvSpPr>
        <p:spPr>
          <a:xfrm>
            <a:off x="866775" y="4097833"/>
            <a:ext cx="1957387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Always inspect the chromatogram manually.</a:t>
            </a:r>
            <a:endParaRPr/>
          </a:p>
        </p:txBody>
      </p:sp>
      <p:sp>
        <p:nvSpPr>
          <p:cNvPr id="487" name="Google Shape;487;p38"/>
          <p:cNvSpPr txBox="1"/>
          <p:nvPr/>
        </p:nvSpPr>
        <p:spPr>
          <a:xfrm>
            <a:off x="3700462" y="2792908"/>
            <a:ext cx="195738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4F46E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🛑</a:t>
            </a:r>
            <a:endParaRPr/>
          </a:p>
        </p:txBody>
      </p:sp>
      <p:sp>
        <p:nvSpPr>
          <p:cNvPr id="488" name="Google Shape;488;p38"/>
          <p:cNvSpPr txBox="1"/>
          <p:nvPr/>
        </p:nvSpPr>
        <p:spPr>
          <a:xfrm>
            <a:off x="3651527" y="3526333"/>
            <a:ext cx="205525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4F46E5"/>
                </a:solidFill>
                <a:latin typeface="Merriweather"/>
                <a:ea typeface="Merriweather"/>
                <a:cs typeface="Merriweather"/>
                <a:sym typeface="Merriweather"/>
              </a:rPr>
              <a:t>Threshold</a:t>
            </a:r>
            <a:endParaRPr/>
          </a:p>
        </p:txBody>
      </p:sp>
      <p:sp>
        <p:nvSpPr>
          <p:cNvPr id="489" name="Google Shape;489;p38"/>
          <p:cNvSpPr txBox="1"/>
          <p:nvPr/>
        </p:nvSpPr>
        <p:spPr>
          <a:xfrm>
            <a:off x="3700462" y="4097833"/>
            <a:ext cx="1957387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Use Q20 as the minimum for trusted bases.</a:t>
            </a:r>
            <a:endParaRPr/>
          </a:p>
        </p:txBody>
      </p:sp>
      <p:sp>
        <p:nvSpPr>
          <p:cNvPr id="490" name="Google Shape;490;p38"/>
          <p:cNvSpPr txBox="1"/>
          <p:nvPr/>
        </p:nvSpPr>
        <p:spPr>
          <a:xfrm>
            <a:off x="6534150" y="2792908"/>
            <a:ext cx="195738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4F46E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✂️</a:t>
            </a:r>
            <a:endParaRPr/>
          </a:p>
        </p:txBody>
      </p:sp>
      <p:sp>
        <p:nvSpPr>
          <p:cNvPr id="491" name="Google Shape;491;p38"/>
          <p:cNvSpPr txBox="1"/>
          <p:nvPr/>
        </p:nvSpPr>
        <p:spPr>
          <a:xfrm>
            <a:off x="6485215" y="3526333"/>
            <a:ext cx="205525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4F46E5"/>
                </a:solidFill>
                <a:latin typeface="Merriweather"/>
                <a:ea typeface="Merriweather"/>
                <a:cs typeface="Merriweather"/>
                <a:sym typeface="Merriweather"/>
              </a:rPr>
              <a:t>Trim</a:t>
            </a:r>
            <a:endParaRPr/>
          </a:p>
        </p:txBody>
      </p:sp>
      <p:sp>
        <p:nvSpPr>
          <p:cNvPr id="492" name="Google Shape;492;p38"/>
          <p:cNvSpPr txBox="1"/>
          <p:nvPr/>
        </p:nvSpPr>
        <p:spPr>
          <a:xfrm>
            <a:off x="6534150" y="4097833"/>
            <a:ext cx="1957387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Always trim poor quality ends.</a:t>
            </a:r>
            <a:endParaRPr/>
          </a:p>
        </p:txBody>
      </p:sp>
      <p:sp>
        <p:nvSpPr>
          <p:cNvPr id="493" name="Google Shape;493;p38"/>
          <p:cNvSpPr txBox="1"/>
          <p:nvPr/>
        </p:nvSpPr>
        <p:spPr>
          <a:xfrm>
            <a:off x="9367837" y="2792908"/>
            <a:ext cx="195738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4F46E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🔄</a:t>
            </a:r>
            <a:endParaRPr/>
          </a:p>
        </p:txBody>
      </p:sp>
      <p:sp>
        <p:nvSpPr>
          <p:cNvPr id="494" name="Google Shape;494;p38"/>
          <p:cNvSpPr txBox="1"/>
          <p:nvPr/>
        </p:nvSpPr>
        <p:spPr>
          <a:xfrm>
            <a:off x="9318902" y="3526333"/>
            <a:ext cx="205525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4F46E5"/>
                </a:solidFill>
                <a:latin typeface="Merriweather"/>
                <a:ea typeface="Merriweather"/>
                <a:cs typeface="Merriweather"/>
                <a:sym typeface="Merriweather"/>
              </a:rPr>
              <a:t>Bi-directional</a:t>
            </a:r>
            <a:endParaRPr/>
          </a:p>
        </p:txBody>
      </p:sp>
      <p:sp>
        <p:nvSpPr>
          <p:cNvPr id="495" name="Google Shape;495;p38"/>
          <p:cNvSpPr txBox="1"/>
          <p:nvPr/>
        </p:nvSpPr>
        <p:spPr>
          <a:xfrm>
            <a:off x="9367837" y="4097833"/>
            <a:ext cx="1957387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Sequence Fwd &amp; Rev for critical samples.</a:t>
            </a:r>
            <a:endParaRPr/>
          </a:p>
        </p:txBody>
      </p:sp>
      <p:sp>
        <p:nvSpPr>
          <p:cNvPr id="496" name="Google Shape;496;p38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Sanger Analysis Best Practices</a:t>
            </a:r>
            <a:endParaRPr/>
          </a:p>
        </p:txBody>
      </p:sp>
      <p:sp>
        <p:nvSpPr>
          <p:cNvPr id="497" name="Google Shape;497;p38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" name="Google Shape;502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39"/>
          <p:cNvSpPr txBox="1"/>
          <p:nvPr/>
        </p:nvSpPr>
        <p:spPr>
          <a:xfrm>
            <a:off x="3309937" y="2882562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505" name="Google Shape;505;p39"/>
          <p:cNvSpPr txBox="1"/>
          <p:nvPr/>
        </p:nvSpPr>
        <p:spPr>
          <a:xfrm>
            <a:off x="3433762" y="2881610"/>
            <a:ext cx="55149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Sanger Sequencing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is the gold standard for validation.</a:t>
            </a:r>
            <a:endParaRPr/>
          </a:p>
        </p:txBody>
      </p:sp>
      <p:sp>
        <p:nvSpPr>
          <p:cNvPr id="506" name="Google Shape;506;p39"/>
          <p:cNvSpPr txBox="1"/>
          <p:nvPr/>
        </p:nvSpPr>
        <p:spPr>
          <a:xfrm>
            <a:off x="3309937" y="3332023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507" name="Google Shape;507;p39"/>
          <p:cNvSpPr txBox="1"/>
          <p:nvPr/>
        </p:nvSpPr>
        <p:spPr>
          <a:xfrm>
            <a:off x="3433762" y="3331071"/>
            <a:ext cx="55149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Phred Scores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(Q) measure accuracy logarithmically.</a:t>
            </a:r>
            <a:endParaRPr/>
          </a:p>
        </p:txBody>
      </p:sp>
      <p:sp>
        <p:nvSpPr>
          <p:cNvPr id="508" name="Google Shape;508;p39"/>
          <p:cNvSpPr txBox="1"/>
          <p:nvPr/>
        </p:nvSpPr>
        <p:spPr>
          <a:xfrm>
            <a:off x="3309937" y="3781484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509" name="Google Shape;509;p39"/>
          <p:cNvSpPr txBox="1"/>
          <p:nvPr/>
        </p:nvSpPr>
        <p:spPr>
          <a:xfrm>
            <a:off x="3433762" y="3780532"/>
            <a:ext cx="55149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Quality Profile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usually dips at the ends.</a:t>
            </a:r>
            <a:endParaRPr/>
          </a:p>
        </p:txBody>
      </p:sp>
      <p:sp>
        <p:nvSpPr>
          <p:cNvPr id="510" name="Google Shape;510;p39"/>
          <p:cNvSpPr txBox="1"/>
          <p:nvPr/>
        </p:nvSpPr>
        <p:spPr>
          <a:xfrm>
            <a:off x="3309937" y="4230945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511" name="Google Shape;511;p39"/>
          <p:cNvSpPr txBox="1"/>
          <p:nvPr/>
        </p:nvSpPr>
        <p:spPr>
          <a:xfrm>
            <a:off x="3433762" y="4229992"/>
            <a:ext cx="55149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sangeranalyseR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automates loading, trimming, and reporting.</a:t>
            </a:r>
            <a:endParaRPr/>
          </a:p>
        </p:txBody>
      </p:sp>
      <p:sp>
        <p:nvSpPr>
          <p:cNvPr id="512" name="Google Shape;512;p39"/>
          <p:cNvSpPr txBox="1"/>
          <p:nvPr/>
        </p:nvSpPr>
        <p:spPr>
          <a:xfrm>
            <a:off x="3309937" y="4680406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513" name="Google Shape;513;p39"/>
          <p:cNvSpPr txBox="1"/>
          <p:nvPr/>
        </p:nvSpPr>
        <p:spPr>
          <a:xfrm>
            <a:off x="3433762" y="4679453"/>
            <a:ext cx="55149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Contigs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combine Fwd/Rev reads for higher confidence.</a:t>
            </a:r>
            <a:endParaRPr/>
          </a:p>
        </p:txBody>
      </p:sp>
      <p:sp>
        <p:nvSpPr>
          <p:cNvPr id="514" name="Google Shape;514;p39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Key Takeaways</a:t>
            </a:r>
            <a:endParaRPr/>
          </a:p>
        </p:txBody>
      </p:sp>
      <p:sp>
        <p:nvSpPr>
          <p:cNvPr id="515" name="Google Shape;515;p39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" name="Google Shape;520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86225" y="2055465"/>
            <a:ext cx="4019550" cy="280407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40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40"/>
          <p:cNvSpPr txBox="1"/>
          <p:nvPr/>
        </p:nvSpPr>
        <p:spPr>
          <a:xfrm>
            <a:off x="4605813" y="2646015"/>
            <a:ext cx="2980372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Tutorial 10</a:t>
            </a:r>
            <a:endParaRPr/>
          </a:p>
        </p:txBody>
      </p:sp>
      <p:sp>
        <p:nvSpPr>
          <p:cNvPr id="524" name="Google Shape;524;p40"/>
          <p:cNvSpPr txBox="1"/>
          <p:nvPr/>
        </p:nvSpPr>
        <p:spPr>
          <a:xfrm>
            <a:off x="4676775" y="3541365"/>
            <a:ext cx="28384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Processing Sanger Data</a:t>
            </a:r>
            <a:endParaRPr/>
          </a:p>
        </p:txBody>
      </p:sp>
      <p:sp>
        <p:nvSpPr>
          <p:cNvPr id="525" name="Google Shape;525;p40"/>
          <p:cNvSpPr txBox="1"/>
          <p:nvPr/>
        </p:nvSpPr>
        <p:spPr>
          <a:xfrm>
            <a:off x="4676775" y="4097535"/>
            <a:ext cx="28384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 your R environment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0" name="Google Shape;530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4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41"/>
          <p:cNvSpPr txBox="1"/>
          <p:nvPr/>
        </p:nvSpPr>
        <p:spPr>
          <a:xfrm>
            <a:off x="2695575" y="2183159"/>
            <a:ext cx="68008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Tutorial 10: Processing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5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 Sanger Data</a:t>
            </a:r>
            <a:endParaRPr/>
          </a:p>
        </p:txBody>
      </p:sp>
      <p:sp>
        <p:nvSpPr>
          <p:cNvPr id="533" name="Google Shape;533;p41"/>
          <p:cNvSpPr/>
          <p:nvPr/>
        </p:nvSpPr>
        <p:spPr>
          <a:xfrm>
            <a:off x="5619750" y="3897659"/>
            <a:ext cx="95250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41"/>
          <p:cNvSpPr txBox="1"/>
          <p:nvPr/>
        </p:nvSpPr>
        <p:spPr>
          <a:xfrm>
            <a:off x="2857500" y="4221509"/>
            <a:ext cx="647700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64748B"/>
                </a:solidFill>
                <a:latin typeface="Lato Light"/>
                <a:ea typeface="Lato Light"/>
                <a:cs typeface="Lato Light"/>
                <a:sym typeface="Lato Light"/>
              </a:rPr>
              <a:t>Quality Analysis &amp; Trimming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" name="Google Shape;539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4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002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4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42"/>
          <p:cNvSpPr txBox="1"/>
          <p:nvPr/>
        </p:nvSpPr>
        <p:spPr>
          <a:xfrm>
            <a:off x="571500" y="2117824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4F46E5"/>
                </a:solidFill>
                <a:latin typeface="Merriweather"/>
                <a:ea typeface="Merriweather"/>
                <a:cs typeface="Merriweather"/>
                <a:sym typeface="Merriweather"/>
              </a:rPr>
              <a:t>The Task</a:t>
            </a:r>
            <a:endParaRPr/>
          </a:p>
        </p:txBody>
      </p:sp>
      <p:sp>
        <p:nvSpPr>
          <p:cNvPr id="543" name="Google Shape;543;p42"/>
          <p:cNvSpPr txBox="1"/>
          <p:nvPr/>
        </p:nvSpPr>
        <p:spPr>
          <a:xfrm>
            <a:off x="571500" y="2689324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You have received Sanger sequencing data for a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viral sample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544" name="Google Shape;544;p42"/>
          <p:cNvSpPr txBox="1"/>
          <p:nvPr/>
        </p:nvSpPr>
        <p:spPr>
          <a:xfrm>
            <a:off x="571500" y="3569196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Steps:</a:t>
            </a:r>
            <a:endParaRPr/>
          </a:p>
        </p:txBody>
      </p:sp>
      <p:sp>
        <p:nvSpPr>
          <p:cNvPr id="546" name="Google Shape;546;p42"/>
          <p:cNvSpPr txBox="1"/>
          <p:nvPr/>
        </p:nvSpPr>
        <p:spPr>
          <a:xfrm>
            <a:off x="781050" y="4057709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547" name="Google Shape;547;p42"/>
          <p:cNvSpPr txBox="1"/>
          <p:nvPr/>
        </p:nvSpPr>
        <p:spPr>
          <a:xfrm>
            <a:off x="952500" y="4056757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Simulate data.</a:t>
            </a:r>
            <a:endParaRPr/>
          </a:p>
        </p:txBody>
      </p:sp>
      <p:sp>
        <p:nvSpPr>
          <p:cNvPr id="548" name="Google Shape;548;p42"/>
          <p:cNvSpPr txBox="1"/>
          <p:nvPr/>
        </p:nvSpPr>
        <p:spPr>
          <a:xfrm>
            <a:off x="781050" y="4507170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549" name="Google Shape;549;p42"/>
          <p:cNvSpPr txBox="1"/>
          <p:nvPr/>
        </p:nvSpPr>
        <p:spPr>
          <a:xfrm>
            <a:off x="952500" y="4506217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Analyze quality profile.</a:t>
            </a:r>
            <a:endParaRPr/>
          </a:p>
        </p:txBody>
      </p:sp>
      <p:sp>
        <p:nvSpPr>
          <p:cNvPr id="550" name="Google Shape;550;p42"/>
          <p:cNvSpPr txBox="1"/>
          <p:nvPr/>
        </p:nvSpPr>
        <p:spPr>
          <a:xfrm>
            <a:off x="781050" y="4956631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551" name="Google Shape;551;p42"/>
          <p:cNvSpPr txBox="1"/>
          <p:nvPr/>
        </p:nvSpPr>
        <p:spPr>
          <a:xfrm>
            <a:off x="952500" y="4955678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Calculate stats.</a:t>
            </a:r>
            <a:endParaRPr/>
          </a:p>
        </p:txBody>
      </p:sp>
      <p:sp>
        <p:nvSpPr>
          <p:cNvPr id="552" name="Google Shape;552;p42"/>
          <p:cNvSpPr txBox="1"/>
          <p:nvPr/>
        </p:nvSpPr>
        <p:spPr>
          <a:xfrm>
            <a:off x="781050" y="5406092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4.</a:t>
            </a:r>
            <a:endParaRPr/>
          </a:p>
        </p:txBody>
      </p:sp>
      <p:sp>
        <p:nvSpPr>
          <p:cNvPr id="553" name="Google Shape;553;p42"/>
          <p:cNvSpPr txBox="1"/>
          <p:nvPr/>
        </p:nvSpPr>
        <p:spPr>
          <a:xfrm>
            <a:off x="952500" y="5405139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Trim low-quality ends.</a:t>
            </a:r>
            <a:endParaRPr/>
          </a:p>
        </p:txBody>
      </p:sp>
      <p:sp>
        <p:nvSpPr>
          <p:cNvPr id="554" name="Google Shape;554;p42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Your Scenario</a:t>
            </a:r>
            <a:endParaRPr/>
          </a:p>
        </p:txBody>
      </p:sp>
      <p:sp>
        <p:nvSpPr>
          <p:cNvPr id="555" name="Google Shape;555;p42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0" name="Google Shape;560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4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43"/>
          <p:cNvSpPr txBox="1"/>
          <p:nvPr/>
        </p:nvSpPr>
        <p:spPr>
          <a:xfrm>
            <a:off x="2405062" y="3085207"/>
            <a:ext cx="80961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Run the provided code to generate a data frame with sequence and quality scores.</a:t>
            </a:r>
            <a:endParaRPr dirty="0"/>
          </a:p>
        </p:txBody>
      </p:sp>
      <p:sp>
        <p:nvSpPr>
          <p:cNvPr id="563" name="Google Shape;563;p43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Step 1: Simulate Data</a:t>
            </a:r>
            <a:endParaRPr/>
          </a:p>
        </p:txBody>
      </p:sp>
      <p:sp>
        <p:nvSpPr>
          <p:cNvPr id="564" name="Google Shape;564;p43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9" name="Google Shape;569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4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44"/>
          <p:cNvSpPr txBox="1"/>
          <p:nvPr/>
        </p:nvSpPr>
        <p:spPr>
          <a:xfrm>
            <a:off x="4167187" y="2755701"/>
            <a:ext cx="4986438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Plot the quality score across the sequence.</a:t>
            </a:r>
            <a:endParaRPr dirty="0"/>
          </a:p>
        </p:txBody>
      </p:sp>
      <p:sp>
        <p:nvSpPr>
          <p:cNvPr id="572" name="Google Shape;572;p44"/>
          <p:cNvSpPr txBox="1"/>
          <p:nvPr/>
        </p:nvSpPr>
        <p:spPr>
          <a:xfrm>
            <a:off x="3838574" y="5014912"/>
            <a:ext cx="5170671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Look for the "frown" shape: low ends, high middle.</a:t>
            </a:r>
            <a:endParaRPr dirty="0"/>
          </a:p>
        </p:txBody>
      </p:sp>
      <p:sp>
        <p:nvSpPr>
          <p:cNvPr id="573" name="Google Shape;573;p44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Step 2: Visualize Quality</a:t>
            </a:r>
            <a:endParaRPr/>
          </a:p>
        </p:txBody>
      </p:sp>
      <p:sp>
        <p:nvSpPr>
          <p:cNvPr id="574" name="Google Shape;574;p44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Google Shape;579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4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45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Step 3: Quality Stats</a:t>
            </a:r>
            <a:endParaRPr/>
          </a:p>
        </p:txBody>
      </p:sp>
      <p:sp>
        <p:nvSpPr>
          <p:cNvPr id="582" name="Google Shape;582;p45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45"/>
          <p:cNvSpPr txBox="1"/>
          <p:nvPr/>
        </p:nvSpPr>
        <p:spPr>
          <a:xfrm>
            <a:off x="571500" y="3851374"/>
            <a:ext cx="11049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 TODO: Fill in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mean_qual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&lt;- mean(sanger$...) bases_q20 &lt;- sum(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sanger$Quality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&gt;= ...)</a:t>
            </a:r>
            <a:endParaRPr sz="2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4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46"/>
          <p:cNvSpPr txBox="1"/>
          <p:nvPr/>
        </p:nvSpPr>
        <p:spPr>
          <a:xfrm>
            <a:off x="3143249" y="2970907"/>
            <a:ext cx="6982527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Find the first and last position where quality meets the threshold.</a:t>
            </a:r>
            <a:endParaRPr dirty="0"/>
          </a:p>
        </p:txBody>
      </p:sp>
      <p:sp>
        <p:nvSpPr>
          <p:cNvPr id="591" name="Google Shape;591;p46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Step 4: Quality Trimming</a:t>
            </a:r>
            <a:endParaRPr/>
          </a:p>
        </p:txBody>
      </p:sp>
      <p:sp>
        <p:nvSpPr>
          <p:cNvPr id="592" name="Google Shape;592;p46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7" name="Google Shape;597;p4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47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47"/>
          <p:cNvSpPr txBox="1"/>
          <p:nvPr/>
        </p:nvSpPr>
        <p:spPr>
          <a:xfrm>
            <a:off x="2300287" y="4685407"/>
            <a:ext cx="8326004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Compare the original length vs trimmed length. Did you improve the overall quality?</a:t>
            </a:r>
            <a:endParaRPr dirty="0"/>
          </a:p>
        </p:txBody>
      </p:sp>
      <p:sp>
        <p:nvSpPr>
          <p:cNvPr id="600" name="Google Shape;600;p47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Step 5: Extract Clean Sequence</a:t>
            </a:r>
            <a:endParaRPr/>
          </a:p>
        </p:txBody>
      </p:sp>
      <p:sp>
        <p:nvSpPr>
          <p:cNvPr id="601" name="Google Shape;601;p47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4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47975" y="2179290"/>
            <a:ext cx="6496050" cy="2556420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48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48"/>
          <p:cNvSpPr txBox="1"/>
          <p:nvPr/>
        </p:nvSpPr>
        <p:spPr>
          <a:xfrm>
            <a:off x="3305651" y="2769840"/>
            <a:ext cx="5580697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Session 10 Complete</a:t>
            </a:r>
            <a:endParaRPr/>
          </a:p>
        </p:txBody>
      </p:sp>
      <p:sp>
        <p:nvSpPr>
          <p:cNvPr id="610" name="Google Shape;610;p48"/>
          <p:cNvSpPr txBox="1"/>
          <p:nvPr/>
        </p:nvSpPr>
        <p:spPr>
          <a:xfrm>
            <a:off x="3438525" y="3665190"/>
            <a:ext cx="53149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You are ready for Assessment 3.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896</TotalTime>
  <Words>1244</Words>
  <Application>Microsoft Macintosh PowerPoint</Application>
  <PresentationFormat>Widescreen</PresentationFormat>
  <Paragraphs>243</Paragraphs>
  <Slides>40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Lato</vt:lpstr>
      <vt:lpstr>Arial</vt:lpstr>
      <vt:lpstr>Times New Roman</vt:lpstr>
      <vt:lpstr>Lato Light</vt:lpstr>
      <vt:lpstr>Calibri</vt:lpstr>
      <vt:lpstr>Merriweather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Haogao Gu</cp:lastModifiedBy>
  <cp:revision>24</cp:revision>
  <dcterms:modified xsi:type="dcterms:W3CDTF">2026-01-22T03:57:58Z</dcterms:modified>
</cp:coreProperties>
</file>