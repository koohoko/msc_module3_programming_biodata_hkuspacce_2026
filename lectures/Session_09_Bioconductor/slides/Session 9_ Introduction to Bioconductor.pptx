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Lato Light" panose="020F0302020204030204" pitchFamily="34" charset="0"/>
      <p:regular r:id="rId49"/>
      <p:bold r:id="rId50"/>
      <p:italic r:id="rId51"/>
      <p:boldItalic r:id="rId52"/>
    </p:embeddedFont>
    <p:embeddedFont>
      <p:font typeface="Merriweather" pitchFamily="2" charset="77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3AFCC4-E38F-4453-9C1D-E316C6B2822B}">
  <a:tblStyle styleId="{DA3AFCC4-E38F-4453-9C1D-E316C6B282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7"/>
    <p:restoredTop sz="94683"/>
  </p:normalViewPr>
  <p:slideViewPr>
    <p:cSldViewPr snapToGrid="0">
      <p:cViewPr varScale="1">
        <p:scale>
          <a:sx n="128" d="100"/>
          <a:sy n="128" d="100"/>
        </p:scale>
        <p:origin x="200" y="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182" y="0"/>
            <a:ext cx="11083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4182" y="0"/>
            <a:ext cx="11083636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52874" y="1758404"/>
            <a:ext cx="4286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45718" y="2085975"/>
            <a:ext cx="4500562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to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Bioconductor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663046" y="3800475"/>
            <a:ext cx="865909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48625" y="4124325"/>
            <a:ext cx="5094746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Session 9: Sequence Handling with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Biostrings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952874" y="490150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February 2,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95762"/>
            <a:ext cx="5286375" cy="105132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76344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From Statistics to Sequences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33494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have covered R basics and statistical testing. Now we move to handling biological data directly.</a:t>
            </a:r>
            <a:endParaRPr/>
          </a:p>
        </p:txBody>
      </p:sp>
      <p:graphicFrame>
        <p:nvGraphicFramePr>
          <p:cNvPr id="100" name="Google Shape;100;p14"/>
          <p:cNvGraphicFramePr/>
          <p:nvPr/>
        </p:nvGraphicFramePr>
        <p:xfrm>
          <a:off x="6334125" y="2547937"/>
          <a:ext cx="5276850" cy="3105125"/>
        </p:xfrm>
        <a:graphic>
          <a:graphicData uri="http://schemas.openxmlformats.org/drawingml/2006/table">
            <a:tbl>
              <a:tblPr firstRow="1" bandRow="1">
                <a:noFill/>
                <a:tableStyleId>{DA3AFCC4-E38F-4453-9C1D-E316C6B2822B}</a:tableStyleId>
              </a:tblPr>
              <a:tblGrid>
                <a:gridCol w="150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Bioconductor &amp; Biostrings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Sanger Sequencing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Phylogenetics (MSA, Trees)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Visualization &amp; Reporting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Google Shape;101;p14"/>
          <p:cNvSpPr txBox="1"/>
          <p:nvPr/>
        </p:nvSpPr>
        <p:spPr>
          <a:xfrm>
            <a:off x="809625" y="438626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Sessions 9-12 Focus: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72142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Sequence analysis, phylogenetics, and visualization.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338887" y="3162300"/>
            <a:ext cx="1508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847409" y="3162300"/>
            <a:ext cx="3768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338887" y="3781425"/>
            <a:ext cx="1508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847409" y="3781425"/>
            <a:ext cx="3768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338887" y="4400550"/>
            <a:ext cx="1508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847409" y="4400550"/>
            <a:ext cx="3768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338887" y="5019675"/>
            <a:ext cx="15085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847409" y="5019675"/>
            <a:ext cx="3768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Welcome to Phase III: Bioinformatics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2396"/>
            <a:ext cx="2547937" cy="3005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02396"/>
            <a:ext cx="2547937" cy="3005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502396"/>
            <a:ext cx="2547937" cy="3005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502396"/>
            <a:ext cx="2547937" cy="3005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17840" y="3512046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Ecosystem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4083546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 the Bioconductor repository vs CRAN.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651527" y="3512046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Install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700462" y="4083546"/>
            <a:ext cx="1957387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Install packages correctly using BiocManager.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5215" y="3512046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Biostrings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34150" y="4083546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Manipulate DNA, RNA, and Amino Acid sequences.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318902" y="3512046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FASTA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367837" y="4083546"/>
            <a:ext cx="195738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Read, write, and process FASTA files.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9718" y="281672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50556" y="28167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2818" y="2816721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75081" y="2816721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0675" y="2179290"/>
            <a:ext cx="9010650" cy="25564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985486" y="2769840"/>
            <a:ext cx="822102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Bioconductor vs. CRAN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181225" y="3665190"/>
            <a:ext cx="78295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Bioinformatics Repository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1565633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The Premier Repository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2137133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Founded in 2001 by Robert Gentleman (co-creator of R).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268184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is distinct from CRAN (Comprehensive R Archive Network).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43000" y="3504565"/>
            <a:ext cx="433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"Bioconductor provides tools for the analysis and comprehension of high-throughput genomic data." 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952500" y="3504565"/>
            <a:ext cx="38100" cy="3429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Bioconductor?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DDB9AF-4223-C8E7-63BB-19FACCE72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626" y="3776675"/>
            <a:ext cx="7772400" cy="2890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8"/>
          <p:cNvGraphicFramePr/>
          <p:nvPr/>
        </p:nvGraphicFramePr>
        <p:xfrm>
          <a:off x="571500" y="2233612"/>
          <a:ext cx="11039475" cy="3733800"/>
        </p:xfrm>
        <a:graphic>
          <a:graphicData uri="http://schemas.openxmlformats.org/drawingml/2006/table">
            <a:tbl>
              <a:tblPr firstRow="1" bandRow="1">
                <a:noFill/>
                <a:tableStyleId>{DA3AFCC4-E38F-4453-9C1D-E316C6B2822B}</a:tableStyleId>
              </a:tblPr>
              <a:tblGrid>
                <a:gridCol w="23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Bioconductor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General Purpose Statistics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Genomics &amp; Bioinformatics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Packages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~20,000+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~2,200 specialized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Release Cycle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Rolling (Daily)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Biannual (Spring/Fall)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Installation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install.packages()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BiocManager::install()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data.frame, matrix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DNAString, GRanges, ExpressionSet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8" name="Google Shape;168;p18"/>
          <p:cNvSpPr/>
          <p:nvPr/>
        </p:nvSpPr>
        <p:spPr>
          <a:xfrm>
            <a:off x="576262" y="2847975"/>
            <a:ext cx="2348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924323" y="2847975"/>
            <a:ext cx="3756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681192" y="2847975"/>
            <a:ext cx="4934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6262" y="3467100"/>
            <a:ext cx="2348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924323" y="3467100"/>
            <a:ext cx="3756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681192" y="3467100"/>
            <a:ext cx="4934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6262" y="4086225"/>
            <a:ext cx="2348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924323" y="4086225"/>
            <a:ext cx="3756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681192" y="4086225"/>
            <a:ext cx="4934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6262" y="4705350"/>
            <a:ext cx="2348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924323" y="4705350"/>
            <a:ext cx="3756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681192" y="4705350"/>
            <a:ext cx="4934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76262" y="5334000"/>
            <a:ext cx="2348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924323" y="5334000"/>
            <a:ext cx="3756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681192" y="5334000"/>
            <a:ext cx="4934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CRAN vs Bioconductor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2927151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Install Manager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3498651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First, you need the tool that manages Bioconductor packages. This comes from CRAN.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34125" y="298043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Install Packages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34125" y="3551932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the manager to install specific tools.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Installing with BiocManager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1587996"/>
            <a:ext cx="8839200" cy="196572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333500" y="5963542"/>
            <a:ext cx="95250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update = FALSE prevents R from trying to update all your other packages, which can take 20+ minutes.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981200" y="1892796"/>
            <a:ext cx="864108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11D4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Warning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981200" y="2464296"/>
            <a:ext cx="8229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Bioconductor installation compiles code, which can be slow in Colab. Always verify if the package is already installed to save time.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1200" y="193089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492621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Installation in Google Colab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1187946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472"/>
            <a:ext cx="2286000" cy="36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250" y="2162472"/>
            <a:ext cx="2771775" cy="36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0775" y="2162472"/>
            <a:ext cx="2286000" cy="36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72525" y="2162472"/>
            <a:ext cx="2847975" cy="368557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2457747"/>
            <a:ext cx="1695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🧬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24388" y="3191172"/>
            <a:ext cx="17802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Biostrings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66775" y="3762672"/>
            <a:ext cx="16954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 package for DNA, RNA, and Amino Acid sequence manipulation.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438525" y="2457747"/>
            <a:ext cx="21812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383994" y="3191172"/>
            <a:ext cx="22902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sangeranalyseR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438525" y="3762672"/>
            <a:ext cx="21812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Quality control and processing of Sanger sequencing chromatograms (.ab1).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496050" y="2457747"/>
            <a:ext cx="1695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🌳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453663" y="3191172"/>
            <a:ext cx="17802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ggtree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496050" y="3762672"/>
            <a:ext cx="16954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Visualization of phylogenetic trees and associated data.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067800" y="2457747"/>
            <a:ext cx="2257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📍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011364" y="3191172"/>
            <a:ext cx="237029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GenomicRanges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067800" y="3762672"/>
            <a:ext cx="22574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Handling genomic coordinates (chromosomes, start/end positions).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Key Bioconductor Packages for MLTs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47" y="2272513"/>
            <a:ext cx="4697896" cy="3510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282059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The Foundation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339209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Biostrings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"Excel" of sequence data in R.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38175" y="38425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3841551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 storage (doesn't waste memory).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38175" y="429196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429101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Specialized algorithms (Pattern matching).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38175" y="474142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62000" y="4740473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File I/O (FASTA, FASTQ).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Biostrings Overview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GitHub - Bioconductor/Biostrings: Efficient manipulation of biological  strings">
            <a:extLst>
              <a:ext uri="{FF2B5EF4-FFF2-40B4-BE49-F238E27FC236}">
                <a16:creationId xmlns:a16="http://schemas.microsoft.com/office/drawing/2014/main" id="{6CAAD8E4-9FF1-C911-48D2-212BF5AB8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923" y="2281521"/>
            <a:ext cx="6240120" cy="312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787" y="2179290"/>
            <a:ext cx="9496425" cy="25564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730454" y="2769840"/>
            <a:ext cx="87310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Working with Biostrings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938337" y="3665190"/>
            <a:ext cx="83153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Classes, Functions, and Operations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0040"/>
            <a:ext cx="5286375" cy="3550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30040"/>
            <a:ext cx="5286375" cy="355044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866775" y="2525315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R (Character)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629400" y="2525315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Biostrings (DNAString)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33450" y="38026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057275" y="380166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validation (can hold "Hello World").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933450" y="425207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057275" y="4251126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 intensive (stores each letter as a full character).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933450" y="503670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057275" y="5035748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biological context.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696075" y="38026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819900" y="380166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allows A, T, G, C, N, etc.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696075" y="425207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819900" y="4251126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Bit-encoded (2 bits per base).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696075" y="470154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819900" y="4700587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Knows how to complement and translate.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Why Not Regular R Strings?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4500562" y="2399407"/>
            <a:ext cx="426575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holding a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sequence.</a:t>
            </a:r>
            <a:endParaRPr dirty="0"/>
          </a:p>
        </p:txBody>
      </p:sp>
      <p:sp>
        <p:nvSpPr>
          <p:cNvPr id="292" name="Google Shape;292;p2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DNAString Class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3333749" y="2170807"/>
            <a:ext cx="627738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holding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sequences (e.g., from a FASTA file).</a:t>
            </a:r>
            <a:endParaRPr dirty="0"/>
          </a:p>
        </p:txBody>
      </p:sp>
      <p:sp>
        <p:nvSpPr>
          <p:cNvPr id="301" name="Google Shape;301;p26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DNAStringSet Class</a:t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571500" y="3045321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Biological Rule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571500" y="361682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Watson-Crick base pairing: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6334125" y="267845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6334125" y="466918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Note: This is the complement strand reading 3' to 5', or simply the paired bases.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638175" y="406723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762000" y="406628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pairs with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38175" y="451669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762000" y="451574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pairs with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Complement Function</a:t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3862387" y="2531864"/>
            <a:ext cx="530149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sequence of the opposite strand, read 5' to 3'.</a:t>
            </a:r>
            <a:endParaRPr dirty="0"/>
          </a:p>
        </p:txBody>
      </p:sp>
      <p:sp>
        <p:nvSpPr>
          <p:cNvPr id="326" name="Google Shape;326;p28"/>
          <p:cNvSpPr txBox="1"/>
          <p:nvPr/>
        </p:nvSpPr>
        <p:spPr>
          <a:xfrm>
            <a:off x="2443162" y="5238750"/>
            <a:ext cx="826128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Clinical Note: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Crucial when analyzing sequencing reads from the reverse strand.</a:t>
            </a:r>
            <a:endParaRPr dirty="0"/>
          </a:p>
        </p:txBody>
      </p:sp>
      <p:sp>
        <p:nvSpPr>
          <p:cNvPr id="327" name="Google Shape;327;p28"/>
          <p:cNvSpPr txBox="1"/>
          <p:nvPr/>
        </p:nvSpPr>
        <p:spPr>
          <a:xfrm>
            <a:off x="4390876" y="2981325"/>
            <a:ext cx="16214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5' ATGCCC 3'</a:t>
            </a:r>
            <a:endParaRPr dirty="0"/>
          </a:p>
        </p:txBody>
      </p:sp>
      <p:pic>
        <p:nvPicPr>
          <p:cNvPr id="328" name="Google Shape;32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2358" y="30337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/>
          <p:nvPr/>
        </p:nvSpPr>
        <p:spPr>
          <a:xfrm>
            <a:off x="6336208" y="2981325"/>
            <a:ext cx="17641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5' GGGCAT 3'</a:t>
            </a:r>
            <a:endParaRPr dirty="0"/>
          </a:p>
        </p:txBody>
      </p:sp>
      <p:sp>
        <p:nvSpPr>
          <p:cNvPr id="330" name="Google Shape;330;p2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Reverse Complement</a:t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4664"/>
            <a:ext cx="5286375" cy="386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74664"/>
            <a:ext cx="5286375" cy="386119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866775" y="2369939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The Function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866775" y="2941439"/>
            <a:ext cx="4695825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translate() function applies the Standard Genetic Code to convert triplets of nucleotides into amino acids.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6629400" y="2369939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629400" y="4855964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= Methionine (Start)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= Stop Codon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Translating DNA to Protein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3524250" y="2527101"/>
            <a:ext cx="566944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Biostrings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has built-in lookup tables for the genetic code.</a:t>
            </a:r>
            <a:endParaRPr dirty="0"/>
          </a:p>
        </p:txBody>
      </p:sp>
      <p:sp>
        <p:nvSpPr>
          <p:cNvPr id="353" name="Google Shape;353;p30"/>
          <p:cNvSpPr txBox="1"/>
          <p:nvPr/>
        </p:nvSpPr>
        <p:spPr>
          <a:xfrm>
            <a:off x="2809875" y="5243512"/>
            <a:ext cx="737773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There are 64 possible codons coding for 20 amino acids plus stop signals.</a:t>
            </a:r>
            <a:endParaRPr dirty="0"/>
          </a:p>
        </p:txBody>
      </p:sp>
      <p:sp>
        <p:nvSpPr>
          <p:cNvPr id="354" name="Google Shape;354;p30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Genetic Code</a:t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3750" y="4405312"/>
            <a:ext cx="55245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Counting Nucleotides</a:t>
            </a: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 txBox="1"/>
          <p:nvPr/>
        </p:nvSpPr>
        <p:spPr>
          <a:xfrm>
            <a:off x="571500" y="3327201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Why it matters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571500" y="3898701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GC content affects melting temperature (Tm) and is a key metric in PCR primer design and genome characterization.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6334125" y="256698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Calculating GC Content</a:t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33"/>
          <p:cNvGraphicFramePr/>
          <p:nvPr/>
        </p:nvGraphicFramePr>
        <p:xfrm>
          <a:off x="571500" y="2843212"/>
          <a:ext cx="11039475" cy="2514600"/>
        </p:xfrm>
        <a:graphic>
          <a:graphicData uri="http://schemas.openxmlformats.org/drawingml/2006/table">
            <a:tbl>
              <a:tblPr firstRow="1" bandRow="1">
                <a:noFill/>
                <a:tableStyleId>{DA3AFCC4-E38F-4453-9C1D-E316C6B2822B}</a:tableStyleId>
              </a:tblPr>
              <a:tblGrid>
                <a:gridCol w="134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Format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Extension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Contains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.fasta, .fa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Sequence only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readDNAStringSet()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.fastq, .fq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Sequence + Quality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readDNAStringSet(format="fastq")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.ab1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Sanger Chromatogram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sangeranalyseR package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3" name="Google Shape;383;p33"/>
          <p:cNvSpPr/>
          <p:nvPr/>
        </p:nvSpPr>
        <p:spPr>
          <a:xfrm>
            <a:off x="576262" y="3457575"/>
            <a:ext cx="1342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1918841" y="3457575"/>
            <a:ext cx="162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3541811" y="3457575"/>
            <a:ext cx="29119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6453782" y="3457575"/>
            <a:ext cx="5161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576262" y="4086225"/>
            <a:ext cx="1342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1918841" y="4086225"/>
            <a:ext cx="162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3541811" y="4086225"/>
            <a:ext cx="29119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6453782" y="4086225"/>
            <a:ext cx="5161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576262" y="4714875"/>
            <a:ext cx="1342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1918841" y="4714875"/>
            <a:ext cx="162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3541811" y="4714875"/>
            <a:ext cx="29119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6453782" y="4714875"/>
            <a:ext cx="5161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Biological Sequence File Formats</a:t>
            </a:r>
            <a:endParaRPr/>
          </a:p>
        </p:txBody>
      </p:sp>
      <p:sp>
        <p:nvSpPr>
          <p:cNvPr id="396" name="Google Shape;396;p3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147119"/>
            <a:ext cx="883920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2628899" y="2697658"/>
            <a:ext cx="775749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Simple, text-based format for representing nucleotide or peptide sequences.</a:t>
            </a:r>
            <a:endParaRPr dirty="0"/>
          </a:p>
        </p:txBody>
      </p:sp>
      <p:sp>
        <p:nvSpPr>
          <p:cNvPr id="405" name="Google Shape;405;p34"/>
          <p:cNvSpPr txBox="1"/>
          <p:nvPr/>
        </p:nvSpPr>
        <p:spPr>
          <a:xfrm>
            <a:off x="1885950" y="3356669"/>
            <a:ext cx="16523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&gt;Sequence_Name_1</a:t>
            </a:r>
            <a:endParaRPr dirty="0"/>
          </a:p>
        </p:txBody>
      </p:sp>
      <p:sp>
        <p:nvSpPr>
          <p:cNvPr id="407" name="Google Shape;407;p34"/>
          <p:cNvSpPr txBox="1"/>
          <p:nvPr/>
        </p:nvSpPr>
        <p:spPr>
          <a:xfrm>
            <a:off x="1885949" y="3871019"/>
            <a:ext cx="165237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&gt;Sequence_Name_2</a:t>
            </a:r>
            <a:endParaRPr dirty="0"/>
          </a:p>
        </p:txBody>
      </p:sp>
      <p:sp>
        <p:nvSpPr>
          <p:cNvPr id="408" name="Google Shape;408;p34"/>
          <p:cNvSpPr txBox="1"/>
          <p:nvPr/>
        </p:nvSpPr>
        <p:spPr>
          <a:xfrm>
            <a:off x="4586287" y="461492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9" name="Google Shape;409;p34"/>
          <p:cNvSpPr txBox="1"/>
          <p:nvPr/>
        </p:nvSpPr>
        <p:spPr>
          <a:xfrm>
            <a:off x="4710112" y="4613969"/>
            <a:ext cx="29622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Header line starts with &gt;.</a:t>
            </a:r>
            <a:endParaRPr/>
          </a:p>
        </p:txBody>
      </p:sp>
      <p:sp>
        <p:nvSpPr>
          <p:cNvPr id="410" name="Google Shape;410;p34"/>
          <p:cNvSpPr txBox="1"/>
          <p:nvPr/>
        </p:nvSpPr>
        <p:spPr>
          <a:xfrm>
            <a:off x="4586287" y="507390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4710112" y="5072955"/>
            <a:ext cx="371827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Sequence follows on next line(s).</a:t>
            </a:r>
            <a:endParaRPr dirty="0"/>
          </a:p>
        </p:txBody>
      </p:sp>
      <p:sp>
        <p:nvSpPr>
          <p:cNvPr id="412" name="Google Shape;412;p3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FASTA Format</a:t>
            </a:r>
            <a:endParaRPr/>
          </a:p>
        </p:txBody>
      </p:sp>
      <p:sp>
        <p:nvSpPr>
          <p:cNvPr id="413" name="Google Shape;413;p3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FASTA Files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571500" y="3589765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Read all sequences from FASTA file sequences &lt;-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readDNAStringSet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variants.fasta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# Access properties length(sequences) # Number of sequences names(sequences) # Headers (names) width(sequences) # Length of each sequence # Access specific sequence sequences[[1]] # First sequence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2833687" y="2984301"/>
            <a:ext cx="73628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After processing data (e.g., trimming, filtering), you often need to save it.</a:t>
            </a:r>
            <a:endParaRPr dirty="0"/>
          </a:p>
        </p:txBody>
      </p:sp>
      <p:sp>
        <p:nvSpPr>
          <p:cNvPr id="430" name="Google Shape;430;p36"/>
          <p:cNvSpPr txBox="1"/>
          <p:nvPr/>
        </p:nvSpPr>
        <p:spPr>
          <a:xfrm>
            <a:off x="2414587" y="4786312"/>
            <a:ext cx="823022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useful for exporting data to other tools (like BLAST or alignment software).</a:t>
            </a:r>
            <a:endParaRPr dirty="0"/>
          </a:p>
        </p:txBody>
      </p:sp>
      <p:sp>
        <p:nvSpPr>
          <p:cNvPr id="431" name="Google Shape;431;p36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Writing FASTA Files</a:t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003351"/>
            <a:ext cx="88392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>
            <a:off x="4348162" y="2553890"/>
            <a:ext cx="441815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FASTA + Quality Scores (used in NGS).</a:t>
            </a:r>
            <a:endParaRPr dirty="0"/>
          </a:p>
        </p:txBody>
      </p:sp>
      <p:sp>
        <p:nvSpPr>
          <p:cNvPr id="441" name="Google Shape;441;p37"/>
          <p:cNvSpPr txBox="1"/>
          <p:nvPr/>
        </p:nvSpPr>
        <p:spPr>
          <a:xfrm>
            <a:off x="1885949" y="3212901"/>
            <a:ext cx="14192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1200" b="0" i="0" u="none" strike="noStrike" cap="none" dirty="0" err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Sequence_ID</a:t>
            </a:r>
            <a:endParaRPr dirty="0"/>
          </a:p>
        </p:txBody>
      </p:sp>
      <p:sp>
        <p:nvSpPr>
          <p:cNvPr id="442" name="Google Shape;442;p37"/>
          <p:cNvSpPr txBox="1"/>
          <p:nvPr/>
        </p:nvSpPr>
        <p:spPr>
          <a:xfrm>
            <a:off x="1885949" y="3727251"/>
            <a:ext cx="128463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IIIIIIIIIIII</a:t>
            </a:r>
            <a:endParaRPr dirty="0"/>
          </a:p>
        </p:txBody>
      </p:sp>
      <p:sp>
        <p:nvSpPr>
          <p:cNvPr id="443" name="Google Shape;443;p37"/>
          <p:cNvSpPr txBox="1"/>
          <p:nvPr/>
        </p:nvSpPr>
        <p:spPr>
          <a:xfrm>
            <a:off x="3305175" y="42997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3429000" y="4298751"/>
            <a:ext cx="55245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Header starts with @.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3305175" y="475869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3429000" y="4757737"/>
            <a:ext cx="55245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+ separates sequence from quality.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3305175" y="521767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3429000" y="5216723"/>
            <a:ext cx="5524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Quality symbols represent probability of error (Phred score).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FASTQ Format</a:t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FASTQ Files</a:t>
            </a:r>
            <a:endParaRPr/>
          </a:p>
        </p:txBody>
      </p:sp>
      <p:sp>
        <p:nvSpPr>
          <p:cNvPr id="458" name="Google Shape;458;p3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8"/>
          <p:cNvSpPr txBox="1"/>
          <p:nvPr/>
        </p:nvSpPr>
        <p:spPr>
          <a:xfrm>
            <a:off x="571500" y="3543598"/>
            <a:ext cx="11049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Standard read (ignores quality)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readDNAStringSet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reads.fastq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format = 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# Reading with Quality (Requires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ShortRead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package) library(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ShortRead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readFastq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reads.fastq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quality(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fq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# Extract quality scores</a:t>
            </a:r>
            <a:endParaRPr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 txBox="1"/>
          <p:nvPr/>
        </p:nvSpPr>
        <p:spPr>
          <a:xfrm>
            <a:off x="571500" y="279945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Extracting specific regions (e.g., a gene within a genome).</a:t>
            </a:r>
            <a:endParaRPr/>
          </a:p>
        </p:txBody>
      </p:sp>
      <p:sp>
        <p:nvSpPr>
          <p:cNvPr id="469" name="Google Shape;469;p3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Extracting Subsequences</a:t>
            </a:r>
            <a:endParaRPr/>
          </a:p>
        </p:txBody>
      </p:sp>
      <p:sp>
        <p:nvSpPr>
          <p:cNvPr id="470" name="Google Shape;470;p3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1300" y="4105275"/>
            <a:ext cx="66294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Finding Patterns (Motifs)</a:t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3212"/>
            <a:ext cx="528637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3212"/>
            <a:ext cx="528637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 txBox="1"/>
          <p:nvPr/>
        </p:nvSpPr>
        <p:spPr>
          <a:xfrm>
            <a:off x="866775" y="313848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RNAString</a:t>
            </a:r>
            <a:endParaRPr/>
          </a:p>
        </p:txBody>
      </p:sp>
      <p:sp>
        <p:nvSpPr>
          <p:cNvPr id="489" name="Google Shape;489;p41"/>
          <p:cNvSpPr txBox="1"/>
          <p:nvPr/>
        </p:nvSpPr>
        <p:spPr>
          <a:xfrm>
            <a:off x="6629400" y="313848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AAString (Protein)</a:t>
            </a:r>
            <a:endParaRPr/>
          </a:p>
        </p:txBody>
      </p:sp>
      <p:sp>
        <p:nvSpPr>
          <p:cNvPr id="490" name="Google Shape;490;p4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Other Molecular Types</a:t>
            </a:r>
            <a:endParaRPr/>
          </a:p>
        </p:txBody>
      </p:sp>
      <p:sp>
        <p:nvSpPr>
          <p:cNvPr id="491" name="Google Shape;491;p4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8" name="Google Shape;498;p42"/>
          <p:cNvGraphicFramePr/>
          <p:nvPr/>
        </p:nvGraphicFramePr>
        <p:xfrm>
          <a:off x="571500" y="2547937"/>
          <a:ext cx="11039475" cy="3105125"/>
        </p:xfrm>
        <a:graphic>
          <a:graphicData uri="http://schemas.openxmlformats.org/drawingml/2006/table">
            <a:tbl>
              <a:tblPr firstRow="1" bandRow="1">
                <a:noFill/>
                <a:tableStyleId>{DA3AFCC4-E38F-4453-9C1D-E316C6B2822B}</a:tableStyleId>
              </a:tblPr>
              <a:tblGrid>
                <a:gridCol w="320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Biostrings 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Variant Detection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Align patient sequence vs reference to find mutations.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Genotyping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Locate SNPs in sequence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Species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16S rRNA sequences to databases.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Primer Design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Check GC content and melting temps.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9" name="Google Shape;499;p42"/>
          <p:cNvSpPr/>
          <p:nvPr/>
        </p:nvSpPr>
        <p:spPr>
          <a:xfrm>
            <a:off x="576262" y="3162300"/>
            <a:ext cx="3203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3779936" y="3162300"/>
            <a:ext cx="783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576262" y="3781425"/>
            <a:ext cx="3203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3779936" y="3781425"/>
            <a:ext cx="783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576262" y="4400550"/>
            <a:ext cx="3203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3779936" y="4400550"/>
            <a:ext cx="783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576262" y="5019675"/>
            <a:ext cx="3203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3779936" y="5019675"/>
            <a:ext cx="783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Lab Applications</a:t>
            </a:r>
            <a:endParaRPr/>
          </a:p>
        </p:txBody>
      </p:sp>
      <p:sp>
        <p:nvSpPr>
          <p:cNvPr id="508" name="Google Shape;508;p4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7633"/>
            <a:ext cx="3492549" cy="301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97633"/>
            <a:ext cx="3492549" cy="301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97633"/>
            <a:ext cx="3492549" cy="30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 txBox="1"/>
          <p:nvPr/>
        </p:nvSpPr>
        <p:spPr>
          <a:xfrm>
            <a:off x="866775" y="279290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⚠️</a:t>
            </a:r>
            <a:endParaRPr/>
          </a:p>
        </p:txBody>
      </p:sp>
      <p:sp>
        <p:nvSpPr>
          <p:cNvPr id="519" name="Google Shape;519;p43"/>
          <p:cNvSpPr txBox="1"/>
          <p:nvPr/>
        </p:nvSpPr>
        <p:spPr>
          <a:xfrm>
            <a:off x="794225" y="3526333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Alphabet</a:t>
            </a:r>
            <a:endParaRPr/>
          </a:p>
        </p:txBody>
      </p:sp>
      <p:sp>
        <p:nvSpPr>
          <p:cNvPr id="520" name="Google Shape;520;p43"/>
          <p:cNvSpPr txBox="1"/>
          <p:nvPr/>
        </p:nvSpPr>
        <p:spPr>
          <a:xfrm>
            <a:off x="866775" y="4097833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DNA functions on RNA objects (or vice versa).</a:t>
            </a:r>
            <a:endParaRPr/>
          </a:p>
        </p:txBody>
      </p:sp>
      <p:sp>
        <p:nvSpPr>
          <p:cNvPr id="521" name="Google Shape;521;p43"/>
          <p:cNvSpPr txBox="1"/>
          <p:nvPr/>
        </p:nvSpPr>
        <p:spPr>
          <a:xfrm>
            <a:off x="4645074" y="279290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↔️</a:t>
            </a:r>
            <a:endParaRPr/>
          </a:p>
        </p:txBody>
      </p:sp>
      <p:sp>
        <p:nvSpPr>
          <p:cNvPr id="522" name="Google Shape;522;p43"/>
          <p:cNvSpPr txBox="1"/>
          <p:nvPr/>
        </p:nvSpPr>
        <p:spPr>
          <a:xfrm>
            <a:off x="4572524" y="3526333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Direction</a:t>
            </a:r>
            <a:endParaRPr/>
          </a:p>
        </p:txBody>
      </p:sp>
      <p:sp>
        <p:nvSpPr>
          <p:cNvPr id="523" name="Google Shape;523;p43"/>
          <p:cNvSpPr txBox="1"/>
          <p:nvPr/>
        </p:nvSpPr>
        <p:spPr>
          <a:xfrm>
            <a:off x="4645074" y="409783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Forgetting to Reverse Complement when analyzing the opposite strand.</a:t>
            </a:r>
            <a:endParaRPr/>
          </a:p>
        </p:txBody>
      </p:sp>
      <p:sp>
        <p:nvSpPr>
          <p:cNvPr id="524" name="Google Shape;524;p43"/>
          <p:cNvSpPr txBox="1"/>
          <p:nvPr/>
        </p:nvSpPr>
        <p:spPr>
          <a:xfrm>
            <a:off x="8423374" y="279290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🖼️</a:t>
            </a:r>
            <a:endParaRPr/>
          </a:p>
        </p:txBody>
      </p:sp>
      <p:sp>
        <p:nvSpPr>
          <p:cNvPr id="525" name="Google Shape;525;p43"/>
          <p:cNvSpPr txBox="1"/>
          <p:nvPr/>
        </p:nvSpPr>
        <p:spPr>
          <a:xfrm>
            <a:off x="8350824" y="3526333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Frame</a:t>
            </a:r>
            <a:endParaRPr/>
          </a:p>
        </p:txBody>
      </p:sp>
      <p:sp>
        <p:nvSpPr>
          <p:cNvPr id="526" name="Google Shape;526;p43"/>
          <p:cNvSpPr txBox="1"/>
          <p:nvPr/>
        </p:nvSpPr>
        <p:spPr>
          <a:xfrm>
            <a:off x="8423374" y="4097833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Translating without checking the Open Reading Frame (ORF).</a:t>
            </a:r>
            <a:endParaRPr/>
          </a:p>
        </p:txBody>
      </p:sp>
      <p:sp>
        <p:nvSpPr>
          <p:cNvPr id="527" name="Google Shape;527;p4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Mistakes to Avoid</a:t>
            </a:r>
            <a:endParaRPr/>
          </a:p>
        </p:txBody>
      </p:sp>
      <p:sp>
        <p:nvSpPr>
          <p:cNvPr id="528" name="Google Shape;528;p4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 txBox="1"/>
          <p:nvPr/>
        </p:nvSpPr>
        <p:spPr>
          <a:xfrm>
            <a:off x="2462212" y="2876847"/>
            <a:ext cx="7458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Bioconductor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hub for R bioinformatics.</a:t>
            </a:r>
            <a:endParaRPr/>
          </a:p>
        </p:txBody>
      </p:sp>
      <p:sp>
        <p:nvSpPr>
          <p:cNvPr id="536" name="Google Shape;536;p44"/>
          <p:cNvSpPr txBox="1"/>
          <p:nvPr/>
        </p:nvSpPr>
        <p:spPr>
          <a:xfrm>
            <a:off x="2462212" y="3326308"/>
            <a:ext cx="7458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BiocManager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install packages.</a:t>
            </a:r>
            <a:endParaRPr/>
          </a:p>
        </p:txBody>
      </p:sp>
      <p:sp>
        <p:nvSpPr>
          <p:cNvPr id="537" name="Google Shape;537;p44"/>
          <p:cNvSpPr txBox="1"/>
          <p:nvPr/>
        </p:nvSpPr>
        <p:spPr>
          <a:xfrm>
            <a:off x="2462212" y="3775769"/>
            <a:ext cx="7458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DNAString/Set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classes handle sequences efficiently.</a:t>
            </a:r>
            <a:endParaRPr/>
          </a:p>
        </p:txBody>
      </p:sp>
      <p:sp>
        <p:nvSpPr>
          <p:cNvPr id="538" name="Google Shape;538;p44"/>
          <p:cNvSpPr txBox="1"/>
          <p:nvPr/>
        </p:nvSpPr>
        <p:spPr>
          <a:xfrm>
            <a:off x="2462212" y="4225230"/>
            <a:ext cx="74580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Essential functions: readDNAStringSet, translate, reverseComplement.</a:t>
            </a:r>
            <a:endParaRPr/>
          </a:p>
        </p:txBody>
      </p:sp>
      <p:sp>
        <p:nvSpPr>
          <p:cNvPr id="539" name="Google Shape;539;p44"/>
          <p:cNvSpPr txBox="1"/>
          <p:nvPr/>
        </p:nvSpPr>
        <p:spPr>
          <a:xfrm>
            <a:off x="2462212" y="4684216"/>
            <a:ext cx="7458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standard format for sequences.</a:t>
            </a:r>
            <a:endParaRPr/>
          </a:p>
        </p:txBody>
      </p:sp>
      <p:pic>
        <p:nvPicPr>
          <p:cNvPr id="540" name="Google Shape;540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212" y="293876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212" y="338822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212" y="383768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212" y="42871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212" y="474612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546" name="Google Shape;546;p4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6187" y="2055465"/>
            <a:ext cx="4619625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4290774" y="2646015"/>
            <a:ext cx="361045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9</a:t>
            </a:r>
            <a:endParaRPr/>
          </a:p>
        </p:txBody>
      </p:sp>
      <p:sp>
        <p:nvSpPr>
          <p:cNvPr id="555" name="Google Shape;555;p45"/>
          <p:cNvSpPr txBox="1"/>
          <p:nvPr/>
        </p:nvSpPr>
        <p:spPr>
          <a:xfrm>
            <a:off x="4376737" y="3541365"/>
            <a:ext cx="361045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Sequence Manipulation in Practice</a:t>
            </a:r>
            <a:endParaRPr dirty="0"/>
          </a:p>
        </p:txBody>
      </p:sp>
      <p:sp>
        <p:nvSpPr>
          <p:cNvPr id="556" name="Google Shape;556;p45"/>
          <p:cNvSpPr txBox="1"/>
          <p:nvPr/>
        </p:nvSpPr>
        <p:spPr>
          <a:xfrm>
            <a:off x="4376737" y="4097535"/>
            <a:ext cx="34385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6"/>
          <p:cNvSpPr txBox="1"/>
          <p:nvPr/>
        </p:nvSpPr>
        <p:spPr>
          <a:xfrm>
            <a:off x="3085623" y="2183159"/>
            <a:ext cx="6020752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9: Sequence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Manipulation</a:t>
            </a:r>
            <a:endParaRPr/>
          </a:p>
        </p:txBody>
      </p:sp>
      <p:sp>
        <p:nvSpPr>
          <p:cNvPr id="564" name="Google Shape;564;p46"/>
          <p:cNvSpPr/>
          <p:nvPr/>
        </p:nvSpPr>
        <p:spPr>
          <a:xfrm>
            <a:off x="5619750" y="3897659"/>
            <a:ext cx="9525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3228975" y="4221509"/>
            <a:ext cx="57340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Working with SARS-CoV-2 Variant Sequences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7"/>
          <p:cNvSpPr txBox="1"/>
          <p:nvPr/>
        </p:nvSpPr>
        <p:spPr>
          <a:xfrm>
            <a:off x="571500" y="2323504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766E"/>
                </a:solidFill>
                <a:latin typeface="Merriweather"/>
                <a:ea typeface="Merriweather"/>
                <a:cs typeface="Merriweather"/>
                <a:sym typeface="Merriweather"/>
              </a:rPr>
              <a:t>The Task</a:t>
            </a:r>
            <a:endParaRPr/>
          </a:p>
        </p:txBody>
      </p:sp>
      <p:sp>
        <p:nvSpPr>
          <p:cNvPr id="574" name="Google Shape;574;p47"/>
          <p:cNvSpPr txBox="1"/>
          <p:nvPr/>
        </p:nvSpPr>
        <p:spPr>
          <a:xfrm>
            <a:off x="571500" y="289500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are analyzing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SARS-CoV-2 variants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75" name="Google Shape;575;p47"/>
          <p:cNvSpPr txBox="1"/>
          <p:nvPr/>
        </p:nvSpPr>
        <p:spPr>
          <a:xfrm>
            <a:off x="571500" y="343971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have sequences for:</a:t>
            </a:r>
            <a:endParaRPr/>
          </a:p>
        </p:txBody>
      </p:sp>
      <p:sp>
        <p:nvSpPr>
          <p:cNvPr id="577" name="Google Shape;577;p47"/>
          <p:cNvSpPr txBox="1"/>
          <p:nvPr/>
        </p:nvSpPr>
        <p:spPr>
          <a:xfrm>
            <a:off x="638175" y="389012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8" name="Google Shape;578;p47"/>
          <p:cNvSpPr txBox="1"/>
          <p:nvPr/>
        </p:nvSpPr>
        <p:spPr>
          <a:xfrm>
            <a:off x="762000" y="388917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Wuhan-Hu-1 (Reference)</a:t>
            </a:r>
            <a:endParaRPr/>
          </a:p>
        </p:txBody>
      </p:sp>
      <p:sp>
        <p:nvSpPr>
          <p:cNvPr id="579" name="Google Shape;579;p47"/>
          <p:cNvSpPr txBox="1"/>
          <p:nvPr/>
        </p:nvSpPr>
        <p:spPr>
          <a:xfrm>
            <a:off x="638175" y="433959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0" name="Google Shape;580;p47"/>
          <p:cNvSpPr txBox="1"/>
          <p:nvPr/>
        </p:nvSpPr>
        <p:spPr>
          <a:xfrm>
            <a:off x="762000" y="433863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Alpha (B.1.1.7)</a:t>
            </a:r>
            <a:endParaRPr/>
          </a:p>
        </p:txBody>
      </p:sp>
      <p:sp>
        <p:nvSpPr>
          <p:cNvPr id="581" name="Google Shape;581;p47"/>
          <p:cNvSpPr txBox="1"/>
          <p:nvPr/>
        </p:nvSpPr>
        <p:spPr>
          <a:xfrm>
            <a:off x="638175" y="478905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2" name="Google Shape;582;p47"/>
          <p:cNvSpPr txBox="1"/>
          <p:nvPr/>
        </p:nvSpPr>
        <p:spPr>
          <a:xfrm>
            <a:off x="762000" y="478809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Delta (B.1.617.2)</a:t>
            </a:r>
            <a:endParaRPr/>
          </a:p>
        </p:txBody>
      </p:sp>
      <p:sp>
        <p:nvSpPr>
          <p:cNvPr id="583" name="Google Shape;583;p47"/>
          <p:cNvSpPr txBox="1"/>
          <p:nvPr/>
        </p:nvSpPr>
        <p:spPr>
          <a:xfrm>
            <a:off x="638175" y="523851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4" name="Google Shape;584;p47"/>
          <p:cNvSpPr txBox="1"/>
          <p:nvPr/>
        </p:nvSpPr>
        <p:spPr>
          <a:xfrm>
            <a:off x="762000" y="523755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Omicron (BA.1)</a:t>
            </a:r>
            <a:endParaRPr/>
          </a:p>
        </p:txBody>
      </p:sp>
      <p:sp>
        <p:nvSpPr>
          <p:cNvPr id="585" name="Google Shape;585;p4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Your Scenario</a:t>
            </a:r>
            <a:endParaRPr/>
          </a:p>
        </p:txBody>
      </p:sp>
      <p:sp>
        <p:nvSpPr>
          <p:cNvPr id="586" name="Google Shape;586;p4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8"/>
          <p:cNvSpPr txBox="1"/>
          <p:nvPr/>
        </p:nvSpPr>
        <p:spPr>
          <a:xfrm>
            <a:off x="2738437" y="2742307"/>
            <a:ext cx="771752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will generate a FASTA file containing simplified Spike gene sequences.</a:t>
            </a:r>
            <a:endParaRPr dirty="0"/>
          </a:p>
        </p:txBody>
      </p:sp>
      <p:sp>
        <p:nvSpPr>
          <p:cNvPr id="594" name="Google Shape;594;p4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Create FASTA Data</a:t>
            </a:r>
            <a:endParaRPr/>
          </a:p>
        </p:txBody>
      </p:sp>
      <p:sp>
        <p:nvSpPr>
          <p:cNvPr id="595" name="Google Shape;595;p4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7150" y="4481512"/>
            <a:ext cx="4457700" cy="104001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9"/>
          <p:cNvSpPr txBox="1"/>
          <p:nvPr/>
        </p:nvSpPr>
        <p:spPr>
          <a:xfrm>
            <a:off x="4119562" y="2698551"/>
            <a:ext cx="491510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the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Biostrings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function to load the data.</a:t>
            </a:r>
            <a:endParaRPr dirty="0"/>
          </a:p>
        </p:txBody>
      </p:sp>
      <p:sp>
        <p:nvSpPr>
          <p:cNvPr id="604" name="Google Shape;604;p49"/>
          <p:cNvSpPr txBox="1"/>
          <p:nvPr/>
        </p:nvSpPr>
        <p:spPr>
          <a:xfrm>
            <a:off x="4057650" y="4881562"/>
            <a:ext cx="42672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You should have an object of length 4.</a:t>
            </a:r>
            <a:endParaRPr dirty="0"/>
          </a:p>
        </p:txBody>
      </p:sp>
      <p:sp>
        <p:nvSpPr>
          <p:cNvPr id="605" name="Google Shape;605;p4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Read the FASTA File</a:t>
            </a:r>
            <a:endParaRPr/>
          </a:p>
        </p:txBody>
      </p:sp>
      <p:sp>
        <p:nvSpPr>
          <p:cNvPr id="606" name="Google Shape;606;p4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0"/>
          <p:cNvSpPr txBox="1"/>
          <p:nvPr/>
        </p:nvSpPr>
        <p:spPr>
          <a:xfrm>
            <a:off x="4981574" y="3199507"/>
            <a:ext cx="27908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Inspect your data object.</a:t>
            </a:r>
            <a:endParaRPr dirty="0"/>
          </a:p>
        </p:txBody>
      </p:sp>
      <p:sp>
        <p:nvSpPr>
          <p:cNvPr id="614" name="Google Shape;614;p50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Explore Properties</a:t>
            </a:r>
            <a:endParaRPr/>
          </a:p>
        </p:txBody>
      </p:sp>
      <p:sp>
        <p:nvSpPr>
          <p:cNvPr id="615" name="Google Shape;615;p5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1"/>
          <p:cNvSpPr txBox="1"/>
          <p:nvPr/>
        </p:nvSpPr>
        <p:spPr>
          <a:xfrm>
            <a:off x="3895725" y="2742307"/>
            <a:ext cx="525821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Calculate the percentage of G and C nucleotides.</a:t>
            </a:r>
            <a:endParaRPr dirty="0"/>
          </a:p>
        </p:txBody>
      </p:sp>
      <p:sp>
        <p:nvSpPr>
          <p:cNvPr id="623" name="Google Shape;623;p5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Calculate GC Content</a:t>
            </a:r>
            <a:endParaRPr/>
          </a:p>
        </p:txBody>
      </p:sp>
      <p:sp>
        <p:nvSpPr>
          <p:cNvPr id="624" name="Google Shape;624;p5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2"/>
          <p:cNvSpPr txBox="1"/>
          <p:nvPr/>
        </p:nvSpPr>
        <p:spPr>
          <a:xfrm>
            <a:off x="3605212" y="2641401"/>
            <a:ext cx="592641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Convert the DNA sequences to Amino Acid sequences.</a:t>
            </a:r>
            <a:endParaRPr dirty="0"/>
          </a:p>
        </p:txBody>
      </p:sp>
      <p:sp>
        <p:nvSpPr>
          <p:cNvPr id="632" name="Google Shape;632;p52"/>
          <p:cNvSpPr txBox="1"/>
          <p:nvPr/>
        </p:nvSpPr>
        <p:spPr>
          <a:xfrm>
            <a:off x="2581275" y="5129212"/>
            <a:ext cx="771566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allows us to see if mutations (DNA changes) result in amino acid changes.</a:t>
            </a:r>
            <a:endParaRPr dirty="0"/>
          </a:p>
        </p:txBody>
      </p:sp>
      <p:sp>
        <p:nvSpPr>
          <p:cNvPr id="633" name="Google Shape;633;p5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Translate to Protein</a:t>
            </a: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3"/>
          <p:cNvSpPr txBox="1"/>
          <p:nvPr/>
        </p:nvSpPr>
        <p:spPr>
          <a:xfrm>
            <a:off x="3962399" y="2984301"/>
            <a:ext cx="528099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 a specific nucleotide to see differences.</a:t>
            </a:r>
            <a:endParaRPr dirty="0"/>
          </a:p>
        </p:txBody>
      </p:sp>
      <p:sp>
        <p:nvSpPr>
          <p:cNvPr id="642" name="Google Shape;642;p53"/>
          <p:cNvSpPr txBox="1"/>
          <p:nvPr/>
        </p:nvSpPr>
        <p:spPr>
          <a:xfrm>
            <a:off x="2681287" y="4786312"/>
            <a:ext cx="800327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Does the Omicron variant differ from the Wuhan reference at this position?</a:t>
            </a:r>
            <a:endParaRPr dirty="0"/>
          </a:p>
        </p:txBody>
      </p:sp>
      <p:sp>
        <p:nvSpPr>
          <p:cNvPr id="643" name="Google Shape;643;p5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6: Compare Positions</a:t>
            </a:r>
            <a:endParaRPr/>
          </a:p>
        </p:txBody>
      </p:sp>
      <p:sp>
        <p:nvSpPr>
          <p:cNvPr id="644" name="Google Shape;644;p5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2179290"/>
            <a:ext cx="6858000" cy="255642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4"/>
          <p:cNvSpPr txBox="1"/>
          <p:nvPr/>
        </p:nvSpPr>
        <p:spPr>
          <a:xfrm>
            <a:off x="3115627" y="2769840"/>
            <a:ext cx="596074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9 Complete</a:t>
            </a:r>
            <a:endParaRPr/>
          </a:p>
        </p:txBody>
      </p:sp>
      <p:sp>
        <p:nvSpPr>
          <p:cNvPr id="653" name="Google Shape;653;p54"/>
          <p:cNvSpPr txBox="1"/>
          <p:nvPr/>
        </p:nvSpPr>
        <p:spPr>
          <a:xfrm>
            <a:off x="3257550" y="3665190"/>
            <a:ext cx="5676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have successfully entered the world of Bioconductor!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1338</Words>
  <Application>Microsoft Macintosh PowerPoint</Application>
  <PresentationFormat>Widescreen</PresentationFormat>
  <Paragraphs>242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Lato</vt:lpstr>
      <vt:lpstr>Arial</vt:lpstr>
      <vt:lpstr>Times New Roman</vt:lpstr>
      <vt:lpstr>Lato Light</vt:lpstr>
      <vt:lpstr>Calibri</vt:lpstr>
      <vt:lpstr>Merriweather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15</cp:revision>
  <dcterms:modified xsi:type="dcterms:W3CDTF">2026-01-21T13:00:05Z</dcterms:modified>
</cp:coreProperties>
</file>