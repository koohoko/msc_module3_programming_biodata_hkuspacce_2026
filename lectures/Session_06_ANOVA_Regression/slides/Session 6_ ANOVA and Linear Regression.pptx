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embeddedFontLst>
    <p:embeddedFont>
      <p:font typeface="Fira Code" panose="020B0809050000020004" pitchFamily="49" charset="0"/>
      <p:regular r:id="rId49"/>
      <p:bold r:id="rId50"/>
    </p:embeddedFont>
    <p:embeddedFont>
      <p:font typeface="Lato" panose="020F0502020204030203" pitchFamily="34" charset="0"/>
      <p:regular r:id="rId51"/>
      <p:bold r:id="rId52"/>
      <p:italic r:id="rId53"/>
      <p:boldItalic r:id="rId54"/>
    </p:embeddedFont>
    <p:embeddedFont>
      <p:font typeface="Lato Light" panose="020F0302020204030204" pitchFamily="34" charset="0"/>
      <p:regular r:id="rId55"/>
      <p:bold r:id="rId56"/>
      <p:italic r:id="rId57"/>
      <p:boldItalic r:id="rId58"/>
    </p:embeddedFont>
    <p:embeddedFont>
      <p:font typeface="Merriweather" pitchFamily="2" charset="77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A56AFA1-4DB2-4B34-BA7C-B27E04A537C4}">
  <a:tblStyle styleId="{1A56AFA1-4DB2-4B34-BA7C-B27E04A537C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21"/>
    <p:restoredTop sz="94658"/>
  </p:normalViewPr>
  <p:slideViewPr>
    <p:cSldViewPr snapToGrid="0">
      <p:cViewPr varScale="1">
        <p:scale>
          <a:sx n="91" d="100"/>
          <a:sy n="91" d="100"/>
        </p:scale>
        <p:origin x="216" y="8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font" Target="fonts/font10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1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62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font" Target="fonts/font9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font" Target="fonts/font12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0" name="Google Shape;600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6" name="Google Shape;616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5" name="Google Shape;685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5" name="Google Shape;705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0" name="Google Shape;720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13.png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5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814637" y="1666875"/>
            <a:ext cx="6562725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MODULE 3: PROGRAMMING FOR BIOLOGICAL DATA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650569" y="1994445"/>
            <a:ext cx="6890861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Session 6: ANOVA and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48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 Linear Regression</a:t>
            </a:r>
            <a:endParaRPr/>
          </a:p>
        </p:txBody>
      </p:sp>
      <p:sp>
        <p:nvSpPr>
          <p:cNvPr id="87" name="Google Shape;87;p13"/>
          <p:cNvSpPr/>
          <p:nvPr/>
        </p:nvSpPr>
        <p:spPr>
          <a:xfrm>
            <a:off x="5619750" y="3804195"/>
            <a:ext cx="9525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2485840" y="4180850"/>
            <a:ext cx="722031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64748B"/>
                </a:solidFill>
                <a:latin typeface="Lato Light"/>
                <a:ea typeface="Lato Light"/>
                <a:cs typeface="Lato Light"/>
                <a:sym typeface="Lato Light"/>
              </a:rPr>
              <a:t>Comparing Multiple Groups &amp; Building Calibration Curves</a:t>
            </a:r>
            <a:endParaRPr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2814637" y="4935735"/>
            <a:ext cx="65627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Instructor: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Dr. Haogao Gu | </a:t>
            </a:r>
            <a:r>
              <a:rPr lang="en-US" sz="1350" b="1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Date: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January 21, 2026</a:t>
            </a:r>
            <a:endParaRPr dirty="0"/>
          </a:p>
        </p:txBody>
      </p:sp>
      <p:sp>
        <p:nvSpPr>
          <p:cNvPr id="2" name="Google Shape;88;p13">
            <a:extLst>
              <a:ext uri="{FF2B5EF4-FFF2-40B4-BE49-F238E27FC236}">
                <a16:creationId xmlns:a16="http://schemas.microsoft.com/office/drawing/2014/main" id="{2AA4AE38-D79A-58F7-CF85-0B1E1F95C909}"/>
              </a:ext>
            </a:extLst>
          </p:cNvPr>
          <p:cNvSpPr txBox="1"/>
          <p:nvPr/>
        </p:nvSpPr>
        <p:spPr>
          <a:xfrm>
            <a:off x="1" y="5899412"/>
            <a:ext cx="3193366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FF0000"/>
                </a:solidFill>
                <a:latin typeface="Lato Light"/>
                <a:ea typeface="Lato Light"/>
                <a:cs typeface="Lato Light"/>
                <a:sym typeface="Lato Light"/>
              </a:rPr>
              <a:t>Updated on January 21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11003"/>
            <a:ext cx="2476500" cy="3350418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29000" y="2311003"/>
            <a:ext cx="2476500" cy="3350418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86500" y="2311003"/>
            <a:ext cx="2476500" cy="3350418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0" y="2311003"/>
            <a:ext cx="2476500" cy="335041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819626" y="3320653"/>
            <a:ext cx="198024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ANOVA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866775" y="3911203"/>
            <a:ext cx="1885950" cy="1340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Compare means across multiple groups using Analysis of Variance.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3677126" y="3320653"/>
            <a:ext cx="198024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Post-hoc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3724275" y="3911203"/>
            <a:ext cx="1885950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Identify exactly which groups differ using Tukey HSD.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6534626" y="3320653"/>
            <a:ext cx="198024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Regression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6581775" y="3911203"/>
            <a:ext cx="1885950" cy="1340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Build linear regression models for standard calibration curves.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9392126" y="3320653"/>
            <a:ext cx="198024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Validation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9439275" y="3911203"/>
            <a:ext cx="1885950" cy="1340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Assess model fit using R² and rigorous residual analysis.</a:t>
            </a:r>
            <a:endParaRPr/>
          </a:p>
        </p:txBody>
      </p:sp>
      <p:pic>
        <p:nvPicPr>
          <p:cNvPr id="107" name="Google Shape;107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24000" y="2625328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438650" y="2625328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296150" y="2625328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182225" y="2625328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4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Learning Objectives</a:t>
            </a:r>
            <a:endParaRPr/>
          </a:p>
        </p:txBody>
      </p:sp>
      <p:sp>
        <p:nvSpPr>
          <p:cNvPr id="112" name="Google Shape;112;p14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19486"/>
            <a:ext cx="5286375" cy="3333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644378"/>
            <a:ext cx="5286375" cy="2683668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5"/>
          <p:cNvSpPr txBox="1"/>
          <p:nvPr/>
        </p:nvSpPr>
        <p:spPr>
          <a:xfrm>
            <a:off x="866775" y="2614761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Method Applications</a:t>
            </a:r>
            <a:endParaRPr/>
          </a:p>
        </p:txBody>
      </p:sp>
      <p:graphicFrame>
        <p:nvGraphicFramePr>
          <p:cNvPr id="121" name="Google Shape;121;p15"/>
          <p:cNvGraphicFramePr/>
          <p:nvPr/>
        </p:nvGraphicFramePr>
        <p:xfrm>
          <a:off x="866775" y="3186261"/>
          <a:ext cx="4686275" cy="2171400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1214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1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3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Method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Application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ANOVA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Compare 3+ analyzers, reagent lots, or operators.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Regression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Build calibration curves and verify assay linearity.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2" name="Google Shape;122;p15"/>
          <p:cNvSpPr txBox="1"/>
          <p:nvPr/>
        </p:nvSpPr>
        <p:spPr>
          <a:xfrm>
            <a:off x="6629400" y="2939653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Today's Scenarios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871537" y="3739604"/>
            <a:ext cx="12144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5"/>
          <p:cNvSpPr/>
          <p:nvPr/>
        </p:nvSpPr>
        <p:spPr>
          <a:xfrm>
            <a:off x="2085975" y="3739604"/>
            <a:ext cx="34718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6696075" y="3464480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819900" y="3463528"/>
            <a:ext cx="45053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Scenario 1: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Are our three chemistry analyzers giving consistent results?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6696075" y="4249102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6819900" y="4248150"/>
            <a:ext cx="45053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Scenario 2: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Is our assay linear across the reportable range according to CLSI EP06?</a:t>
            </a:r>
            <a:endParaRPr/>
          </a:p>
        </p:txBody>
      </p:sp>
      <p:sp>
        <p:nvSpPr>
          <p:cNvPr id="129" name="Google Shape;129;p15"/>
          <p:cNvSpPr/>
          <p:nvPr/>
        </p:nvSpPr>
        <p:spPr>
          <a:xfrm>
            <a:off x="871537" y="4541490"/>
            <a:ext cx="12144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5"/>
          <p:cNvSpPr/>
          <p:nvPr/>
        </p:nvSpPr>
        <p:spPr>
          <a:xfrm>
            <a:off x="2085975" y="4541490"/>
            <a:ext cx="34718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Clinical Context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69715"/>
            <a:ext cx="11049000" cy="331842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6"/>
          <p:cNvSpPr txBox="1"/>
          <p:nvPr/>
        </p:nvSpPr>
        <p:spPr>
          <a:xfrm>
            <a:off x="915352" y="2360265"/>
            <a:ext cx="10361295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Part 1: Analysis of Variance (ANOVA)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1162050" y="4017615"/>
            <a:ext cx="98679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Comparing Means Across Multiple Groups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7"/>
          <p:cNvSpPr txBox="1"/>
          <p:nvPr/>
        </p:nvSpPr>
        <p:spPr>
          <a:xfrm>
            <a:off x="571500" y="2858541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The Right Test for the Job</a:t>
            </a:r>
            <a:endParaRPr/>
          </a:p>
        </p:txBody>
      </p:sp>
      <p:graphicFrame>
        <p:nvGraphicFramePr>
          <p:cNvPr id="147" name="Google Shape;147;p17"/>
          <p:cNvGraphicFramePr/>
          <p:nvPr/>
        </p:nvGraphicFramePr>
        <p:xfrm>
          <a:off x="571500" y="3430041"/>
          <a:ext cx="5276850" cy="1683825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289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Scenario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Statistical Test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Compare </a:t>
                      </a: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groups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T-test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Compare </a:t>
                      </a: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3+</a:t>
                      </a: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groups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ANOVA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8" name="Google Shape;148;p17"/>
          <p:cNvSpPr txBox="1"/>
          <p:nvPr/>
        </p:nvSpPr>
        <p:spPr>
          <a:xfrm>
            <a:off x="6334125" y="2624435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⚠️ Warning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6334125" y="3214985"/>
            <a:ext cx="5286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Running multiple t-tests inflates the false positive rate!</a:t>
            </a:r>
            <a:endParaRPr/>
          </a:p>
        </p:txBody>
      </p:sp>
      <p:sp>
        <p:nvSpPr>
          <p:cNvPr id="150" name="Google Shape;150;p17"/>
          <p:cNvSpPr/>
          <p:nvPr/>
        </p:nvSpPr>
        <p:spPr>
          <a:xfrm>
            <a:off x="576262" y="3983384"/>
            <a:ext cx="289753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3473797" y="3983384"/>
            <a:ext cx="237931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6400800" y="3665398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6524625" y="3664446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Comparing 3 groups requires 3 separate t-tests.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6400800" y="4114859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6524625" y="4113907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This leads to a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~14% chance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of finding a false difference.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6400800" y="4899481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6524625" y="4898528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ANOVA controls this error by testing all at once.</a:t>
            </a:r>
            <a:endParaRPr/>
          </a:p>
        </p:txBody>
      </p:sp>
      <p:sp>
        <p:nvSpPr>
          <p:cNvPr id="158" name="Google Shape;158;p17"/>
          <p:cNvSpPr/>
          <p:nvPr/>
        </p:nvSpPr>
        <p:spPr>
          <a:xfrm>
            <a:off x="576262" y="4541490"/>
            <a:ext cx="289753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3473797" y="4541490"/>
            <a:ext cx="237931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When to Use ANOVA</a:t>
            </a:r>
            <a:endParaRPr/>
          </a:p>
        </p:txBody>
      </p:sp>
      <p:sp>
        <p:nvSpPr>
          <p:cNvPr id="161" name="Google Shape;161;p17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23479"/>
            <a:ext cx="5286375" cy="3725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84214"/>
            <a:ext cx="5286375" cy="3403996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8"/>
          <p:cNvSpPr txBox="1"/>
          <p:nvPr/>
        </p:nvSpPr>
        <p:spPr>
          <a:xfrm>
            <a:off x="866775" y="2418754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The Setup</a:t>
            </a:r>
            <a:endParaRPr/>
          </a:p>
        </p:txBody>
      </p:sp>
      <p:sp>
        <p:nvSpPr>
          <p:cNvPr id="170" name="Google Shape;170;p18"/>
          <p:cNvSpPr txBox="1"/>
          <p:nvPr/>
        </p:nvSpPr>
        <p:spPr>
          <a:xfrm>
            <a:off x="866775" y="3009304"/>
            <a:ext cx="4895850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Your lab has </a:t>
            </a:r>
            <a:r>
              <a:rPr lang="en-US" sz="1650" b="1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three chemistry analyzers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A, B, and C.</a:t>
            </a:r>
            <a:endParaRPr dirty="0"/>
          </a:p>
        </p:txBody>
      </p:sp>
      <p:sp>
        <p:nvSpPr>
          <p:cNvPr id="171" name="Google Shape;171;p18"/>
          <p:cNvSpPr txBox="1"/>
          <p:nvPr/>
        </p:nvSpPr>
        <p:spPr>
          <a:xfrm>
            <a:off x="866775" y="3889176"/>
            <a:ext cx="46958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You run the same glucose QC material 10 times on each instrument.</a:t>
            </a:r>
            <a:endParaRPr dirty="0"/>
          </a:p>
        </p:txBody>
      </p:sp>
      <p:sp>
        <p:nvSpPr>
          <p:cNvPr id="172" name="Google Shape;172;p18"/>
          <p:cNvSpPr txBox="1"/>
          <p:nvPr/>
        </p:nvSpPr>
        <p:spPr>
          <a:xfrm>
            <a:off x="866775" y="4769048"/>
            <a:ext cx="46958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Question: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Are all three analyzers calibrated correctly?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6629400" y="2579489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Preliminary Data</a:t>
            </a:r>
            <a:endParaRPr/>
          </a:p>
        </p:txBody>
      </p:sp>
      <p:graphicFrame>
        <p:nvGraphicFramePr>
          <p:cNvPr id="174" name="Google Shape;174;p18"/>
          <p:cNvGraphicFramePr/>
          <p:nvPr>
            <p:extLst>
              <p:ext uri="{D42A27DB-BD31-4B8C-83A1-F6EECF244321}">
                <p14:modId xmlns:p14="http://schemas.microsoft.com/office/powerpoint/2010/main" val="3222171675"/>
              </p:ext>
            </p:extLst>
          </p:nvPr>
        </p:nvGraphicFramePr>
        <p:xfrm>
          <a:off x="6629400" y="3150989"/>
          <a:ext cx="4686300" cy="2241925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1597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0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Analyzer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Mean Glucose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102.3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1.4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96.9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2.1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106.1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1.6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5" name="Google Shape;175;p18"/>
          <p:cNvSpPr/>
          <p:nvPr/>
        </p:nvSpPr>
        <p:spPr>
          <a:xfrm>
            <a:off x="6634162" y="3704332"/>
            <a:ext cx="159722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8231385" y="3704332"/>
            <a:ext cx="211082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10342215" y="3704332"/>
            <a:ext cx="97824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6634162" y="4262437"/>
            <a:ext cx="159722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8231385" y="4262437"/>
            <a:ext cx="211082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10342215" y="4262437"/>
            <a:ext cx="97824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6634162" y="4820542"/>
            <a:ext cx="159722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8231385" y="4820542"/>
            <a:ext cx="211082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10342215" y="4820542"/>
            <a:ext cx="97824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Scenario: Analyzer Comparison</a:t>
            </a: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43087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571500" y="4693146"/>
            <a:ext cx="52863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Visual inspection: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The boxplot clearly suggests that the analyzers are producing different results, with C being notably higher.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Visualizing with Boxplots</a:t>
            </a:r>
            <a:endParaRPr/>
          </a:p>
        </p:txBody>
      </p:sp>
      <p:sp>
        <p:nvSpPr>
          <p:cNvPr id="195" name="Google Shape;195;p19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5665B6-5B9D-1021-194D-34C2D922C9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7062" y="1162050"/>
            <a:ext cx="5760500" cy="55422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35771"/>
            <a:ext cx="5286375" cy="2300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3009304"/>
            <a:ext cx="5286375" cy="195381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866775" y="3131046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The F-Statistic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866775" y="3721596"/>
            <a:ext cx="469582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ANOVA compares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between-group variance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(differences between analyzers) to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within-group variance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(precision error).</a:t>
            </a:r>
            <a:endParaRPr/>
          </a:p>
        </p:txBody>
      </p:sp>
      <p:pic>
        <p:nvPicPr>
          <p:cNvPr id="205" name="Google Shape;20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29400" y="3304579"/>
            <a:ext cx="4695825" cy="55751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0"/>
          <p:cNvSpPr txBox="1"/>
          <p:nvPr/>
        </p:nvSpPr>
        <p:spPr>
          <a:xfrm>
            <a:off x="6629400" y="4004964"/>
            <a:ext cx="46958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Large F = Groups are different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Small F = Groups are similar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How ANOVA Works</a:t>
            </a:r>
            <a:endParaRPr/>
          </a:p>
        </p:txBody>
      </p:sp>
      <p:sp>
        <p:nvSpPr>
          <p:cNvPr id="208" name="Google Shape;208;p20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96220"/>
            <a:ext cx="5286375" cy="17798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898576"/>
            <a:ext cx="5286375" cy="2175271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1"/>
          <p:cNvSpPr txBox="1"/>
          <p:nvPr/>
        </p:nvSpPr>
        <p:spPr>
          <a:xfrm>
            <a:off x="904875" y="3391495"/>
            <a:ext cx="4890611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Null Hypothesis (H₀)</a:t>
            </a:r>
            <a:endParaRPr/>
          </a:p>
        </p:txBody>
      </p:sp>
      <p:sp>
        <p:nvSpPr>
          <p:cNvPr id="217" name="Google Shape;217;p21"/>
          <p:cNvSpPr txBox="1"/>
          <p:nvPr/>
        </p:nvSpPr>
        <p:spPr>
          <a:xfrm>
            <a:off x="904875" y="3982045"/>
            <a:ext cx="46577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All group means are equal.</a:t>
            </a:r>
            <a:endParaRPr/>
          </a:p>
        </p:txBody>
      </p:sp>
      <p:pic>
        <p:nvPicPr>
          <p:cNvPr id="218" name="Google Shape;218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4875" y="4431506"/>
            <a:ext cx="4657725" cy="14927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1"/>
          <p:cNvSpPr txBox="1"/>
          <p:nvPr/>
        </p:nvSpPr>
        <p:spPr>
          <a:xfrm>
            <a:off x="6667500" y="3193851"/>
            <a:ext cx="4890611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Alternative Hypothesis (H₁)</a:t>
            </a:r>
            <a:endParaRPr/>
          </a:p>
        </p:txBody>
      </p:sp>
      <p:sp>
        <p:nvSpPr>
          <p:cNvPr id="220" name="Google Shape;220;p21"/>
          <p:cNvSpPr txBox="1"/>
          <p:nvPr/>
        </p:nvSpPr>
        <p:spPr>
          <a:xfrm>
            <a:off x="6667500" y="3784401"/>
            <a:ext cx="46577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At least one mean differs from the others.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6667500" y="4329112"/>
            <a:ext cx="46577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Decision Rule: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If p &lt; 0.05, we reject H₀.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ANOVA Hypotheses</a:t>
            </a:r>
            <a:endParaRPr/>
          </a:p>
        </p:txBody>
      </p:sp>
      <p:sp>
        <p:nvSpPr>
          <p:cNvPr id="223" name="Google Shape;223;p21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2"/>
          <p:cNvSpPr txBox="1"/>
          <p:nvPr/>
        </p:nvSpPr>
        <p:spPr>
          <a:xfrm>
            <a:off x="571500" y="2790825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R Code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6334125" y="3019425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Output</a:t>
            </a:r>
            <a:endParaRPr/>
          </a:p>
        </p:txBody>
      </p:sp>
      <p:sp>
        <p:nvSpPr>
          <p:cNvPr id="231" name="Google Shape;231;p22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ANOVA in R</a:t>
            </a:r>
            <a:endParaRPr/>
          </a:p>
        </p:txBody>
      </p:sp>
      <p:sp>
        <p:nvSpPr>
          <p:cNvPr id="232" name="Google Shape;232;p22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ED6D32-502A-1757-7870-050DAE475D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8464" y="3546229"/>
            <a:ext cx="6826657" cy="12869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8" name="Google Shape;238;p23"/>
          <p:cNvGraphicFramePr/>
          <p:nvPr/>
        </p:nvGraphicFramePr>
        <p:xfrm>
          <a:off x="571500" y="2082403"/>
          <a:ext cx="11039475" cy="3358200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2436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0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Column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Meaning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Degrees of freedom (Groups - 1)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Sum Sq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Sum of squares (total variance explained)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Mean Sq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Mean square = Sum Sq / Df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 value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Test statistic (Variance Ratio)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Pr(&gt;F)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P-value</a:t>
                      </a: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(The probability of this result if H₀ is true)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9" name="Google Shape;239;p23"/>
          <p:cNvSpPr txBox="1"/>
          <p:nvPr/>
        </p:nvSpPr>
        <p:spPr>
          <a:xfrm>
            <a:off x="3633787" y="5631060"/>
            <a:ext cx="49244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 &lt; 0.05 → At least one analyzer differs significantly.</a:t>
            </a:r>
            <a:endParaRPr/>
          </a:p>
        </p:txBody>
      </p:sp>
      <p:sp>
        <p:nvSpPr>
          <p:cNvPr id="240" name="Google Shape;240;p23"/>
          <p:cNvSpPr/>
          <p:nvPr/>
        </p:nvSpPr>
        <p:spPr>
          <a:xfrm>
            <a:off x="576262" y="2635746"/>
            <a:ext cx="24364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/>
          <p:nvPr/>
        </p:nvSpPr>
        <p:spPr>
          <a:xfrm>
            <a:off x="3012727" y="2635746"/>
            <a:ext cx="86030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3"/>
          <p:cNvSpPr/>
          <p:nvPr/>
        </p:nvSpPr>
        <p:spPr>
          <a:xfrm>
            <a:off x="576262" y="3193851"/>
            <a:ext cx="24364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3"/>
          <p:cNvSpPr/>
          <p:nvPr/>
        </p:nvSpPr>
        <p:spPr>
          <a:xfrm>
            <a:off x="3012727" y="3193851"/>
            <a:ext cx="86030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/>
          <p:nvPr/>
        </p:nvSpPr>
        <p:spPr>
          <a:xfrm>
            <a:off x="576262" y="3751957"/>
            <a:ext cx="24364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3"/>
          <p:cNvSpPr/>
          <p:nvPr/>
        </p:nvSpPr>
        <p:spPr>
          <a:xfrm>
            <a:off x="3012727" y="3751957"/>
            <a:ext cx="86030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3"/>
          <p:cNvSpPr/>
          <p:nvPr/>
        </p:nvSpPr>
        <p:spPr>
          <a:xfrm>
            <a:off x="576262" y="4310062"/>
            <a:ext cx="24364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3012727" y="4310062"/>
            <a:ext cx="86030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576262" y="4868167"/>
            <a:ext cx="24364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3012727" y="4868167"/>
            <a:ext cx="86030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Interpreting the ANOVA Table</a:t>
            </a:r>
            <a:endParaRPr/>
          </a:p>
        </p:txBody>
      </p:sp>
      <p:sp>
        <p:nvSpPr>
          <p:cNvPr id="251" name="Google Shape;251;p23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4"/>
          <p:cNvSpPr txBox="1"/>
          <p:nvPr/>
        </p:nvSpPr>
        <p:spPr>
          <a:xfrm>
            <a:off x="571500" y="3155602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1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 "ANOVA tells us that 'something' is different, but it doesn't tell us 'what' is different." </a:t>
            </a:r>
            <a:endParaRPr/>
          </a:p>
        </p:txBody>
      </p:sp>
      <p:sp>
        <p:nvSpPr>
          <p:cNvPr id="258" name="Google Shape;258;p24"/>
          <p:cNvSpPr txBox="1"/>
          <p:nvPr/>
        </p:nvSpPr>
        <p:spPr>
          <a:xfrm>
            <a:off x="571500" y="4336702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To find the specific culprit, we need a </a:t>
            </a:r>
            <a:r>
              <a:rPr lang="en-US" sz="1800" b="1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post-hoc test</a:t>
            </a:r>
            <a:r>
              <a:rPr lang="en-US" sz="1800" b="0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59" name="Google Shape;259;p24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The Problem</a:t>
            </a:r>
            <a:endParaRPr/>
          </a:p>
        </p:txBody>
      </p:sp>
      <p:sp>
        <p:nvSpPr>
          <p:cNvPr id="260" name="Google Shape;260;p24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63415"/>
            <a:ext cx="5286375" cy="28455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996678"/>
            <a:ext cx="5286375" cy="3979068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5"/>
          <p:cNvSpPr txBox="1"/>
          <p:nvPr/>
        </p:nvSpPr>
        <p:spPr>
          <a:xfrm>
            <a:off x="866775" y="2858690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Purpose</a:t>
            </a:r>
            <a:endParaRPr/>
          </a:p>
        </p:txBody>
      </p:sp>
      <p:sp>
        <p:nvSpPr>
          <p:cNvPr id="269" name="Google Shape;269;p25"/>
          <p:cNvSpPr txBox="1"/>
          <p:nvPr/>
        </p:nvSpPr>
        <p:spPr>
          <a:xfrm>
            <a:off x="866775" y="3449240"/>
            <a:ext cx="46958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Perform pairwise comparisons after a significant ANOVA to identify exactly which groups differ.</a:t>
            </a:r>
            <a:endParaRPr/>
          </a:p>
        </p:txBody>
      </p:sp>
      <p:sp>
        <p:nvSpPr>
          <p:cNvPr id="270" name="Google Shape;270;p25"/>
          <p:cNvSpPr txBox="1"/>
          <p:nvPr/>
        </p:nvSpPr>
        <p:spPr>
          <a:xfrm>
            <a:off x="866775" y="4329112"/>
            <a:ext cx="46958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It controls for the increased error rate of multiple testing.</a:t>
            </a:r>
            <a:endParaRPr/>
          </a:p>
        </p:txBody>
      </p:sp>
      <p:sp>
        <p:nvSpPr>
          <p:cNvPr id="271" name="Google Shape;271;p25"/>
          <p:cNvSpPr txBox="1"/>
          <p:nvPr/>
        </p:nvSpPr>
        <p:spPr>
          <a:xfrm>
            <a:off x="6629400" y="2291953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R Code</a:t>
            </a:r>
            <a:endParaRPr/>
          </a:p>
        </p:txBody>
      </p:sp>
      <p:sp>
        <p:nvSpPr>
          <p:cNvPr id="272" name="Google Shape;272;p25"/>
          <p:cNvSpPr txBox="1"/>
          <p:nvPr/>
        </p:nvSpPr>
        <p:spPr>
          <a:xfrm>
            <a:off x="6629400" y="3882628"/>
            <a:ext cx="4695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This compares:</a:t>
            </a:r>
            <a:endParaRPr/>
          </a:p>
        </p:txBody>
      </p:sp>
      <p:sp>
        <p:nvSpPr>
          <p:cNvPr id="273" name="Google Shape;273;p25"/>
          <p:cNvSpPr txBox="1"/>
          <p:nvPr/>
        </p:nvSpPr>
        <p:spPr>
          <a:xfrm>
            <a:off x="6696075" y="4333041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74" name="Google Shape;274;p25"/>
          <p:cNvSpPr txBox="1"/>
          <p:nvPr/>
        </p:nvSpPr>
        <p:spPr>
          <a:xfrm>
            <a:off x="6819900" y="4332089"/>
            <a:ext cx="4505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vs B</a:t>
            </a:r>
            <a:endParaRPr/>
          </a:p>
        </p:txBody>
      </p:sp>
      <p:sp>
        <p:nvSpPr>
          <p:cNvPr id="275" name="Google Shape;275;p25"/>
          <p:cNvSpPr txBox="1"/>
          <p:nvPr/>
        </p:nvSpPr>
        <p:spPr>
          <a:xfrm>
            <a:off x="6696075" y="4782502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76" name="Google Shape;276;p25"/>
          <p:cNvSpPr txBox="1"/>
          <p:nvPr/>
        </p:nvSpPr>
        <p:spPr>
          <a:xfrm>
            <a:off x="6819900" y="4781550"/>
            <a:ext cx="4505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vs C</a:t>
            </a:r>
            <a:endParaRPr/>
          </a:p>
        </p:txBody>
      </p:sp>
      <p:sp>
        <p:nvSpPr>
          <p:cNvPr id="277" name="Google Shape;277;p25"/>
          <p:cNvSpPr txBox="1"/>
          <p:nvPr/>
        </p:nvSpPr>
        <p:spPr>
          <a:xfrm>
            <a:off x="6696075" y="5231963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78" name="Google Shape;278;p25"/>
          <p:cNvSpPr txBox="1"/>
          <p:nvPr/>
        </p:nvSpPr>
        <p:spPr>
          <a:xfrm>
            <a:off x="6819900" y="5231010"/>
            <a:ext cx="4505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 vs C</a:t>
            </a:r>
            <a:endParaRPr/>
          </a:p>
        </p:txBody>
      </p:sp>
      <p:sp>
        <p:nvSpPr>
          <p:cNvPr id="279" name="Google Shape;279;p25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Tukey's Honest Significant Difference</a:t>
            </a:r>
            <a:endParaRPr/>
          </a:p>
        </p:txBody>
      </p:sp>
      <p:sp>
        <p:nvSpPr>
          <p:cNvPr id="280" name="Google Shape;280;p25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86" name="Google Shape;286;p26"/>
          <p:cNvGraphicFramePr/>
          <p:nvPr/>
        </p:nvGraphicFramePr>
        <p:xfrm>
          <a:off x="571500" y="3712964"/>
          <a:ext cx="11039475" cy="2241925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259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42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Column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Meaning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diff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Difference between group means.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lwr, upr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95% Confidence Interval of the difference.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 adj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Adjusted p-value.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7" name="Google Shape;287;p26"/>
          <p:cNvSpPr/>
          <p:nvPr/>
        </p:nvSpPr>
        <p:spPr>
          <a:xfrm>
            <a:off x="576262" y="4266307"/>
            <a:ext cx="259675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6"/>
          <p:cNvSpPr/>
          <p:nvPr/>
        </p:nvSpPr>
        <p:spPr>
          <a:xfrm>
            <a:off x="3173015" y="4266307"/>
            <a:ext cx="844272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6"/>
          <p:cNvSpPr/>
          <p:nvPr/>
        </p:nvSpPr>
        <p:spPr>
          <a:xfrm>
            <a:off x="576262" y="4824412"/>
            <a:ext cx="259675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6"/>
          <p:cNvSpPr/>
          <p:nvPr/>
        </p:nvSpPr>
        <p:spPr>
          <a:xfrm>
            <a:off x="3173015" y="4824412"/>
            <a:ext cx="844272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6"/>
          <p:cNvSpPr/>
          <p:nvPr/>
        </p:nvSpPr>
        <p:spPr>
          <a:xfrm>
            <a:off x="576262" y="5382517"/>
            <a:ext cx="259675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6"/>
          <p:cNvSpPr/>
          <p:nvPr/>
        </p:nvSpPr>
        <p:spPr>
          <a:xfrm>
            <a:off x="3173015" y="5382517"/>
            <a:ext cx="844272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6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Reading Tukey Output</a:t>
            </a:r>
            <a:endParaRPr/>
          </a:p>
        </p:txBody>
      </p:sp>
      <p:sp>
        <p:nvSpPr>
          <p:cNvPr id="294" name="Google Shape;294;p26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44A3A02-9FD2-E2AB-62B7-D7D69A4615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328433"/>
            <a:ext cx="6427763" cy="236102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43087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7"/>
          <p:cNvSpPr txBox="1"/>
          <p:nvPr/>
        </p:nvSpPr>
        <p:spPr>
          <a:xfrm>
            <a:off x="571500" y="3333154"/>
            <a:ext cx="5286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Interpretation:</a:t>
            </a:r>
            <a:endParaRPr/>
          </a:p>
        </p:txBody>
      </p:sp>
      <p:pic>
        <p:nvPicPr>
          <p:cNvPr id="302" name="Google Shape;302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843087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7"/>
          <p:cNvSpPr txBox="1"/>
          <p:nvPr/>
        </p:nvSpPr>
        <p:spPr>
          <a:xfrm>
            <a:off x="638175" y="3783568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04" name="Google Shape;304;p27"/>
          <p:cNvSpPr txBox="1"/>
          <p:nvPr/>
        </p:nvSpPr>
        <p:spPr>
          <a:xfrm>
            <a:off x="762000" y="3782615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lines represent Confidence Intervals.</a:t>
            </a:r>
            <a:endParaRPr/>
          </a:p>
        </p:txBody>
      </p:sp>
      <p:sp>
        <p:nvSpPr>
          <p:cNvPr id="305" name="Google Shape;305;p27"/>
          <p:cNvSpPr txBox="1"/>
          <p:nvPr/>
        </p:nvSpPr>
        <p:spPr>
          <a:xfrm>
            <a:off x="638175" y="4233029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06" name="Google Shape;306;p27"/>
          <p:cNvSpPr txBox="1"/>
          <p:nvPr/>
        </p:nvSpPr>
        <p:spPr>
          <a:xfrm>
            <a:off x="762000" y="4232076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If an interval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crosses zero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, the difference is NOT significant.</a:t>
            </a:r>
            <a:endParaRPr/>
          </a:p>
        </p:txBody>
      </p:sp>
      <p:sp>
        <p:nvSpPr>
          <p:cNvPr id="307" name="Google Shape;307;p27"/>
          <p:cNvSpPr txBox="1"/>
          <p:nvPr/>
        </p:nvSpPr>
        <p:spPr>
          <a:xfrm>
            <a:off x="638175" y="5017650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762000" y="5016698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Here, all intervals are far from zero, indicating significant differences for all pairs.</a:t>
            </a:r>
            <a:endParaRPr/>
          </a:p>
        </p:txBody>
      </p:sp>
      <p:sp>
        <p:nvSpPr>
          <p:cNvPr id="309" name="Google Shape;309;p27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Tukey Plot</a:t>
            </a:r>
            <a:endParaRPr/>
          </a:p>
        </p:txBody>
      </p:sp>
      <p:sp>
        <p:nvSpPr>
          <p:cNvPr id="310" name="Google Shape;310;p27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02BFAED-6954-FCE8-79FF-0B151871DA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7050" y="183554"/>
            <a:ext cx="6565900" cy="629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Google Shape;315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8"/>
          <p:cNvSpPr txBox="1"/>
          <p:nvPr/>
        </p:nvSpPr>
        <p:spPr>
          <a:xfrm>
            <a:off x="3933825" y="2650033"/>
            <a:ext cx="5116390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Based on the statistical findings, we take action:</a:t>
            </a:r>
            <a:endParaRPr dirty="0"/>
          </a:p>
        </p:txBody>
      </p:sp>
      <p:graphicFrame>
        <p:nvGraphicFramePr>
          <p:cNvPr id="317" name="Google Shape;317;p28"/>
          <p:cNvGraphicFramePr/>
          <p:nvPr>
            <p:extLst>
              <p:ext uri="{D42A27DB-BD31-4B8C-83A1-F6EECF244321}">
                <p14:modId xmlns:p14="http://schemas.microsoft.com/office/powerpoint/2010/main" val="2922709703"/>
              </p:ext>
            </p:extLst>
          </p:nvPr>
        </p:nvGraphicFramePr>
        <p:xfrm>
          <a:off x="571500" y="3289994"/>
          <a:ext cx="11039475" cy="2241925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2352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4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Comparison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Difference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Significant?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 vs 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-7.3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Yes ⚠️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Recalibrate B (reading low)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 vs 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+1.9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Yes ⚠️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Recalibrate C (reading high)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 vs B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+7.3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Yes ⚠️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Major discrepancy detected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8" name="Google Shape;318;p28"/>
          <p:cNvSpPr/>
          <p:nvPr/>
        </p:nvSpPr>
        <p:spPr>
          <a:xfrm>
            <a:off x="576262" y="3843337"/>
            <a:ext cx="235297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8"/>
          <p:cNvSpPr/>
          <p:nvPr/>
        </p:nvSpPr>
        <p:spPr>
          <a:xfrm>
            <a:off x="2929235" y="3843337"/>
            <a:ext cx="222185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8"/>
          <p:cNvSpPr/>
          <p:nvPr/>
        </p:nvSpPr>
        <p:spPr>
          <a:xfrm>
            <a:off x="5151090" y="3843337"/>
            <a:ext cx="22742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>
            <a:off x="7425332" y="3843337"/>
            <a:ext cx="41904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8"/>
          <p:cNvSpPr/>
          <p:nvPr/>
        </p:nvSpPr>
        <p:spPr>
          <a:xfrm>
            <a:off x="576262" y="4401442"/>
            <a:ext cx="235297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8"/>
          <p:cNvSpPr/>
          <p:nvPr/>
        </p:nvSpPr>
        <p:spPr>
          <a:xfrm>
            <a:off x="2929235" y="4401442"/>
            <a:ext cx="222185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8"/>
          <p:cNvSpPr/>
          <p:nvPr/>
        </p:nvSpPr>
        <p:spPr>
          <a:xfrm>
            <a:off x="5151090" y="4401442"/>
            <a:ext cx="22742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8"/>
          <p:cNvSpPr/>
          <p:nvPr/>
        </p:nvSpPr>
        <p:spPr>
          <a:xfrm>
            <a:off x="7425332" y="4401442"/>
            <a:ext cx="41904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8"/>
          <p:cNvSpPr/>
          <p:nvPr/>
        </p:nvSpPr>
        <p:spPr>
          <a:xfrm>
            <a:off x="576262" y="4959548"/>
            <a:ext cx="235297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8"/>
          <p:cNvSpPr/>
          <p:nvPr/>
        </p:nvSpPr>
        <p:spPr>
          <a:xfrm>
            <a:off x="2929235" y="4959548"/>
            <a:ext cx="222185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8"/>
          <p:cNvSpPr/>
          <p:nvPr/>
        </p:nvSpPr>
        <p:spPr>
          <a:xfrm>
            <a:off x="5151090" y="4959548"/>
            <a:ext cx="22742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8"/>
          <p:cNvSpPr/>
          <p:nvPr/>
        </p:nvSpPr>
        <p:spPr>
          <a:xfrm>
            <a:off x="7425332" y="4959548"/>
            <a:ext cx="41904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8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Clinical Action Items</a:t>
            </a:r>
            <a:endParaRPr/>
          </a:p>
        </p:txBody>
      </p:sp>
      <p:sp>
        <p:nvSpPr>
          <p:cNvPr id="331" name="Google Shape;331;p28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46139"/>
            <a:ext cx="3448050" cy="308014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00550" y="2446139"/>
            <a:ext cx="3419475" cy="308014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201025" y="2446139"/>
            <a:ext cx="3419475" cy="3080146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9"/>
          <p:cNvSpPr txBox="1"/>
          <p:nvPr/>
        </p:nvSpPr>
        <p:spPr>
          <a:xfrm>
            <a:off x="866775" y="2741414"/>
            <a:ext cx="285750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B82F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r>
            <a:endParaRPr/>
          </a:p>
        </p:txBody>
      </p:sp>
      <p:sp>
        <p:nvSpPr>
          <p:cNvPr id="341" name="Google Shape;341;p29"/>
          <p:cNvSpPr txBox="1"/>
          <p:nvPr/>
        </p:nvSpPr>
        <p:spPr>
          <a:xfrm>
            <a:off x="795337" y="3455789"/>
            <a:ext cx="300037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Normality</a:t>
            </a:r>
            <a:endParaRPr/>
          </a:p>
        </p:txBody>
      </p:sp>
      <p:sp>
        <p:nvSpPr>
          <p:cNvPr id="342" name="Google Shape;342;p29"/>
          <p:cNvSpPr txBox="1"/>
          <p:nvPr/>
        </p:nvSpPr>
        <p:spPr>
          <a:xfrm>
            <a:off x="866775" y="4046339"/>
            <a:ext cx="2857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Residuals should be normally distributed.</a:t>
            </a:r>
            <a:endParaRPr/>
          </a:p>
        </p:txBody>
      </p:sp>
      <p:sp>
        <p:nvSpPr>
          <p:cNvPr id="343" name="Google Shape;343;p29"/>
          <p:cNvSpPr txBox="1"/>
          <p:nvPr/>
        </p:nvSpPr>
        <p:spPr>
          <a:xfrm>
            <a:off x="4695825" y="2741414"/>
            <a:ext cx="28289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B82F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/>
          </a:p>
        </p:txBody>
      </p:sp>
      <p:sp>
        <p:nvSpPr>
          <p:cNvPr id="344" name="Google Shape;344;p29"/>
          <p:cNvSpPr txBox="1"/>
          <p:nvPr/>
        </p:nvSpPr>
        <p:spPr>
          <a:xfrm>
            <a:off x="4625101" y="3455789"/>
            <a:ext cx="2970371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Homogeneity</a:t>
            </a:r>
            <a:endParaRPr/>
          </a:p>
        </p:txBody>
      </p:sp>
      <p:sp>
        <p:nvSpPr>
          <p:cNvPr id="345" name="Google Shape;345;p29"/>
          <p:cNvSpPr txBox="1"/>
          <p:nvPr/>
        </p:nvSpPr>
        <p:spPr>
          <a:xfrm>
            <a:off x="4695825" y="4046339"/>
            <a:ext cx="28289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Variances should be equal across groups.</a:t>
            </a:r>
            <a:endParaRPr/>
          </a:p>
        </p:txBody>
      </p:sp>
      <p:sp>
        <p:nvSpPr>
          <p:cNvPr id="346" name="Google Shape;346;p29"/>
          <p:cNvSpPr txBox="1"/>
          <p:nvPr/>
        </p:nvSpPr>
        <p:spPr>
          <a:xfrm>
            <a:off x="8496300" y="2741414"/>
            <a:ext cx="28289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B82F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/>
          </a:p>
        </p:txBody>
      </p:sp>
      <p:sp>
        <p:nvSpPr>
          <p:cNvPr id="347" name="Google Shape;347;p29"/>
          <p:cNvSpPr txBox="1"/>
          <p:nvPr/>
        </p:nvSpPr>
        <p:spPr>
          <a:xfrm>
            <a:off x="8425576" y="3455789"/>
            <a:ext cx="2970371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Independence</a:t>
            </a:r>
            <a:endParaRPr/>
          </a:p>
        </p:txBody>
      </p:sp>
      <p:sp>
        <p:nvSpPr>
          <p:cNvPr id="348" name="Google Shape;348;p29"/>
          <p:cNvSpPr txBox="1"/>
          <p:nvPr/>
        </p:nvSpPr>
        <p:spPr>
          <a:xfrm>
            <a:off x="8496300" y="4046339"/>
            <a:ext cx="28289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Observations must be independent of each other.</a:t>
            </a:r>
            <a:endParaRPr/>
          </a:p>
        </p:txBody>
      </p:sp>
      <p:sp>
        <p:nvSpPr>
          <p:cNvPr id="349" name="Google Shape;349;p29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Checking ANOVA Assumptions</a:t>
            </a:r>
            <a:endParaRPr/>
          </a:p>
        </p:txBody>
      </p:sp>
      <p:sp>
        <p:nvSpPr>
          <p:cNvPr id="350" name="Google Shape;350;p29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5" name="Google Shape;355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69715"/>
            <a:ext cx="11049000" cy="331842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30"/>
          <p:cNvSpPr txBox="1"/>
          <p:nvPr/>
        </p:nvSpPr>
        <p:spPr>
          <a:xfrm>
            <a:off x="915352" y="2360265"/>
            <a:ext cx="10361295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Part 2: Linear Regression &amp; Calibration</a:t>
            </a:r>
            <a:endParaRPr/>
          </a:p>
        </p:txBody>
      </p:sp>
      <p:sp>
        <p:nvSpPr>
          <p:cNvPr id="358" name="Google Shape;358;p30"/>
          <p:cNvSpPr txBox="1"/>
          <p:nvPr/>
        </p:nvSpPr>
        <p:spPr>
          <a:xfrm>
            <a:off x="1162050" y="4017615"/>
            <a:ext cx="98679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Building the Standard Curve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63415"/>
            <a:ext cx="5286375" cy="2845593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3266182"/>
            <a:ext cx="5286375" cy="144006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1"/>
          <p:cNvSpPr txBox="1"/>
          <p:nvPr/>
        </p:nvSpPr>
        <p:spPr>
          <a:xfrm>
            <a:off x="866775" y="2858690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The Concept</a:t>
            </a:r>
            <a:endParaRPr/>
          </a:p>
        </p:txBody>
      </p:sp>
      <p:sp>
        <p:nvSpPr>
          <p:cNvPr id="367" name="Google Shape;367;p31"/>
          <p:cNvSpPr txBox="1"/>
          <p:nvPr/>
        </p:nvSpPr>
        <p:spPr>
          <a:xfrm>
            <a:off x="866775" y="3449240"/>
            <a:ext cx="46958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Every quantitative assay uses a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calibration curve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to convert measured signals into concentrations.</a:t>
            </a:r>
            <a:endParaRPr/>
          </a:p>
        </p:txBody>
      </p:sp>
      <p:sp>
        <p:nvSpPr>
          <p:cNvPr id="368" name="Google Shape;368;p31"/>
          <p:cNvSpPr txBox="1"/>
          <p:nvPr/>
        </p:nvSpPr>
        <p:spPr>
          <a:xfrm>
            <a:off x="866775" y="4329112"/>
            <a:ext cx="46958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We model this relationship using the linear equation.</a:t>
            </a:r>
            <a:endParaRPr/>
          </a:p>
        </p:txBody>
      </p:sp>
      <p:pic>
        <p:nvPicPr>
          <p:cNvPr id="369" name="Google Shape;369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29400" y="3561457"/>
            <a:ext cx="469582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31"/>
          <p:cNvSpPr txBox="1"/>
          <p:nvPr/>
        </p:nvSpPr>
        <p:spPr>
          <a:xfrm>
            <a:off x="6629400" y="3961507"/>
            <a:ext cx="4695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Signal = Slope × Concentration + Intercept</a:t>
            </a:r>
            <a:endParaRPr/>
          </a:p>
        </p:txBody>
      </p:sp>
      <p:sp>
        <p:nvSpPr>
          <p:cNvPr id="371" name="Google Shape;371;p31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The Foundation of Quantitative Testing</a:t>
            </a:r>
            <a:endParaRPr/>
          </a:p>
        </p:txBody>
      </p:sp>
      <p:sp>
        <p:nvSpPr>
          <p:cNvPr id="372" name="Google Shape;372;p31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2"/>
          <p:cNvSpPr txBox="1"/>
          <p:nvPr/>
        </p:nvSpPr>
        <p:spPr>
          <a:xfrm>
            <a:off x="571500" y="2657772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Guideline Requirements</a:t>
            </a:r>
            <a:endParaRPr/>
          </a:p>
        </p:txBody>
      </p:sp>
      <p:pic>
        <p:nvPicPr>
          <p:cNvPr id="379" name="Google Shape;379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691562" y="3285232"/>
            <a:ext cx="5715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2"/>
          <p:cNvSpPr txBox="1"/>
          <p:nvPr/>
        </p:nvSpPr>
        <p:spPr>
          <a:xfrm>
            <a:off x="6715125" y="4237732"/>
            <a:ext cx="4524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Standard for Lab Compliance</a:t>
            </a:r>
            <a:endParaRPr/>
          </a:p>
        </p:txBody>
      </p:sp>
      <p:sp>
        <p:nvSpPr>
          <p:cNvPr id="381" name="Google Shape;381;p32"/>
          <p:cNvSpPr txBox="1"/>
          <p:nvPr/>
        </p:nvSpPr>
        <p:spPr>
          <a:xfrm>
            <a:off x="762000" y="3181647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Test samples across the full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reportable range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382" name="Google Shape;382;p32"/>
          <p:cNvSpPr txBox="1"/>
          <p:nvPr/>
        </p:nvSpPr>
        <p:spPr>
          <a:xfrm>
            <a:off x="762000" y="3631108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Verify the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linear relationship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between signal and concentration.</a:t>
            </a:r>
            <a:endParaRPr/>
          </a:p>
        </p:txBody>
      </p:sp>
      <p:sp>
        <p:nvSpPr>
          <p:cNvPr id="383" name="Google Shape;383;p32"/>
          <p:cNvSpPr txBox="1"/>
          <p:nvPr/>
        </p:nvSpPr>
        <p:spPr>
          <a:xfrm>
            <a:off x="762000" y="4415730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Document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recovery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at each level.</a:t>
            </a:r>
            <a:endParaRPr/>
          </a:p>
        </p:txBody>
      </p:sp>
      <p:sp>
        <p:nvSpPr>
          <p:cNvPr id="384" name="Google Shape;384;p32"/>
          <p:cNvSpPr txBox="1"/>
          <p:nvPr/>
        </p:nvSpPr>
        <p:spPr>
          <a:xfrm>
            <a:off x="762000" y="4865191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Identify any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saturation or non-linearity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pic>
        <p:nvPicPr>
          <p:cNvPr id="385" name="Google Shape;385;p3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3243560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3693021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4477642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4927103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32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CLSI EP06: Linearity Verification</a:t>
            </a:r>
            <a:endParaRPr/>
          </a:p>
        </p:txBody>
      </p:sp>
      <p:sp>
        <p:nvSpPr>
          <p:cNvPr id="390" name="Google Shape;390;p32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96" name="Google Shape;396;p33"/>
          <p:cNvGraphicFramePr/>
          <p:nvPr/>
        </p:nvGraphicFramePr>
        <p:xfrm>
          <a:off x="571500" y="2123330"/>
          <a:ext cx="11039475" cy="3916325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501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7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6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9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Concentration (mg/dL)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Signal (OD)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Replicates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 (blank)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0.052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0.245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9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0.478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9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0.952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1.875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9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3.425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97" name="Google Shape;397;p33"/>
          <p:cNvSpPr/>
          <p:nvPr/>
        </p:nvSpPr>
        <p:spPr>
          <a:xfrm>
            <a:off x="576262" y="2676673"/>
            <a:ext cx="50146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3"/>
          <p:cNvSpPr/>
          <p:nvPr/>
        </p:nvSpPr>
        <p:spPr>
          <a:xfrm>
            <a:off x="5590877" y="2676673"/>
            <a:ext cx="30785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33"/>
          <p:cNvSpPr/>
          <p:nvPr/>
        </p:nvSpPr>
        <p:spPr>
          <a:xfrm>
            <a:off x="8669387" y="2676673"/>
            <a:ext cx="2946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33"/>
          <p:cNvSpPr/>
          <p:nvPr/>
        </p:nvSpPr>
        <p:spPr>
          <a:xfrm>
            <a:off x="576262" y="3234779"/>
            <a:ext cx="50146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3"/>
          <p:cNvSpPr/>
          <p:nvPr/>
        </p:nvSpPr>
        <p:spPr>
          <a:xfrm>
            <a:off x="5590877" y="3234779"/>
            <a:ext cx="30785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33"/>
          <p:cNvSpPr/>
          <p:nvPr/>
        </p:nvSpPr>
        <p:spPr>
          <a:xfrm>
            <a:off x="8669387" y="3234779"/>
            <a:ext cx="2946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33"/>
          <p:cNvSpPr/>
          <p:nvPr/>
        </p:nvSpPr>
        <p:spPr>
          <a:xfrm>
            <a:off x="576262" y="3792884"/>
            <a:ext cx="50146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33"/>
          <p:cNvSpPr/>
          <p:nvPr/>
        </p:nvSpPr>
        <p:spPr>
          <a:xfrm>
            <a:off x="5590877" y="3792884"/>
            <a:ext cx="30785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33"/>
          <p:cNvSpPr/>
          <p:nvPr/>
        </p:nvSpPr>
        <p:spPr>
          <a:xfrm>
            <a:off x="8669387" y="3792884"/>
            <a:ext cx="2946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33"/>
          <p:cNvSpPr/>
          <p:nvPr/>
        </p:nvSpPr>
        <p:spPr>
          <a:xfrm>
            <a:off x="576262" y="4350990"/>
            <a:ext cx="50146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3"/>
          <p:cNvSpPr/>
          <p:nvPr/>
        </p:nvSpPr>
        <p:spPr>
          <a:xfrm>
            <a:off x="5590877" y="4350990"/>
            <a:ext cx="30785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3"/>
          <p:cNvSpPr/>
          <p:nvPr/>
        </p:nvSpPr>
        <p:spPr>
          <a:xfrm>
            <a:off x="8669387" y="4350990"/>
            <a:ext cx="2946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33"/>
          <p:cNvSpPr/>
          <p:nvPr/>
        </p:nvSpPr>
        <p:spPr>
          <a:xfrm>
            <a:off x="576262" y="4909095"/>
            <a:ext cx="50146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33"/>
          <p:cNvSpPr/>
          <p:nvPr/>
        </p:nvSpPr>
        <p:spPr>
          <a:xfrm>
            <a:off x="5590877" y="4909095"/>
            <a:ext cx="30785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33"/>
          <p:cNvSpPr/>
          <p:nvPr/>
        </p:nvSpPr>
        <p:spPr>
          <a:xfrm>
            <a:off x="8669387" y="4909095"/>
            <a:ext cx="2946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33"/>
          <p:cNvSpPr/>
          <p:nvPr/>
        </p:nvSpPr>
        <p:spPr>
          <a:xfrm>
            <a:off x="576262" y="5467201"/>
            <a:ext cx="50146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33"/>
          <p:cNvSpPr/>
          <p:nvPr/>
        </p:nvSpPr>
        <p:spPr>
          <a:xfrm>
            <a:off x="5590877" y="5467201"/>
            <a:ext cx="30785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33"/>
          <p:cNvSpPr/>
          <p:nvPr/>
        </p:nvSpPr>
        <p:spPr>
          <a:xfrm>
            <a:off x="8669387" y="5467201"/>
            <a:ext cx="2946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3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Linearity Verification Data</a:t>
            </a:r>
            <a:endParaRPr/>
          </a:p>
        </p:txBody>
      </p:sp>
      <p:sp>
        <p:nvSpPr>
          <p:cNvPr id="416" name="Google Shape;416;p33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1" name="Google Shape;421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2" name="Google Shape;422;p3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43087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p34"/>
          <p:cNvSpPr txBox="1"/>
          <p:nvPr/>
        </p:nvSpPr>
        <p:spPr>
          <a:xfrm>
            <a:off x="571500" y="4403526"/>
            <a:ext cx="52863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Before fitting a model, always perform a visual check. Does the relationship look linear?</a:t>
            </a:r>
            <a:endParaRPr/>
          </a:p>
        </p:txBody>
      </p:sp>
      <p:sp>
        <p:nvSpPr>
          <p:cNvPr id="425" name="Google Shape;425;p34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Visualizing Calibration Data</a:t>
            </a:r>
            <a:endParaRPr/>
          </a:p>
        </p:txBody>
      </p:sp>
      <p:sp>
        <p:nvSpPr>
          <p:cNvPr id="426" name="Google Shape;426;p34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B31E16-6E78-A0A1-F547-8CD6B9D0A0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0049" y="1353571"/>
            <a:ext cx="5434525" cy="539247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1" name="Google Shape;431;p3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89919"/>
            <a:ext cx="5286375" cy="2592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3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636639"/>
            <a:ext cx="5286375" cy="2699146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35"/>
          <p:cNvSpPr txBox="1"/>
          <p:nvPr/>
        </p:nvSpPr>
        <p:spPr>
          <a:xfrm>
            <a:off x="866775" y="2985194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Fitting the Model</a:t>
            </a:r>
            <a:endParaRPr/>
          </a:p>
        </p:txBody>
      </p:sp>
      <p:sp>
        <p:nvSpPr>
          <p:cNvPr id="435" name="Google Shape;435;p35"/>
          <p:cNvSpPr txBox="1"/>
          <p:nvPr/>
        </p:nvSpPr>
        <p:spPr>
          <a:xfrm>
            <a:off x="866775" y="3575744"/>
            <a:ext cx="4695825" cy="344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We use the lm() function (linear model).</a:t>
            </a:r>
            <a:endParaRPr/>
          </a:p>
        </p:txBody>
      </p:sp>
      <p:sp>
        <p:nvSpPr>
          <p:cNvPr id="436" name="Google Shape;436;p35"/>
          <p:cNvSpPr txBox="1"/>
          <p:nvPr/>
        </p:nvSpPr>
        <p:spPr>
          <a:xfrm>
            <a:off x="6629400" y="2931914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Viewing Results</a:t>
            </a:r>
            <a:endParaRPr/>
          </a:p>
        </p:txBody>
      </p:sp>
      <p:sp>
        <p:nvSpPr>
          <p:cNvPr id="437" name="Google Shape;437;p35"/>
          <p:cNvSpPr txBox="1"/>
          <p:nvPr/>
        </p:nvSpPr>
        <p:spPr>
          <a:xfrm>
            <a:off x="6629400" y="3522464"/>
            <a:ext cx="4695825" cy="679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summary() function provides coefficients and fit statistics.</a:t>
            </a:r>
            <a:endParaRPr/>
          </a:p>
        </p:txBody>
      </p:sp>
      <p:sp>
        <p:nvSpPr>
          <p:cNvPr id="438" name="Google Shape;438;p35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Linear Regression in R</a:t>
            </a:r>
            <a:endParaRPr/>
          </a:p>
        </p:txBody>
      </p:sp>
      <p:sp>
        <p:nvSpPr>
          <p:cNvPr id="439" name="Google Shape;439;p35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3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45" name="Google Shape;445;p36"/>
          <p:cNvGraphicFramePr/>
          <p:nvPr>
            <p:extLst>
              <p:ext uri="{D42A27DB-BD31-4B8C-83A1-F6EECF244321}">
                <p14:modId xmlns:p14="http://schemas.microsoft.com/office/powerpoint/2010/main" val="2306615078"/>
              </p:ext>
            </p:extLst>
          </p:nvPr>
        </p:nvGraphicFramePr>
        <p:xfrm>
          <a:off x="155376" y="4504432"/>
          <a:ext cx="11039475" cy="2241925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212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5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9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Term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Value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Meaning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Intercept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0.0</a:t>
                      </a:r>
                      <a:r>
                        <a:rPr lang="en-US" altLang="zh-CN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The background signal when concentration is 0.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Slope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0.008</a:t>
                      </a:r>
                      <a:r>
                        <a:rPr lang="en-US" altLang="zh-CN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535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Signal increase per unit of concentration.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R²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0.998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99.8% of the variance is explained by the model.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46" name="Google Shape;446;p36"/>
          <p:cNvSpPr/>
          <p:nvPr/>
        </p:nvSpPr>
        <p:spPr>
          <a:xfrm>
            <a:off x="576262" y="4494907"/>
            <a:ext cx="21257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36"/>
          <p:cNvSpPr/>
          <p:nvPr/>
        </p:nvSpPr>
        <p:spPr>
          <a:xfrm>
            <a:off x="2701974" y="4494907"/>
            <a:ext cx="19158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6"/>
          <p:cNvSpPr/>
          <p:nvPr/>
        </p:nvSpPr>
        <p:spPr>
          <a:xfrm>
            <a:off x="4617839" y="4494907"/>
            <a:ext cx="69978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36"/>
          <p:cNvSpPr/>
          <p:nvPr/>
        </p:nvSpPr>
        <p:spPr>
          <a:xfrm>
            <a:off x="576262" y="5053012"/>
            <a:ext cx="21257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6"/>
          <p:cNvSpPr/>
          <p:nvPr/>
        </p:nvSpPr>
        <p:spPr>
          <a:xfrm>
            <a:off x="2701974" y="5053012"/>
            <a:ext cx="19158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36"/>
          <p:cNvSpPr/>
          <p:nvPr/>
        </p:nvSpPr>
        <p:spPr>
          <a:xfrm>
            <a:off x="4617839" y="5053012"/>
            <a:ext cx="69978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36"/>
          <p:cNvSpPr/>
          <p:nvPr/>
        </p:nvSpPr>
        <p:spPr>
          <a:xfrm>
            <a:off x="576262" y="5611117"/>
            <a:ext cx="21257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36"/>
          <p:cNvSpPr/>
          <p:nvPr/>
        </p:nvSpPr>
        <p:spPr>
          <a:xfrm>
            <a:off x="2701974" y="5611117"/>
            <a:ext cx="19158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36"/>
          <p:cNvSpPr/>
          <p:nvPr/>
        </p:nvSpPr>
        <p:spPr>
          <a:xfrm>
            <a:off x="4617839" y="5611117"/>
            <a:ext cx="699789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6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B0B46FD-D3C6-81CD-E85A-7D41306905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376" y="118448"/>
            <a:ext cx="7772400" cy="4381221"/>
          </a:xfrm>
          <a:prstGeom prst="rect">
            <a:avLst/>
          </a:prstGeom>
        </p:spPr>
      </p:pic>
      <p:sp>
        <p:nvSpPr>
          <p:cNvPr id="455" name="Google Shape;455;p36"/>
          <p:cNvSpPr txBox="1"/>
          <p:nvPr/>
        </p:nvSpPr>
        <p:spPr>
          <a:xfrm>
            <a:off x="6222271" y="1027926"/>
            <a:ext cx="5814353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Interpreting </a:t>
            </a:r>
            <a:r>
              <a:rPr lang="en-US" sz="3600" b="1" i="0" u="none" strike="noStrike" cap="none" dirty="0" err="1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lm</a:t>
            </a:r>
            <a:r>
              <a:rPr lang="en-US" sz="3600" b="1" i="0" u="none" strike="noStrike" cap="none" dirty="0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() Output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1" name="Google Shape;461;p3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2" name="Google Shape;462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66950"/>
            <a:ext cx="5286375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3217515"/>
            <a:ext cx="5286375" cy="153724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7"/>
          <p:cNvSpPr txBox="1"/>
          <p:nvPr/>
        </p:nvSpPr>
        <p:spPr>
          <a:xfrm>
            <a:off x="866775" y="2562225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R Code</a:t>
            </a:r>
            <a:endParaRPr/>
          </a:p>
        </p:txBody>
      </p:sp>
      <p:sp>
        <p:nvSpPr>
          <p:cNvPr id="465" name="Google Shape;465;p37"/>
          <p:cNvSpPr txBox="1"/>
          <p:nvPr/>
        </p:nvSpPr>
        <p:spPr>
          <a:xfrm>
            <a:off x="6629400" y="3741390"/>
            <a:ext cx="4695825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Final Calibration Equation:</a:t>
            </a:r>
            <a:endParaRPr dirty="0"/>
          </a:p>
        </p:txBody>
      </p:sp>
      <p:sp>
        <p:nvSpPr>
          <p:cNvPr id="467" name="Google Shape;467;p37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Getting the Equation</a:t>
            </a:r>
            <a:endParaRPr/>
          </a:p>
        </p:txBody>
      </p:sp>
      <p:sp>
        <p:nvSpPr>
          <p:cNvPr id="468" name="Google Shape;468;p37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2786B-FA5B-400C-5EC1-AC9CB31FB2EA}"/>
              </a:ext>
            </a:extLst>
          </p:cNvPr>
          <p:cNvSpPr txBox="1"/>
          <p:nvPr/>
        </p:nvSpPr>
        <p:spPr>
          <a:xfrm>
            <a:off x="6805246" y="4187480"/>
            <a:ext cx="62108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Signal = 0.0085 × Concentration + 0.0709</a:t>
            </a:r>
            <a:endParaRPr lang="en-US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23984E-5693-20BC-DA67-5581CAB16EB7}"/>
              </a:ext>
            </a:extLst>
          </p:cNvPr>
          <p:cNvSpPr/>
          <p:nvPr/>
        </p:nvSpPr>
        <p:spPr>
          <a:xfrm>
            <a:off x="986570" y="3547987"/>
            <a:ext cx="2228117" cy="1934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0C2EE6-8935-EE1B-73B4-F32B6DD10CC7}"/>
              </a:ext>
            </a:extLst>
          </p:cNvPr>
          <p:cNvSpPr/>
          <p:nvPr/>
        </p:nvSpPr>
        <p:spPr>
          <a:xfrm>
            <a:off x="986569" y="4198896"/>
            <a:ext cx="2228117" cy="1934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B58B91-D3A5-8D7C-D830-B689A2F2FD29}"/>
              </a:ext>
            </a:extLst>
          </p:cNvPr>
          <p:cNvSpPr/>
          <p:nvPr/>
        </p:nvSpPr>
        <p:spPr>
          <a:xfrm>
            <a:off x="986569" y="4952185"/>
            <a:ext cx="2228117" cy="1934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3" name="Google Shape;473;p3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43087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8"/>
          <p:cNvSpPr txBox="1"/>
          <p:nvPr/>
        </p:nvSpPr>
        <p:spPr>
          <a:xfrm>
            <a:off x="571500" y="4517826"/>
            <a:ext cx="52863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This visualizes how well our calculated model fits the actual data points.</a:t>
            </a:r>
            <a:endParaRPr/>
          </a:p>
        </p:txBody>
      </p:sp>
      <p:sp>
        <p:nvSpPr>
          <p:cNvPr id="477" name="Google Shape;477;p38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Adding the Regression Line</a:t>
            </a:r>
            <a:endParaRPr/>
          </a:p>
        </p:txBody>
      </p:sp>
      <p:sp>
        <p:nvSpPr>
          <p:cNvPr id="478" name="Google Shape;478;p38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A64917-325A-4618-925C-CF0842F0F3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4125" y="1317191"/>
            <a:ext cx="5638752" cy="55526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3" name="Google Shape;483;p3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3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63205"/>
            <a:ext cx="5286375" cy="1446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3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84214"/>
            <a:ext cx="5286375" cy="3403996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39"/>
          <p:cNvSpPr txBox="1"/>
          <p:nvPr/>
        </p:nvSpPr>
        <p:spPr>
          <a:xfrm>
            <a:off x="866775" y="3558480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Coefficient of Determination</a:t>
            </a:r>
            <a:endParaRPr/>
          </a:p>
        </p:txBody>
      </p:sp>
      <p:pic>
        <p:nvPicPr>
          <p:cNvPr id="487" name="Google Shape;487;p3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4082355"/>
            <a:ext cx="4695825" cy="331589"/>
          </a:xfrm>
          <a:prstGeom prst="rect">
            <a:avLst/>
          </a:prstGeom>
          <a:noFill/>
          <a:ln>
            <a:noFill/>
          </a:ln>
        </p:spPr>
      </p:pic>
      <p:sp>
        <p:nvSpPr>
          <p:cNvPr id="488" name="Google Shape;488;p39"/>
          <p:cNvSpPr txBox="1"/>
          <p:nvPr/>
        </p:nvSpPr>
        <p:spPr>
          <a:xfrm>
            <a:off x="6629400" y="2579489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Interpretation</a:t>
            </a:r>
            <a:endParaRPr/>
          </a:p>
        </p:txBody>
      </p:sp>
      <p:graphicFrame>
        <p:nvGraphicFramePr>
          <p:cNvPr id="489" name="Google Shape;489;p39"/>
          <p:cNvGraphicFramePr/>
          <p:nvPr/>
        </p:nvGraphicFramePr>
        <p:xfrm>
          <a:off x="6629400" y="3150989"/>
          <a:ext cx="4686300" cy="2241925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1265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0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R² Value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Meaning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0.99+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Excellent fit (Standard for Clinical Labs)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0.95–0.99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Good fit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&lt; 0.90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Poor fit — Investigate!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90" name="Google Shape;490;p39"/>
          <p:cNvSpPr/>
          <p:nvPr/>
        </p:nvSpPr>
        <p:spPr>
          <a:xfrm>
            <a:off x="6634162" y="3704332"/>
            <a:ext cx="12657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9"/>
          <p:cNvSpPr/>
          <p:nvPr/>
        </p:nvSpPr>
        <p:spPr>
          <a:xfrm>
            <a:off x="7899945" y="3704332"/>
            <a:ext cx="342051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39"/>
          <p:cNvSpPr/>
          <p:nvPr/>
        </p:nvSpPr>
        <p:spPr>
          <a:xfrm>
            <a:off x="6634162" y="4262437"/>
            <a:ext cx="12657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39"/>
          <p:cNvSpPr/>
          <p:nvPr/>
        </p:nvSpPr>
        <p:spPr>
          <a:xfrm>
            <a:off x="7899945" y="4262437"/>
            <a:ext cx="342051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39"/>
          <p:cNvSpPr/>
          <p:nvPr/>
        </p:nvSpPr>
        <p:spPr>
          <a:xfrm>
            <a:off x="6634162" y="4820542"/>
            <a:ext cx="12657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39"/>
          <p:cNvSpPr/>
          <p:nvPr/>
        </p:nvSpPr>
        <p:spPr>
          <a:xfrm>
            <a:off x="7899945" y="4820542"/>
            <a:ext cx="342051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39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Understanding R²</a:t>
            </a:r>
            <a:endParaRPr/>
          </a:p>
        </p:txBody>
      </p:sp>
      <p:sp>
        <p:nvSpPr>
          <p:cNvPr id="497" name="Google Shape;497;p39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2" name="Google Shape;502;p4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Google Shape;503;p40"/>
          <p:cNvSpPr txBox="1"/>
          <p:nvPr/>
        </p:nvSpPr>
        <p:spPr>
          <a:xfrm>
            <a:off x="571500" y="3193851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The Concept</a:t>
            </a:r>
            <a:endParaRPr/>
          </a:p>
        </p:txBody>
      </p:sp>
      <p:sp>
        <p:nvSpPr>
          <p:cNvPr id="504" name="Google Shape;504;p40"/>
          <p:cNvSpPr txBox="1"/>
          <p:nvPr/>
        </p:nvSpPr>
        <p:spPr>
          <a:xfrm>
            <a:off x="571500" y="3784401"/>
            <a:ext cx="5286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Residual = Observed - Predicted</a:t>
            </a:r>
            <a:endParaRPr/>
          </a:p>
        </p:txBody>
      </p:sp>
      <p:sp>
        <p:nvSpPr>
          <p:cNvPr id="505" name="Google Shape;505;p40"/>
          <p:cNvSpPr txBox="1"/>
          <p:nvPr/>
        </p:nvSpPr>
        <p:spPr>
          <a:xfrm>
            <a:off x="571500" y="4329112"/>
            <a:ext cx="5286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Residuals allow us to see patterns that R² might hide.</a:t>
            </a:r>
            <a:endParaRPr/>
          </a:p>
        </p:txBody>
      </p:sp>
      <p:sp>
        <p:nvSpPr>
          <p:cNvPr id="506" name="Google Shape;506;p40"/>
          <p:cNvSpPr txBox="1"/>
          <p:nvPr/>
        </p:nvSpPr>
        <p:spPr>
          <a:xfrm>
            <a:off x="6334125" y="2882503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What to Look For</a:t>
            </a:r>
            <a:endParaRPr/>
          </a:p>
        </p:txBody>
      </p:sp>
      <p:sp>
        <p:nvSpPr>
          <p:cNvPr id="507" name="Google Shape;507;p40"/>
          <p:cNvSpPr txBox="1"/>
          <p:nvPr/>
        </p:nvSpPr>
        <p:spPr>
          <a:xfrm>
            <a:off x="6524625" y="3406378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Random Scatter: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Good model.</a:t>
            </a:r>
            <a:endParaRPr/>
          </a:p>
        </p:txBody>
      </p:sp>
      <p:sp>
        <p:nvSpPr>
          <p:cNvPr id="508" name="Google Shape;508;p40"/>
          <p:cNvSpPr txBox="1"/>
          <p:nvPr/>
        </p:nvSpPr>
        <p:spPr>
          <a:xfrm>
            <a:off x="6524625" y="3855839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95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Curvature: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Non-linearity (needs polynomial fit).</a:t>
            </a:r>
            <a:endParaRPr/>
          </a:p>
        </p:txBody>
      </p:sp>
      <p:sp>
        <p:nvSpPr>
          <p:cNvPr id="509" name="Google Shape;509;p40"/>
          <p:cNvSpPr txBox="1"/>
          <p:nvPr/>
        </p:nvSpPr>
        <p:spPr>
          <a:xfrm>
            <a:off x="6524625" y="4305300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95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Funnel Shape: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Heteroscedasticity (unequal variance).</a:t>
            </a:r>
            <a:endParaRPr/>
          </a:p>
        </p:txBody>
      </p:sp>
      <p:pic>
        <p:nvPicPr>
          <p:cNvPr id="510" name="Google Shape;510;p4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24625" y="3468290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4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24625" y="3917751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p4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24625" y="4367212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40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Why Check Residuals?</a:t>
            </a:r>
            <a:endParaRPr/>
          </a:p>
        </p:txBody>
      </p:sp>
      <p:sp>
        <p:nvSpPr>
          <p:cNvPr id="514" name="Google Shape;514;p40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9" name="Google Shape;519;p4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0" name="Google Shape;520;p4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43087"/>
            <a:ext cx="5286375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4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843087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41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Creating a Residual Plot</a:t>
            </a:r>
            <a:endParaRPr/>
          </a:p>
        </p:txBody>
      </p:sp>
      <p:sp>
        <p:nvSpPr>
          <p:cNvPr id="523" name="Google Shape;523;p41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8" name="Google Shape;528;p4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42"/>
          <p:cNvSpPr txBox="1"/>
          <p:nvPr/>
        </p:nvSpPr>
        <p:spPr>
          <a:xfrm>
            <a:off x="6334125" y="2300436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What R Generates</a:t>
            </a:r>
            <a:endParaRPr/>
          </a:p>
        </p:txBody>
      </p:sp>
      <p:graphicFrame>
        <p:nvGraphicFramePr>
          <p:cNvPr id="530" name="Google Shape;530;p42"/>
          <p:cNvGraphicFramePr/>
          <p:nvPr/>
        </p:nvGraphicFramePr>
        <p:xfrm>
          <a:off x="6334125" y="2871936"/>
          <a:ext cx="5276825" cy="2800000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2592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8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Plot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Checks For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Residuals vs Fitted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Linearity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Q-Q Plot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Normality of Residuals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Scale-Location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Homoscedasticity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Residuals vs Leverage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Influential Outliers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31" name="Google Shape;531;p42"/>
          <p:cNvSpPr/>
          <p:nvPr/>
        </p:nvSpPr>
        <p:spPr>
          <a:xfrm>
            <a:off x="6338887" y="3425279"/>
            <a:ext cx="25924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42"/>
          <p:cNvSpPr/>
          <p:nvPr/>
        </p:nvSpPr>
        <p:spPr>
          <a:xfrm>
            <a:off x="8931324" y="3425279"/>
            <a:ext cx="26844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42"/>
          <p:cNvSpPr/>
          <p:nvPr/>
        </p:nvSpPr>
        <p:spPr>
          <a:xfrm>
            <a:off x="6338887" y="3983384"/>
            <a:ext cx="25924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42"/>
          <p:cNvSpPr/>
          <p:nvPr/>
        </p:nvSpPr>
        <p:spPr>
          <a:xfrm>
            <a:off x="8931324" y="3983384"/>
            <a:ext cx="26844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42"/>
          <p:cNvSpPr/>
          <p:nvPr/>
        </p:nvSpPr>
        <p:spPr>
          <a:xfrm>
            <a:off x="6338887" y="4541490"/>
            <a:ext cx="25924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42"/>
          <p:cNvSpPr/>
          <p:nvPr/>
        </p:nvSpPr>
        <p:spPr>
          <a:xfrm>
            <a:off x="8931324" y="4541490"/>
            <a:ext cx="26844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42"/>
          <p:cNvSpPr/>
          <p:nvPr/>
        </p:nvSpPr>
        <p:spPr>
          <a:xfrm>
            <a:off x="6338887" y="5099595"/>
            <a:ext cx="25924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42"/>
          <p:cNvSpPr/>
          <p:nvPr/>
        </p:nvSpPr>
        <p:spPr>
          <a:xfrm>
            <a:off x="8931324" y="5099595"/>
            <a:ext cx="26844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42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Built-in Diagnostic Plots</a:t>
            </a:r>
            <a:endParaRPr/>
          </a:p>
        </p:txBody>
      </p:sp>
      <p:sp>
        <p:nvSpPr>
          <p:cNvPr id="540" name="Google Shape;540;p42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5" name="Google Shape;545;p4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" name="Google Shape;546;p4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07419"/>
            <a:ext cx="5286375" cy="1157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7" name="Google Shape;547;p4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495550"/>
            <a:ext cx="5286375" cy="298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8" name="Google Shape;548;p4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3702694"/>
            <a:ext cx="4695825" cy="567035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43"/>
          <p:cNvSpPr txBox="1"/>
          <p:nvPr/>
        </p:nvSpPr>
        <p:spPr>
          <a:xfrm>
            <a:off x="6629400" y="2790825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R Code</a:t>
            </a:r>
            <a:endParaRPr/>
          </a:p>
        </p:txBody>
      </p:sp>
      <p:sp>
        <p:nvSpPr>
          <p:cNvPr id="550" name="Google Shape;550;p43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Using the Calibration Curve</a:t>
            </a:r>
            <a:endParaRPr/>
          </a:p>
        </p:txBody>
      </p:sp>
      <p:sp>
        <p:nvSpPr>
          <p:cNvPr id="551" name="Google Shape;551;p43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3EE85F-4F3A-732A-9C37-895CB7AFA0F0}"/>
              </a:ext>
            </a:extLst>
          </p:cNvPr>
          <p:cNvSpPr/>
          <p:nvPr/>
        </p:nvSpPr>
        <p:spPr>
          <a:xfrm>
            <a:off x="6805467" y="4701538"/>
            <a:ext cx="2228117" cy="1934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4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57" name="Google Shape;557;p44"/>
          <p:cNvGraphicFramePr/>
          <p:nvPr/>
        </p:nvGraphicFramePr>
        <p:xfrm>
          <a:off x="571500" y="2640508"/>
          <a:ext cx="11039475" cy="2241925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3107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32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Criterion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Typical Requirement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R²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≥ 0.99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Residuals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Within ±10% of predicted value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Recovery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95–105% at each concentration level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58" name="Google Shape;558;p44"/>
          <p:cNvSpPr txBox="1"/>
          <p:nvPr/>
        </p:nvSpPr>
        <p:spPr>
          <a:xfrm>
            <a:off x="3314700" y="5072955"/>
            <a:ext cx="55626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Note: Specific requirements vary by analyte and method SOP.</a:t>
            </a:r>
            <a:endParaRPr/>
          </a:p>
        </p:txBody>
      </p:sp>
      <p:sp>
        <p:nvSpPr>
          <p:cNvPr id="559" name="Google Shape;559;p44"/>
          <p:cNvSpPr/>
          <p:nvPr/>
        </p:nvSpPr>
        <p:spPr>
          <a:xfrm>
            <a:off x="576262" y="3193851"/>
            <a:ext cx="310723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44"/>
          <p:cNvSpPr/>
          <p:nvPr/>
        </p:nvSpPr>
        <p:spPr>
          <a:xfrm>
            <a:off x="3683496" y="3193851"/>
            <a:ext cx="7932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44"/>
          <p:cNvSpPr/>
          <p:nvPr/>
        </p:nvSpPr>
        <p:spPr>
          <a:xfrm>
            <a:off x="576262" y="3751957"/>
            <a:ext cx="310723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44"/>
          <p:cNvSpPr/>
          <p:nvPr/>
        </p:nvSpPr>
        <p:spPr>
          <a:xfrm>
            <a:off x="3683496" y="3751957"/>
            <a:ext cx="7932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44"/>
          <p:cNvSpPr/>
          <p:nvPr/>
        </p:nvSpPr>
        <p:spPr>
          <a:xfrm>
            <a:off x="576262" y="4310062"/>
            <a:ext cx="310723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44"/>
          <p:cNvSpPr/>
          <p:nvPr/>
        </p:nvSpPr>
        <p:spPr>
          <a:xfrm>
            <a:off x="3683496" y="4310062"/>
            <a:ext cx="793224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44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Linearity Acceptance Criteria</a:t>
            </a:r>
            <a:endParaRPr/>
          </a:p>
        </p:txBody>
      </p:sp>
      <p:sp>
        <p:nvSpPr>
          <p:cNvPr id="566" name="Google Shape;566;p44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1" name="Google Shape;571;p4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2" name="Google Shape;572;p45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Automated Verification Check</a:t>
            </a:r>
            <a:endParaRPr/>
          </a:p>
        </p:txBody>
      </p:sp>
      <p:sp>
        <p:nvSpPr>
          <p:cNvPr id="573" name="Google Shape;573;p45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45"/>
          <p:cNvSpPr txBox="1"/>
          <p:nvPr/>
        </p:nvSpPr>
        <p:spPr>
          <a:xfrm>
            <a:off x="571500" y="3432216"/>
            <a:ext cx="110490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(</a:t>
            </a:r>
            <a:r>
              <a:rPr lang="en-US" sz="2400" b="0" i="0" u="none" strike="noStrike" cap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r_squared</a:t>
            </a:r>
            <a:r>
              <a:rPr lang="en-US" sz="2400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&gt;= 0.99) { cat("✅ R² PASS") } else { cat("⚠️ R² FAIL") } if (max(abs(residuals)) &lt;= 0.10 * predicted) { cat("✅ Residuals PASS") } else { cat("⚠️ Residuals FAIL") }</a:t>
            </a:r>
            <a:endParaRPr sz="2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9" name="Google Shape;579;p4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80" name="Google Shape;580;p46"/>
          <p:cNvGraphicFramePr/>
          <p:nvPr/>
        </p:nvGraphicFramePr>
        <p:xfrm>
          <a:off x="571500" y="2397621"/>
          <a:ext cx="11039475" cy="3367650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275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2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ANOVA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Linear Regression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Purpose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Compare group means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 relationships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Question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"Are groups different?"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"What is the equation?"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 Function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aov()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lm()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Key Statistics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F-value, p-value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R², slope, intercept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Lab Use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Analyzer/Lot Comparison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Calibration Curves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81" name="Google Shape;581;p46"/>
          <p:cNvSpPr/>
          <p:nvPr/>
        </p:nvSpPr>
        <p:spPr>
          <a:xfrm>
            <a:off x="576262" y="2950964"/>
            <a:ext cx="275986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46"/>
          <p:cNvSpPr/>
          <p:nvPr/>
        </p:nvSpPr>
        <p:spPr>
          <a:xfrm>
            <a:off x="3336131" y="2950964"/>
            <a:ext cx="428669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46"/>
          <p:cNvSpPr/>
          <p:nvPr/>
        </p:nvSpPr>
        <p:spPr>
          <a:xfrm>
            <a:off x="7622827" y="2950964"/>
            <a:ext cx="39929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46"/>
          <p:cNvSpPr/>
          <p:nvPr/>
        </p:nvSpPr>
        <p:spPr>
          <a:xfrm>
            <a:off x="576262" y="3509069"/>
            <a:ext cx="275986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46"/>
          <p:cNvSpPr/>
          <p:nvPr/>
        </p:nvSpPr>
        <p:spPr>
          <a:xfrm>
            <a:off x="3336131" y="3509069"/>
            <a:ext cx="428669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46"/>
          <p:cNvSpPr/>
          <p:nvPr/>
        </p:nvSpPr>
        <p:spPr>
          <a:xfrm>
            <a:off x="7622827" y="3509069"/>
            <a:ext cx="39929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46"/>
          <p:cNvSpPr/>
          <p:nvPr/>
        </p:nvSpPr>
        <p:spPr>
          <a:xfrm>
            <a:off x="576262" y="4067175"/>
            <a:ext cx="275986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46"/>
          <p:cNvSpPr/>
          <p:nvPr/>
        </p:nvSpPr>
        <p:spPr>
          <a:xfrm>
            <a:off x="3336131" y="4067175"/>
            <a:ext cx="428669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46"/>
          <p:cNvSpPr/>
          <p:nvPr/>
        </p:nvSpPr>
        <p:spPr>
          <a:xfrm>
            <a:off x="7622827" y="4067175"/>
            <a:ext cx="39929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46"/>
          <p:cNvSpPr/>
          <p:nvPr/>
        </p:nvSpPr>
        <p:spPr>
          <a:xfrm>
            <a:off x="576262" y="4634805"/>
            <a:ext cx="275986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46"/>
          <p:cNvSpPr/>
          <p:nvPr/>
        </p:nvSpPr>
        <p:spPr>
          <a:xfrm>
            <a:off x="3336131" y="4634805"/>
            <a:ext cx="428669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46"/>
          <p:cNvSpPr/>
          <p:nvPr/>
        </p:nvSpPr>
        <p:spPr>
          <a:xfrm>
            <a:off x="7622827" y="4634805"/>
            <a:ext cx="39929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46"/>
          <p:cNvSpPr/>
          <p:nvPr/>
        </p:nvSpPr>
        <p:spPr>
          <a:xfrm>
            <a:off x="576262" y="5192910"/>
            <a:ext cx="275986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46"/>
          <p:cNvSpPr/>
          <p:nvPr/>
        </p:nvSpPr>
        <p:spPr>
          <a:xfrm>
            <a:off x="3336131" y="5192910"/>
            <a:ext cx="428669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46"/>
          <p:cNvSpPr/>
          <p:nvPr/>
        </p:nvSpPr>
        <p:spPr>
          <a:xfrm>
            <a:off x="7622827" y="5192910"/>
            <a:ext cx="399290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46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Summary: ANOVA vs. Regression</a:t>
            </a:r>
            <a:endParaRPr/>
          </a:p>
        </p:txBody>
      </p:sp>
      <p:sp>
        <p:nvSpPr>
          <p:cNvPr id="597" name="Google Shape;597;p46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2" name="Google Shape;602;p4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3" name="Google Shape;603;p4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35771"/>
            <a:ext cx="3429000" cy="2300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4" name="Google Shape;604;p4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835771"/>
            <a:ext cx="3429000" cy="2300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5" name="Google Shape;605;p4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835771"/>
            <a:ext cx="3429000" cy="2300882"/>
          </a:xfrm>
          <a:prstGeom prst="rect">
            <a:avLst/>
          </a:prstGeom>
          <a:noFill/>
          <a:ln>
            <a:noFill/>
          </a:ln>
        </p:spPr>
      </p:pic>
      <p:sp>
        <p:nvSpPr>
          <p:cNvPr id="606" name="Google Shape;606;p47"/>
          <p:cNvSpPr txBox="1"/>
          <p:nvPr/>
        </p:nvSpPr>
        <p:spPr>
          <a:xfrm>
            <a:off x="795813" y="3131046"/>
            <a:ext cx="2980372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ANOVA</a:t>
            </a:r>
            <a:endParaRPr/>
          </a:p>
        </p:txBody>
      </p:sp>
      <p:sp>
        <p:nvSpPr>
          <p:cNvPr id="607" name="Google Shape;607;p47"/>
          <p:cNvSpPr txBox="1"/>
          <p:nvPr/>
        </p:nvSpPr>
        <p:spPr>
          <a:xfrm>
            <a:off x="866775" y="3721596"/>
            <a:ext cx="2838450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Use for comparing 3+ groups. Always follow up with Tukey HSD.</a:t>
            </a:r>
            <a:endParaRPr/>
          </a:p>
        </p:txBody>
      </p:sp>
      <p:sp>
        <p:nvSpPr>
          <p:cNvPr id="608" name="Google Shape;608;p47"/>
          <p:cNvSpPr txBox="1"/>
          <p:nvPr/>
        </p:nvSpPr>
        <p:spPr>
          <a:xfrm>
            <a:off x="4605813" y="3131046"/>
            <a:ext cx="2980372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Regression</a:t>
            </a:r>
            <a:endParaRPr/>
          </a:p>
        </p:txBody>
      </p:sp>
      <p:sp>
        <p:nvSpPr>
          <p:cNvPr id="609" name="Google Shape;609;p47"/>
          <p:cNvSpPr txBox="1"/>
          <p:nvPr/>
        </p:nvSpPr>
        <p:spPr>
          <a:xfrm>
            <a:off x="4676775" y="3721596"/>
            <a:ext cx="28384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Models y = mx + c. Use R² ≥ 0.99 as a quality standard.</a:t>
            </a:r>
            <a:endParaRPr/>
          </a:p>
        </p:txBody>
      </p:sp>
      <p:sp>
        <p:nvSpPr>
          <p:cNvPr id="610" name="Google Shape;610;p47"/>
          <p:cNvSpPr txBox="1"/>
          <p:nvPr/>
        </p:nvSpPr>
        <p:spPr>
          <a:xfrm>
            <a:off x="8415813" y="3131046"/>
            <a:ext cx="2980372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Residuals</a:t>
            </a:r>
            <a:endParaRPr/>
          </a:p>
        </p:txBody>
      </p:sp>
      <p:sp>
        <p:nvSpPr>
          <p:cNvPr id="611" name="Google Shape;611;p47"/>
          <p:cNvSpPr txBox="1"/>
          <p:nvPr/>
        </p:nvSpPr>
        <p:spPr>
          <a:xfrm>
            <a:off x="8486775" y="3721596"/>
            <a:ext cx="2838450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Essential for validating that your model assumptions are met.</a:t>
            </a:r>
            <a:endParaRPr/>
          </a:p>
        </p:txBody>
      </p:sp>
      <p:sp>
        <p:nvSpPr>
          <p:cNvPr id="612" name="Google Shape;612;p47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Key Takeaways</a:t>
            </a:r>
            <a:endParaRPr/>
          </a:p>
        </p:txBody>
      </p:sp>
      <p:sp>
        <p:nvSpPr>
          <p:cNvPr id="613" name="Google Shape;613;p47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8" name="Google Shape;618;p4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9" name="Google Shape;619;p4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95712" y="2003077"/>
            <a:ext cx="4600575" cy="2851695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p48"/>
          <p:cNvSpPr txBox="1"/>
          <p:nvPr/>
        </p:nvSpPr>
        <p:spPr>
          <a:xfrm>
            <a:off x="4300775" y="2593627"/>
            <a:ext cx="3590448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Tutorial 6</a:t>
            </a:r>
            <a:endParaRPr/>
          </a:p>
        </p:txBody>
      </p:sp>
      <p:sp>
        <p:nvSpPr>
          <p:cNvPr id="621" name="Google Shape;621;p48"/>
          <p:cNvSpPr txBox="1"/>
          <p:nvPr/>
        </p:nvSpPr>
        <p:spPr>
          <a:xfrm>
            <a:off x="4386262" y="3536602"/>
            <a:ext cx="341947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Calibration Verification in Practice</a:t>
            </a:r>
            <a:endParaRPr dirty="0"/>
          </a:p>
        </p:txBody>
      </p:sp>
      <p:sp>
        <p:nvSpPr>
          <p:cNvPr id="622" name="Google Shape;622;p48"/>
          <p:cNvSpPr txBox="1"/>
          <p:nvPr/>
        </p:nvSpPr>
        <p:spPr>
          <a:xfrm>
            <a:off x="4386262" y="4092773"/>
            <a:ext cx="341947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Open your R environment</a:t>
            </a:r>
            <a:endParaRPr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7" name="Google Shape;627;p4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8" name="Google Shape;628;p49"/>
          <p:cNvSpPr txBox="1"/>
          <p:nvPr/>
        </p:nvSpPr>
        <p:spPr>
          <a:xfrm>
            <a:off x="1595437" y="2091630"/>
            <a:ext cx="9001125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Tutorial 6: Calibration Verification</a:t>
            </a:r>
            <a:endParaRPr/>
          </a:p>
        </p:txBody>
      </p:sp>
      <p:sp>
        <p:nvSpPr>
          <p:cNvPr id="629" name="Google Shape;629;p49"/>
          <p:cNvSpPr/>
          <p:nvPr/>
        </p:nvSpPr>
        <p:spPr>
          <a:xfrm>
            <a:off x="5619750" y="3901380"/>
            <a:ext cx="9525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49"/>
          <p:cNvSpPr txBox="1"/>
          <p:nvPr/>
        </p:nvSpPr>
        <p:spPr>
          <a:xfrm>
            <a:off x="1809750" y="4225230"/>
            <a:ext cx="857250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64748B"/>
                </a:solidFill>
                <a:latin typeface="Lato Light"/>
                <a:ea typeface="Lato Light"/>
                <a:cs typeface="Lato Light"/>
                <a:sym typeface="Lato Light"/>
              </a:rPr>
              <a:t>Building and Validating Standard Curves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5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6" name="Google Shape;636;p5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29160"/>
            <a:ext cx="5286375" cy="3314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37" name="Google Shape;637;p5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898576"/>
            <a:ext cx="5286375" cy="2175271"/>
          </a:xfrm>
          <a:prstGeom prst="rect">
            <a:avLst/>
          </a:prstGeom>
          <a:noFill/>
          <a:ln>
            <a:noFill/>
          </a:ln>
        </p:spPr>
      </p:pic>
      <p:sp>
        <p:nvSpPr>
          <p:cNvPr id="638" name="Google Shape;638;p50"/>
          <p:cNvSpPr txBox="1"/>
          <p:nvPr/>
        </p:nvSpPr>
        <p:spPr>
          <a:xfrm>
            <a:off x="866775" y="2624435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The Task</a:t>
            </a:r>
            <a:endParaRPr/>
          </a:p>
        </p:txBody>
      </p:sp>
      <p:sp>
        <p:nvSpPr>
          <p:cNvPr id="639" name="Google Shape;639;p50"/>
          <p:cNvSpPr txBox="1"/>
          <p:nvPr/>
        </p:nvSpPr>
        <p:spPr>
          <a:xfrm>
            <a:off x="866775" y="3214985"/>
            <a:ext cx="46958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You are performing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annual linearity verification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following CLSI EP06 guidelines.</a:t>
            </a:r>
            <a:endParaRPr/>
          </a:p>
        </p:txBody>
      </p:sp>
      <p:sp>
        <p:nvSpPr>
          <p:cNvPr id="640" name="Google Shape;640;p50"/>
          <p:cNvSpPr txBox="1"/>
          <p:nvPr/>
        </p:nvSpPr>
        <p:spPr>
          <a:xfrm>
            <a:off x="6629400" y="3193851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The Data</a:t>
            </a:r>
            <a:endParaRPr/>
          </a:p>
        </p:txBody>
      </p:sp>
      <p:sp>
        <p:nvSpPr>
          <p:cNvPr id="641" name="Google Shape;641;p50"/>
          <p:cNvSpPr txBox="1"/>
          <p:nvPr/>
        </p:nvSpPr>
        <p:spPr>
          <a:xfrm>
            <a:off x="6629400" y="3784401"/>
            <a:ext cx="4695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6 Concentration Levels</a:t>
            </a:r>
            <a:endParaRPr/>
          </a:p>
        </p:txBody>
      </p:sp>
      <p:sp>
        <p:nvSpPr>
          <p:cNvPr id="642" name="Google Shape;642;p50"/>
          <p:cNvSpPr txBox="1"/>
          <p:nvPr/>
        </p:nvSpPr>
        <p:spPr>
          <a:xfrm>
            <a:off x="6629400" y="4329112"/>
            <a:ext cx="4695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Each measured in </a:t>
            </a: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triplicate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643" name="Google Shape;643;p50"/>
          <p:cNvSpPr txBox="1"/>
          <p:nvPr/>
        </p:nvSpPr>
        <p:spPr>
          <a:xfrm>
            <a:off x="933450" y="4000559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644" name="Google Shape;644;p50"/>
          <p:cNvSpPr txBox="1"/>
          <p:nvPr/>
        </p:nvSpPr>
        <p:spPr>
          <a:xfrm>
            <a:off x="1057275" y="3999607"/>
            <a:ext cx="4505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Verify linear response across reportable range.</a:t>
            </a:r>
            <a:endParaRPr/>
          </a:p>
        </p:txBody>
      </p:sp>
      <p:sp>
        <p:nvSpPr>
          <p:cNvPr id="645" name="Google Shape;645;p50"/>
          <p:cNvSpPr txBox="1"/>
          <p:nvPr/>
        </p:nvSpPr>
        <p:spPr>
          <a:xfrm>
            <a:off x="933450" y="4450020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646" name="Google Shape;646;p50"/>
          <p:cNvSpPr txBox="1"/>
          <p:nvPr/>
        </p:nvSpPr>
        <p:spPr>
          <a:xfrm>
            <a:off x="1057275" y="4449067"/>
            <a:ext cx="4505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Document calibration equation.</a:t>
            </a:r>
            <a:endParaRPr/>
          </a:p>
        </p:txBody>
      </p:sp>
      <p:sp>
        <p:nvSpPr>
          <p:cNvPr id="647" name="Google Shape;647;p50"/>
          <p:cNvSpPr txBox="1"/>
          <p:nvPr/>
        </p:nvSpPr>
        <p:spPr>
          <a:xfrm>
            <a:off x="933450" y="4899481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648" name="Google Shape;648;p50"/>
          <p:cNvSpPr txBox="1"/>
          <p:nvPr/>
        </p:nvSpPr>
        <p:spPr>
          <a:xfrm>
            <a:off x="1057275" y="4898528"/>
            <a:ext cx="45053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Ensure R² ≥ 0.99.</a:t>
            </a:r>
            <a:endParaRPr/>
          </a:p>
        </p:txBody>
      </p:sp>
      <p:sp>
        <p:nvSpPr>
          <p:cNvPr id="649" name="Google Shape;649;p50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Your Scenario</a:t>
            </a:r>
            <a:endParaRPr/>
          </a:p>
        </p:txBody>
      </p:sp>
      <p:sp>
        <p:nvSpPr>
          <p:cNvPr id="650" name="Google Shape;650;p50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5" name="Google Shape;655;p5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56" name="Google Shape;656;p51"/>
          <p:cNvGraphicFramePr/>
          <p:nvPr/>
        </p:nvGraphicFramePr>
        <p:xfrm>
          <a:off x="571500" y="2402383"/>
          <a:ext cx="11039475" cy="3358200"/>
        </p:xfrm>
        <a:graphic>
          <a:graphicData uri="http://schemas.openxmlformats.org/drawingml/2006/table">
            <a:tbl>
              <a:tblPr firstRow="1" bandRow="1">
                <a:noFill/>
                <a:tableStyleId>{1A56AFA1-4DB2-4B34-BA7C-B27E04A537C4}</a:tableStyleId>
              </a:tblPr>
              <a:tblGrid>
                <a:gridCol w="209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Step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Skill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1-2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Load and explore data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 min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Fit linear model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 min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Create calibration plot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 min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Analyze residuals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 min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6-7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Calculate unknowns &amp; Report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 min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57" name="Google Shape;657;p51"/>
          <p:cNvSpPr/>
          <p:nvPr/>
        </p:nvSpPr>
        <p:spPr>
          <a:xfrm>
            <a:off x="576262" y="2955726"/>
            <a:ext cx="20922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51"/>
          <p:cNvSpPr/>
          <p:nvPr/>
        </p:nvSpPr>
        <p:spPr>
          <a:xfrm>
            <a:off x="2668488" y="2955726"/>
            <a:ext cx="64953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51"/>
          <p:cNvSpPr/>
          <p:nvPr/>
        </p:nvSpPr>
        <p:spPr>
          <a:xfrm>
            <a:off x="9163794" y="2955726"/>
            <a:ext cx="24519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" name="Google Shape;660;p51"/>
          <p:cNvSpPr/>
          <p:nvPr/>
        </p:nvSpPr>
        <p:spPr>
          <a:xfrm>
            <a:off x="576262" y="3513832"/>
            <a:ext cx="20922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51"/>
          <p:cNvSpPr/>
          <p:nvPr/>
        </p:nvSpPr>
        <p:spPr>
          <a:xfrm>
            <a:off x="2668488" y="3513832"/>
            <a:ext cx="64953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51"/>
          <p:cNvSpPr/>
          <p:nvPr/>
        </p:nvSpPr>
        <p:spPr>
          <a:xfrm>
            <a:off x="9163794" y="3513832"/>
            <a:ext cx="24519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51"/>
          <p:cNvSpPr/>
          <p:nvPr/>
        </p:nvSpPr>
        <p:spPr>
          <a:xfrm>
            <a:off x="576262" y="4071937"/>
            <a:ext cx="20922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51"/>
          <p:cNvSpPr/>
          <p:nvPr/>
        </p:nvSpPr>
        <p:spPr>
          <a:xfrm>
            <a:off x="2668488" y="4071937"/>
            <a:ext cx="64953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51"/>
          <p:cNvSpPr/>
          <p:nvPr/>
        </p:nvSpPr>
        <p:spPr>
          <a:xfrm>
            <a:off x="9163794" y="4071937"/>
            <a:ext cx="24519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51"/>
          <p:cNvSpPr/>
          <p:nvPr/>
        </p:nvSpPr>
        <p:spPr>
          <a:xfrm>
            <a:off x="576262" y="4630042"/>
            <a:ext cx="20922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51"/>
          <p:cNvSpPr/>
          <p:nvPr/>
        </p:nvSpPr>
        <p:spPr>
          <a:xfrm>
            <a:off x="2668488" y="4630042"/>
            <a:ext cx="64953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51"/>
          <p:cNvSpPr/>
          <p:nvPr/>
        </p:nvSpPr>
        <p:spPr>
          <a:xfrm>
            <a:off x="9163794" y="4630042"/>
            <a:ext cx="24519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51"/>
          <p:cNvSpPr/>
          <p:nvPr/>
        </p:nvSpPr>
        <p:spPr>
          <a:xfrm>
            <a:off x="576262" y="5188148"/>
            <a:ext cx="20922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51"/>
          <p:cNvSpPr/>
          <p:nvPr/>
        </p:nvSpPr>
        <p:spPr>
          <a:xfrm>
            <a:off x="2668488" y="5188148"/>
            <a:ext cx="64953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51"/>
          <p:cNvSpPr/>
          <p:nvPr/>
        </p:nvSpPr>
        <p:spPr>
          <a:xfrm>
            <a:off x="9163794" y="5188148"/>
            <a:ext cx="24519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51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What You'll Practice</a:t>
            </a:r>
            <a:endParaRPr/>
          </a:p>
        </p:txBody>
      </p:sp>
      <p:sp>
        <p:nvSpPr>
          <p:cNvPr id="673" name="Google Shape;673;p51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8" name="Google Shape;678;p5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52"/>
          <p:cNvSpPr txBox="1"/>
          <p:nvPr/>
        </p:nvSpPr>
        <p:spPr>
          <a:xfrm>
            <a:off x="571500" y="2905125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Load Data</a:t>
            </a:r>
            <a:endParaRPr/>
          </a:p>
        </p:txBody>
      </p:sp>
      <p:sp>
        <p:nvSpPr>
          <p:cNvPr id="680" name="Google Shape;680;p52"/>
          <p:cNvSpPr txBox="1"/>
          <p:nvPr/>
        </p:nvSpPr>
        <p:spPr>
          <a:xfrm>
            <a:off x="6334125" y="2905125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Visualize</a:t>
            </a:r>
            <a:endParaRPr/>
          </a:p>
        </p:txBody>
      </p:sp>
      <p:sp>
        <p:nvSpPr>
          <p:cNvPr id="681" name="Google Shape;681;p52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Steps 1-2: Load and Visualize</a:t>
            </a:r>
            <a:endParaRPr/>
          </a:p>
        </p:txBody>
      </p:sp>
      <p:sp>
        <p:nvSpPr>
          <p:cNvPr id="682" name="Google Shape;682;p52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7" name="Google Shape;687;p5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53"/>
          <p:cNvSpPr txBox="1"/>
          <p:nvPr/>
        </p:nvSpPr>
        <p:spPr>
          <a:xfrm>
            <a:off x="571500" y="3019425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The Magic Line</a:t>
            </a:r>
            <a:endParaRPr/>
          </a:p>
        </p:txBody>
      </p:sp>
      <p:sp>
        <p:nvSpPr>
          <p:cNvPr id="689" name="Google Shape;689;p53"/>
          <p:cNvSpPr txBox="1"/>
          <p:nvPr/>
        </p:nvSpPr>
        <p:spPr>
          <a:xfrm>
            <a:off x="6334125" y="3133725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Extract Parameters</a:t>
            </a:r>
            <a:endParaRPr/>
          </a:p>
        </p:txBody>
      </p:sp>
      <p:sp>
        <p:nvSpPr>
          <p:cNvPr id="690" name="Google Shape;690;p53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Step 3: Fit Linear Model</a:t>
            </a:r>
            <a:endParaRPr/>
          </a:p>
        </p:txBody>
      </p:sp>
      <p:sp>
        <p:nvSpPr>
          <p:cNvPr id="691" name="Google Shape;691;p53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6" name="Google Shape;696;p5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7" name="Google Shape;697;p5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52750"/>
            <a:ext cx="5286375" cy="2066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8" name="Google Shape;698;p5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724150"/>
            <a:ext cx="5286375" cy="2524125"/>
          </a:xfrm>
          <a:prstGeom prst="rect">
            <a:avLst/>
          </a:prstGeom>
          <a:noFill/>
          <a:ln>
            <a:noFill/>
          </a:ln>
        </p:spPr>
      </p:pic>
      <p:sp>
        <p:nvSpPr>
          <p:cNvPr id="699" name="Google Shape;699;p54"/>
          <p:cNvSpPr txBox="1"/>
          <p:nvPr/>
        </p:nvSpPr>
        <p:spPr>
          <a:xfrm>
            <a:off x="866775" y="3248025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Base R</a:t>
            </a:r>
            <a:endParaRPr/>
          </a:p>
        </p:txBody>
      </p:sp>
      <p:sp>
        <p:nvSpPr>
          <p:cNvPr id="700" name="Google Shape;700;p54"/>
          <p:cNvSpPr txBox="1"/>
          <p:nvPr/>
        </p:nvSpPr>
        <p:spPr>
          <a:xfrm>
            <a:off x="6629400" y="3019425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ggplot2 (Publication Quality)</a:t>
            </a:r>
            <a:endParaRPr/>
          </a:p>
        </p:txBody>
      </p:sp>
      <p:sp>
        <p:nvSpPr>
          <p:cNvPr id="701" name="Google Shape;701;p54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Step 4: Calibration Plot</a:t>
            </a:r>
            <a:endParaRPr/>
          </a:p>
        </p:txBody>
      </p:sp>
      <p:sp>
        <p:nvSpPr>
          <p:cNvPr id="702" name="Google Shape;702;p54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7" name="Google Shape;707;p5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8" name="Google Shape;708;p55"/>
          <p:cNvSpPr txBox="1"/>
          <p:nvPr/>
        </p:nvSpPr>
        <p:spPr>
          <a:xfrm>
            <a:off x="571500" y="3016746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Why?</a:t>
            </a:r>
            <a:endParaRPr/>
          </a:p>
        </p:txBody>
      </p:sp>
      <p:sp>
        <p:nvSpPr>
          <p:cNvPr id="709" name="Google Shape;709;p55"/>
          <p:cNvSpPr txBox="1"/>
          <p:nvPr/>
        </p:nvSpPr>
        <p:spPr>
          <a:xfrm>
            <a:off x="571500" y="3607296"/>
            <a:ext cx="5286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Residuals reveal problems R² misses:</a:t>
            </a:r>
            <a:endParaRPr/>
          </a:p>
        </p:txBody>
      </p:sp>
      <p:sp>
        <p:nvSpPr>
          <p:cNvPr id="710" name="Google Shape;710;p55"/>
          <p:cNvSpPr txBox="1"/>
          <p:nvPr/>
        </p:nvSpPr>
        <p:spPr>
          <a:xfrm>
            <a:off x="6334125" y="2966144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Code</a:t>
            </a:r>
            <a:endParaRPr/>
          </a:p>
        </p:txBody>
      </p:sp>
      <p:sp>
        <p:nvSpPr>
          <p:cNvPr id="711" name="Google Shape;711;p55"/>
          <p:cNvSpPr txBox="1"/>
          <p:nvPr/>
        </p:nvSpPr>
        <p:spPr>
          <a:xfrm>
            <a:off x="6334125" y="4556819"/>
            <a:ext cx="52863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Goal: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Random scatter around zero.</a:t>
            </a:r>
            <a:endParaRPr/>
          </a:p>
        </p:txBody>
      </p:sp>
      <p:sp>
        <p:nvSpPr>
          <p:cNvPr id="712" name="Google Shape;712;p55"/>
          <p:cNvSpPr txBox="1"/>
          <p:nvPr/>
        </p:nvSpPr>
        <p:spPr>
          <a:xfrm>
            <a:off x="638175" y="4057709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713" name="Google Shape;713;p55"/>
          <p:cNvSpPr txBox="1"/>
          <p:nvPr/>
        </p:nvSpPr>
        <p:spPr>
          <a:xfrm>
            <a:off x="762000" y="4056757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Curvature = Non-linearity</a:t>
            </a:r>
            <a:endParaRPr/>
          </a:p>
        </p:txBody>
      </p:sp>
      <p:sp>
        <p:nvSpPr>
          <p:cNvPr id="714" name="Google Shape;714;p55"/>
          <p:cNvSpPr txBox="1"/>
          <p:nvPr/>
        </p:nvSpPr>
        <p:spPr>
          <a:xfrm>
            <a:off x="638175" y="4507170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715" name="Google Shape;715;p55"/>
          <p:cNvSpPr txBox="1"/>
          <p:nvPr/>
        </p:nvSpPr>
        <p:spPr>
          <a:xfrm>
            <a:off x="762000" y="4506217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Funnel = Unequal variance</a:t>
            </a:r>
            <a:endParaRPr/>
          </a:p>
        </p:txBody>
      </p:sp>
      <p:sp>
        <p:nvSpPr>
          <p:cNvPr id="716" name="Google Shape;716;p55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Step 5: Check Residuals</a:t>
            </a:r>
            <a:endParaRPr/>
          </a:p>
        </p:txBody>
      </p:sp>
      <p:sp>
        <p:nvSpPr>
          <p:cNvPr id="717" name="Google Shape;717;p55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2" name="Google Shape;722;p5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3" name="Google Shape;723;p5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07419"/>
            <a:ext cx="5286375" cy="1157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724" name="Google Shape;724;p5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724150"/>
            <a:ext cx="5286375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25" name="Google Shape;725;p5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3702694"/>
            <a:ext cx="4695825" cy="567035"/>
          </a:xfrm>
          <a:prstGeom prst="rect">
            <a:avLst/>
          </a:prstGeom>
          <a:noFill/>
          <a:ln>
            <a:noFill/>
          </a:ln>
        </p:spPr>
      </p:pic>
      <p:sp>
        <p:nvSpPr>
          <p:cNvPr id="726" name="Google Shape;726;p56"/>
          <p:cNvSpPr txBox="1"/>
          <p:nvPr/>
        </p:nvSpPr>
        <p:spPr>
          <a:xfrm>
            <a:off x="6629400" y="3019425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Calculation</a:t>
            </a:r>
            <a:endParaRPr/>
          </a:p>
        </p:txBody>
      </p:sp>
      <p:sp>
        <p:nvSpPr>
          <p:cNvPr id="727" name="Google Shape;727;p56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Step 6: Predict Unknowns</a:t>
            </a:r>
            <a:endParaRPr/>
          </a:p>
        </p:txBody>
      </p:sp>
      <p:sp>
        <p:nvSpPr>
          <p:cNvPr id="728" name="Google Shape;728;p56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5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4" name="Google Shape;734;p5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668190"/>
            <a:ext cx="5286375" cy="2636043"/>
          </a:xfrm>
          <a:prstGeom prst="rect">
            <a:avLst/>
          </a:prstGeom>
          <a:noFill/>
          <a:ln>
            <a:noFill/>
          </a:ln>
        </p:spPr>
      </p:pic>
      <p:sp>
        <p:nvSpPr>
          <p:cNvPr id="735" name="Google Shape;735;p57"/>
          <p:cNvSpPr txBox="1"/>
          <p:nvPr/>
        </p:nvSpPr>
        <p:spPr>
          <a:xfrm>
            <a:off x="571500" y="2825353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Checklist</a:t>
            </a:r>
            <a:endParaRPr/>
          </a:p>
        </p:txBody>
      </p:sp>
      <p:sp>
        <p:nvSpPr>
          <p:cNvPr id="736" name="Google Shape;736;p57"/>
          <p:cNvSpPr txBox="1"/>
          <p:nvPr/>
        </p:nvSpPr>
        <p:spPr>
          <a:xfrm>
            <a:off x="6629400" y="2963465"/>
            <a:ext cx="493061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Example Conclusion</a:t>
            </a:r>
            <a:endParaRPr/>
          </a:p>
        </p:txBody>
      </p:sp>
      <p:sp>
        <p:nvSpPr>
          <p:cNvPr id="737" name="Google Shape;737;p57"/>
          <p:cNvSpPr txBox="1"/>
          <p:nvPr/>
        </p:nvSpPr>
        <p:spPr>
          <a:xfrm>
            <a:off x="6629400" y="3554015"/>
            <a:ext cx="4695825" cy="1340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1E3A8A"/>
                </a:solidFill>
                <a:latin typeface="Fira Code"/>
                <a:ea typeface="Fira Code"/>
                <a:cs typeface="Fira Code"/>
                <a:sym typeface="Fira Code"/>
              </a:rPr>
              <a:t>"Linearity verification PASSED. R² = 0.9987 exceeds acceptance criterion of 0.99. Assay is acceptable for clinical use."</a:t>
            </a:r>
            <a:endParaRPr/>
          </a:p>
        </p:txBody>
      </p:sp>
      <p:sp>
        <p:nvSpPr>
          <p:cNvPr id="738" name="Google Shape;738;p57"/>
          <p:cNvSpPr txBox="1"/>
          <p:nvPr/>
        </p:nvSpPr>
        <p:spPr>
          <a:xfrm>
            <a:off x="638175" y="3350180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739" name="Google Shape;739;p57"/>
          <p:cNvSpPr txBox="1"/>
          <p:nvPr/>
        </p:nvSpPr>
        <p:spPr>
          <a:xfrm>
            <a:off x="762000" y="3349228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Date and Analyst</a:t>
            </a:r>
            <a:endParaRPr/>
          </a:p>
        </p:txBody>
      </p:sp>
      <p:sp>
        <p:nvSpPr>
          <p:cNvPr id="740" name="Google Shape;740;p57"/>
          <p:cNvSpPr txBox="1"/>
          <p:nvPr/>
        </p:nvSpPr>
        <p:spPr>
          <a:xfrm>
            <a:off x="638175" y="3799641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741" name="Google Shape;741;p57"/>
          <p:cNvSpPr txBox="1"/>
          <p:nvPr/>
        </p:nvSpPr>
        <p:spPr>
          <a:xfrm>
            <a:off x="762000" y="3798689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Calibration Equation</a:t>
            </a:r>
            <a:endParaRPr/>
          </a:p>
        </p:txBody>
      </p:sp>
      <p:sp>
        <p:nvSpPr>
          <p:cNvPr id="742" name="Google Shape;742;p57"/>
          <p:cNvSpPr txBox="1"/>
          <p:nvPr/>
        </p:nvSpPr>
        <p:spPr>
          <a:xfrm>
            <a:off x="638175" y="4249102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743" name="Google Shape;743;p57"/>
          <p:cNvSpPr txBox="1"/>
          <p:nvPr/>
        </p:nvSpPr>
        <p:spPr>
          <a:xfrm>
            <a:off x="762000" y="4248150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R² Value (Pass/Fail)</a:t>
            </a:r>
            <a:endParaRPr/>
          </a:p>
        </p:txBody>
      </p:sp>
      <p:sp>
        <p:nvSpPr>
          <p:cNvPr id="744" name="Google Shape;744;p57"/>
          <p:cNvSpPr txBox="1"/>
          <p:nvPr/>
        </p:nvSpPr>
        <p:spPr>
          <a:xfrm>
            <a:off x="638175" y="4698563"/>
            <a:ext cx="123825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745" name="Google Shape;745;p57"/>
          <p:cNvSpPr txBox="1"/>
          <p:nvPr/>
        </p:nvSpPr>
        <p:spPr>
          <a:xfrm>
            <a:off x="762000" y="4697610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Conclusion</a:t>
            </a:r>
            <a:endParaRPr/>
          </a:p>
        </p:txBody>
      </p:sp>
      <p:sp>
        <p:nvSpPr>
          <p:cNvPr id="746" name="Google Shape;746;p57"/>
          <p:cNvSpPr txBox="1"/>
          <p:nvPr/>
        </p:nvSpPr>
        <p:spPr>
          <a:xfrm>
            <a:off x="571500" y="571500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Step 7: Verification Report</a:t>
            </a:r>
            <a:endParaRPr/>
          </a:p>
        </p:txBody>
      </p:sp>
      <p:sp>
        <p:nvSpPr>
          <p:cNvPr id="747" name="Google Shape;747;p57"/>
          <p:cNvSpPr/>
          <p:nvPr/>
        </p:nvSpPr>
        <p:spPr>
          <a:xfrm>
            <a:off x="571500" y="128587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2" name="Google Shape;752;p5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3" name="Google Shape;753;p5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57637" y="2126902"/>
            <a:ext cx="4276725" cy="2604045"/>
          </a:xfrm>
          <a:prstGeom prst="rect">
            <a:avLst/>
          </a:prstGeom>
          <a:noFill/>
          <a:ln>
            <a:noFill/>
          </a:ln>
        </p:spPr>
      </p:pic>
      <p:sp>
        <p:nvSpPr>
          <p:cNvPr id="754" name="Google Shape;754;p58"/>
          <p:cNvSpPr txBox="1"/>
          <p:nvPr/>
        </p:nvSpPr>
        <p:spPr>
          <a:xfrm>
            <a:off x="4470796" y="2717452"/>
            <a:ext cx="3250406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1E3A8A"/>
                </a:solidFill>
                <a:latin typeface="Merriweather"/>
                <a:ea typeface="Merriweather"/>
                <a:cs typeface="Merriweather"/>
                <a:sym typeface="Merriweather"/>
              </a:rPr>
              <a:t>Questions?</a:t>
            </a:r>
            <a:endParaRPr/>
          </a:p>
        </p:txBody>
      </p:sp>
      <p:sp>
        <p:nvSpPr>
          <p:cNvPr id="755" name="Google Shape;755;p58"/>
          <p:cNvSpPr txBox="1"/>
          <p:nvPr/>
        </p:nvSpPr>
        <p:spPr>
          <a:xfrm>
            <a:off x="4548187" y="3660427"/>
            <a:ext cx="3095625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Session 6 Complete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1459</Words>
  <Application>Microsoft Macintosh PowerPoint</Application>
  <PresentationFormat>Widescreen</PresentationFormat>
  <Paragraphs>356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Lato</vt:lpstr>
      <vt:lpstr>Arial</vt:lpstr>
      <vt:lpstr>Fira Code</vt:lpstr>
      <vt:lpstr>Times New Roman</vt:lpstr>
      <vt:lpstr>Lato Light</vt:lpstr>
      <vt:lpstr>Merriweather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Haogao Gu</cp:lastModifiedBy>
  <cp:revision>21</cp:revision>
  <dcterms:modified xsi:type="dcterms:W3CDTF">2026-01-21T04:43:30Z</dcterms:modified>
</cp:coreProperties>
</file>