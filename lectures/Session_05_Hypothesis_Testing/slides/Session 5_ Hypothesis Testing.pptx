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embeddedFontLst>
    <p:embeddedFont>
      <p:font typeface="Fira Code SemiBold" panose="020B0809050000020004" pitchFamily="49" charset="0"/>
      <p:regular r:id="rId42"/>
      <p:bold r:id="rId43"/>
    </p:embeddedFont>
    <p:embeddedFont>
      <p:font typeface="Lato" panose="020F0502020204030203" pitchFamily="34" charset="0"/>
      <p:regular r:id="rId44"/>
      <p:bold r:id="rId45"/>
      <p:italic r:id="rId46"/>
      <p:boldItalic r:id="rId47"/>
    </p:embeddedFont>
    <p:embeddedFont>
      <p:font typeface="Lato Black" panose="020F0502020204030204" pitchFamily="34" charset="0"/>
      <p:regular r:id="rId48"/>
      <p:bold r:id="rId49"/>
      <p:italic r:id="rId50"/>
      <p:boldItalic r:id="rId51"/>
    </p:embeddedFont>
    <p:embeddedFont>
      <p:font typeface="Lato Light" panose="020F0302020204030204" pitchFamily="34" charset="0"/>
      <p:regular r:id="rId52"/>
      <p:bold r:id="rId53"/>
      <p:italic r:id="rId54"/>
      <p:boldItalic r:id="rId55"/>
    </p:embeddedFont>
    <p:embeddedFont>
      <p:font typeface="Merriweather" pitchFamily="2" charset="77"/>
      <p:regular r:id="rId56"/>
      <p:bold r:id="rId57"/>
      <p:italic r:id="rId58"/>
      <p:boldItalic r:id="rId5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54D86CB-3F18-4DA1-9DA3-9E1FC2750E91}">
  <a:tblStyle styleId="{E54D86CB-3F18-4DA1-9DA3-9E1FC2750E9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10"/>
    <p:restoredTop sz="94658"/>
  </p:normalViewPr>
  <p:slideViewPr>
    <p:cSldViewPr snapToGrid="0">
      <p:cViewPr varScale="1">
        <p:scale>
          <a:sx n="109" d="100"/>
          <a:sy n="109" d="100"/>
        </p:scale>
        <p:origin x="200" y="4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55" Type="http://schemas.openxmlformats.org/officeDocument/2006/relationships/font" Target="fonts/font14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openxmlformats.org/officeDocument/2006/relationships/font" Target="fonts/font12.fntdata"/><Relationship Id="rId58" Type="http://schemas.openxmlformats.org/officeDocument/2006/relationships/font" Target="fonts/font17.fntdata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56" Type="http://schemas.openxmlformats.org/officeDocument/2006/relationships/font" Target="fonts/font15.fntdata"/><Relationship Id="rId8" Type="http://schemas.openxmlformats.org/officeDocument/2006/relationships/slide" Target="slides/slide7.xml"/><Relationship Id="rId51" Type="http://schemas.openxmlformats.org/officeDocument/2006/relationships/font" Target="fonts/font1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59" Type="http://schemas.openxmlformats.org/officeDocument/2006/relationships/font" Target="fonts/font18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54" Type="http://schemas.openxmlformats.org/officeDocument/2006/relationships/font" Target="fonts/font13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Relationship Id="rId57" Type="http://schemas.openxmlformats.org/officeDocument/2006/relationships/font" Target="fonts/font1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font" Target="fonts/font11.fntdata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205037" y="1653629"/>
            <a:ext cx="77819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MODULE 3: PROGRAMMING FOR BIOLOGICAL DATA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010489" y="2087909"/>
            <a:ext cx="8171021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Hypothesis Testing in the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 Clinical Laboratory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619750" y="3897659"/>
            <a:ext cx="9525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205037" y="4221509"/>
            <a:ext cx="77819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Lato Light"/>
                <a:ea typeface="Lato Light"/>
                <a:cs typeface="Lato Light"/>
                <a:sym typeface="Lato Light"/>
              </a:rPr>
              <a:t>Session 5: T-tests, Normality, and P-values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205037" y="4968180"/>
            <a:ext cx="77819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Instructor: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Dr. Haogao Gu |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Date: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January 19,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00300"/>
            <a:ext cx="2547937" cy="310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2400300"/>
            <a:ext cx="2547937" cy="310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2400300"/>
            <a:ext cx="2547937" cy="310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72562" y="2400300"/>
            <a:ext cx="2547937" cy="31051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817840" y="3333750"/>
            <a:ext cx="205525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Distribution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66775" y="3867150"/>
            <a:ext cx="1957387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Understand the Normal Distribution and its critical role in reference intervals.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3651527" y="3333750"/>
            <a:ext cx="205525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Normality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3700462" y="3867150"/>
            <a:ext cx="1957387" cy="122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Test data for normality using shapiro.test() and Q-Q plots.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485215" y="3333750"/>
            <a:ext cx="205525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T-Tests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534150" y="3867150"/>
            <a:ext cx="195738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Perform one-sample, paired, and two-sample t-tests in R.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318902" y="3333750"/>
            <a:ext cx="205525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Interpretation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367837" y="3867150"/>
            <a:ext cx="1957387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Interpret p-values correctly in clinical decision-making contexts.</a:t>
            </a:r>
            <a:endParaRPr/>
          </a:p>
        </p:txBody>
      </p:sp>
      <p:pic>
        <p:nvPicPr>
          <p:cNvPr id="107" name="Google Shape;107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54968" y="27146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88656" y="27146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274718" y="271462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203656" y="2714625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Learning Objectives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86062"/>
            <a:ext cx="5286375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876550"/>
            <a:ext cx="5286375" cy="2152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866775" y="3081337"/>
            <a:ext cx="493061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The Questions We Ask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629400" y="3039541"/>
            <a:ext cx="4930616" cy="607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The Objective Answer</a:t>
            </a:r>
            <a:endParaRPr dirty="0"/>
          </a:p>
        </p:txBody>
      </p:sp>
      <p:sp>
        <p:nvSpPr>
          <p:cNvPr id="122" name="Google Shape;122;p15"/>
          <p:cNvSpPr txBox="1"/>
          <p:nvPr/>
        </p:nvSpPr>
        <p:spPr>
          <a:xfrm>
            <a:off x="6629400" y="3352468"/>
            <a:ext cx="4695825" cy="1619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Hypothesis testing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provides a rigorous statistical framework to answer these questions objectively, moving beyond "it looks different" to "it is statistically different."</a:t>
            </a:r>
            <a:endParaRPr dirty="0"/>
          </a:p>
        </p:txBody>
      </p:sp>
      <p:sp>
        <p:nvSpPr>
          <p:cNvPr id="123" name="Google Shape;123;p15"/>
          <p:cNvSpPr txBox="1"/>
          <p:nvPr/>
        </p:nvSpPr>
        <p:spPr>
          <a:xfrm>
            <a:off x="866775" y="3567112"/>
            <a:ext cx="4695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Is this new reagent lot equivalent to the old one?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66775" y="3986212"/>
            <a:ext cx="4695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Is our analyzer calibrated correctly?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66775" y="4405312"/>
            <a:ext cx="4695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 viral loads differ between patient groups?</a:t>
            </a:r>
            <a:endParaRPr/>
          </a:p>
        </p:txBody>
      </p:sp>
      <p:pic>
        <p:nvPicPr>
          <p:cNvPr id="126" name="Google Shape;12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36290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40481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446722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Why Hypothesis Testing?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95412" y="2026890"/>
            <a:ext cx="9401175" cy="280407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1780460" y="2617440"/>
            <a:ext cx="8631078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Part 1: The Normal Distribution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985962" y="3512790"/>
            <a:ext cx="82200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Foundations of Clinical Statistics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985962" y="4068960"/>
            <a:ext cx="82200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Duration: 40 minutes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2705100" y="2555676"/>
            <a:ext cx="78105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Normal (Gaussian) Distribution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is the foundation of many laboratory practices.</a:t>
            </a:r>
            <a:endParaRPr dirty="0"/>
          </a:p>
        </p:txBody>
      </p:sp>
      <p:graphicFrame>
        <p:nvGraphicFramePr>
          <p:cNvPr id="146" name="Google Shape;146;p17"/>
          <p:cNvGraphicFramePr/>
          <p:nvPr/>
        </p:nvGraphicFramePr>
        <p:xfrm>
          <a:off x="571500" y="3165276"/>
          <a:ext cx="11049000" cy="2375300"/>
        </p:xfrm>
        <a:graphic>
          <a:graphicData uri="http://schemas.openxmlformats.org/drawingml/2006/table">
            <a:tbl>
              <a:tblPr firstRow="1" bandRow="1">
                <a:noFill/>
                <a:tableStyleId>{E54D86CB-3F18-4DA1-9DA3-9E1FC2750E91}</a:tableStyleId>
              </a:tblPr>
              <a:tblGrid>
                <a:gridCol w="2074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7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3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Application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How Normal Distribution is Used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Reference Intervals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The standard "Mean ± 2SD" calculation covers 95% of a healthy population only if the data is normally distributed.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Quality Control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Levey-Jennings charts rely on the assumption that control values follow a normal distribution.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Statistical Tests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Most parametric tests (like t-tests and ANOVA) assume normality to be valid.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7" name="Google Shape;147;p17"/>
          <p:cNvSpPr/>
          <p:nvPr/>
        </p:nvSpPr>
        <p:spPr>
          <a:xfrm>
            <a:off x="571500" y="3747194"/>
            <a:ext cx="20749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2646461" y="3747194"/>
            <a:ext cx="89740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571500" y="4343400"/>
            <a:ext cx="20749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2646461" y="4343400"/>
            <a:ext cx="89740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571500" y="4939605"/>
            <a:ext cx="20749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2646461" y="4939605"/>
            <a:ext cx="89740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Why "Normal" Matters in the Lab</a:t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571500" y="2847975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Visualizing Hemoglobin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571500" y="338137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Imagine measuring hemoglobin in 1000 healthy adults:</a:t>
            </a:r>
            <a:endParaRPr/>
          </a:p>
        </p:txBody>
      </p:sp>
      <p:pic>
        <p:nvPicPr>
          <p:cNvPr id="163" name="Google Shape;16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647700" y="38004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762000" y="3800475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Most values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cluster around the center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(the mean).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47700" y="42195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762000" y="4219575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Fewer values exist at the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extremes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(very low or very high).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647700" y="46386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762000" y="4638675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shape is perfectly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symmetric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The Bell Curve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86062"/>
            <a:ext cx="5286375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676525"/>
            <a:ext cx="5286375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3552825"/>
            <a:ext cx="4695825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866775" y="3081337"/>
            <a:ext cx="493061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Standard Deviation Rules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6512004" y="2971800"/>
            <a:ext cx="493061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Clinical Application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629400" y="4514850"/>
            <a:ext cx="4695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This captures the central 95% of the healthy population.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942975" y="35671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1057275" y="3567112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Mean ± 1SD: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Covers ~68% of values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942975" y="39862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1057275" y="3986212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Mean ± 2SD: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Covers ~95% of values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942975" y="44053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1057275" y="4405312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Mean ± 3SD: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Covers ~99.7% of values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Key Properties</a:t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Visualizing the Normal Distribution in R</a:t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14587"/>
            <a:ext cx="5286375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333625"/>
            <a:ext cx="5286375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3657600"/>
            <a:ext cx="4695825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866775" y="2709862"/>
            <a:ext cx="493061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R Code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6629400" y="2628900"/>
            <a:ext cx="493061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Expected Output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6629400" y="3162300"/>
            <a:ext cx="4695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Based on our simulated data (Mean=14, SD=1.5):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6629400" y="4552950"/>
            <a:ext cx="46958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This interval would theoretically contain 95% of healthy individuals.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6867525" y="3857625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Reference Interval: 11.0 - 17.0 g/dL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Calculating Reference Intervals</a:t>
            </a:r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 txBox="1"/>
          <p:nvPr/>
        </p:nvSpPr>
        <p:spPr>
          <a:xfrm>
            <a:off x="2290762" y="2844254"/>
            <a:ext cx="833034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Before using parametric tests (like t-tests), you must verify your data is approximately normal.</a:t>
            </a:r>
            <a:endParaRPr dirty="0"/>
          </a:p>
        </p:txBody>
      </p:sp>
      <p:graphicFrame>
        <p:nvGraphicFramePr>
          <p:cNvPr id="221" name="Google Shape;221;p22"/>
          <p:cNvGraphicFramePr/>
          <p:nvPr/>
        </p:nvGraphicFramePr>
        <p:xfrm>
          <a:off x="571500" y="3453854"/>
          <a:ext cx="11049000" cy="1798125"/>
        </p:xfrm>
        <a:graphic>
          <a:graphicData uri="http://schemas.openxmlformats.org/drawingml/2006/table">
            <a:tbl>
              <a:tblPr firstRow="1" bandRow="1">
                <a:noFill/>
                <a:tableStyleId>{E54D86CB-3F18-4DA1-9DA3-9E1FC2750E91}</a:tableStyleId>
              </a:tblPr>
              <a:tblGrid>
                <a:gridCol w="2049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7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9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Method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Tool in 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What to look for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9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Q-Q Plot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Visual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qqnorm</a:t>
                      </a:r>
                      <a:r>
                        <a:rPr lang="en-US" sz="1200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(), </a:t>
                      </a:r>
                      <a:r>
                        <a:rPr lang="en-US" sz="1200" b="0" i="0" u="none" strike="noStrike" cap="none" dirty="0" err="1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qqline</a:t>
                      </a:r>
                      <a:r>
                        <a:rPr lang="en-US" sz="1200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Points falling along the diagonal line.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Shapiro-Wilk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Statistical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shapiro.test()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P-value &gt; 0.05 (Fail to reject null).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2" name="Google Shape;222;p22"/>
          <p:cNvSpPr/>
          <p:nvPr/>
        </p:nvSpPr>
        <p:spPr>
          <a:xfrm>
            <a:off x="571500" y="4035772"/>
            <a:ext cx="20492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2620714" y="4035772"/>
            <a:ext cx="16622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4282975" y="4035772"/>
            <a:ext cx="3066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7349728" y="4035772"/>
            <a:ext cx="42707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571500" y="4641502"/>
            <a:ext cx="20492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2620714" y="4641502"/>
            <a:ext cx="16622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4282975" y="4641502"/>
            <a:ext cx="3066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7349728" y="4641502"/>
            <a:ext cx="42707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Testing for Normality</a:t>
            </a:r>
            <a:endParaRPr/>
          </a:p>
        </p:txBody>
      </p:sp>
      <p:sp>
        <p:nvSpPr>
          <p:cNvPr id="231" name="Google Shape;231;p22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 txBox="1"/>
          <p:nvPr/>
        </p:nvSpPr>
        <p:spPr>
          <a:xfrm>
            <a:off x="571500" y="2752725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How to Read It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571500" y="328612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Q-Q (Quantile-Quantile) plot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compares your data against a theoretical normal distribution.</a:t>
            </a:r>
            <a:endParaRPr/>
          </a:p>
        </p:txBody>
      </p:sp>
      <p:pic>
        <p:nvPicPr>
          <p:cNvPr id="240" name="Google Shape;24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3"/>
          <p:cNvSpPr txBox="1"/>
          <p:nvPr/>
        </p:nvSpPr>
        <p:spPr>
          <a:xfrm>
            <a:off x="762000" y="4010025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Normal: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Points follow the straight diagonal line closely.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762000" y="4429125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Skewed/Non-normal: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Points curve away from the line (S-shape or banana shape).</a:t>
            </a:r>
            <a:endParaRPr/>
          </a:p>
        </p:txBody>
      </p:sp>
      <p:pic>
        <p:nvPicPr>
          <p:cNvPr id="243" name="Google Shape;243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0719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449103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3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Q-Q Plot: Visual Normality Check</a:t>
            </a:r>
            <a:endParaRPr/>
          </a:p>
        </p:txBody>
      </p:sp>
      <p:sp>
        <p:nvSpPr>
          <p:cNvPr id="246" name="Google Shape;246;p23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4"/>
          <p:cNvSpPr txBox="1"/>
          <p:nvPr/>
        </p:nvSpPr>
        <p:spPr>
          <a:xfrm>
            <a:off x="571500" y="2509837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Code</a:t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6334125" y="3076575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Visual Inspection</a:t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6334125" y="360997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code on the left generates two plots side-by-side.</a:t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6334125" y="410527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Notice how the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Normal Data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hugs the red line, while the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Skewed Data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(exponential distribution) deviates significantly at the ends.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Live Demo: Q-Q Plots in R</a:t>
            </a:r>
            <a:endParaRPr/>
          </a:p>
        </p:txBody>
      </p:sp>
      <p:sp>
        <p:nvSpPr>
          <p:cNvPr id="257" name="Google Shape;257;p24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95612"/>
            <a:ext cx="5286375" cy="191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471737"/>
            <a:ext cx="5286375" cy="296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4148137"/>
            <a:ext cx="4695825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5"/>
          <p:cNvSpPr txBox="1"/>
          <p:nvPr/>
        </p:nvSpPr>
        <p:spPr>
          <a:xfrm>
            <a:off x="866775" y="3290887"/>
            <a:ext cx="493061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The Hypothesis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6629400" y="2767012"/>
            <a:ext cx="493061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Interpretation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942975" y="37766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69" name="Google Shape;269;p25"/>
          <p:cNvSpPr txBox="1"/>
          <p:nvPr/>
        </p:nvSpPr>
        <p:spPr>
          <a:xfrm>
            <a:off x="1057275" y="3776662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H₀ (Null):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Data is normally distributed.</a:t>
            </a:r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942975" y="41957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1057275" y="4195762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H₁ (Alternative):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Data is NOT normally distributed.</a:t>
            </a:r>
            <a:endParaRPr/>
          </a:p>
        </p:txBody>
      </p:sp>
      <p:sp>
        <p:nvSpPr>
          <p:cNvPr id="272" name="Google Shape;272;p25"/>
          <p:cNvSpPr txBox="1"/>
          <p:nvPr/>
        </p:nvSpPr>
        <p:spPr>
          <a:xfrm>
            <a:off x="6867525" y="4338637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3A8A"/>
                </a:solidFill>
                <a:latin typeface="Lato Black"/>
                <a:ea typeface="Lato Black"/>
                <a:cs typeface="Lato Black"/>
                <a:sym typeface="Lato Black"/>
              </a:rPr>
              <a:t>p ≥ 0.05:</a:t>
            </a:r>
            <a:r>
              <a:rPr lang="en-US" sz="1500" b="0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 Fail to reject H₀ → Data may be normal.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6867525" y="4643437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3A8A"/>
                </a:solidFill>
                <a:latin typeface="Lato Black"/>
                <a:ea typeface="Lato Black"/>
                <a:cs typeface="Lato Black"/>
                <a:sym typeface="Lato Black"/>
              </a:rPr>
              <a:t>p &lt; 0.05:</a:t>
            </a:r>
            <a:r>
              <a:rPr lang="en-US" sz="1500" b="0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 Reject H₀ → Data is NOT normal.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Shapiro-Wilk Test</a:t>
            </a:r>
            <a:endParaRPr/>
          </a:p>
        </p:txBody>
      </p:sp>
      <p:sp>
        <p:nvSpPr>
          <p:cNvPr id="275" name="Google Shape;275;p25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05062"/>
            <a:ext cx="3492549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05062"/>
            <a:ext cx="3492549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05062"/>
            <a:ext cx="3492549" cy="30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6"/>
          <p:cNvSpPr txBox="1"/>
          <p:nvPr/>
        </p:nvSpPr>
        <p:spPr>
          <a:xfrm>
            <a:off x="866775" y="2700337"/>
            <a:ext cx="2901999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EA5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285" name="Google Shape;285;p26"/>
          <p:cNvSpPr txBox="1"/>
          <p:nvPr/>
        </p:nvSpPr>
        <p:spPr>
          <a:xfrm>
            <a:off x="794225" y="3338512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Test First</a:t>
            </a:r>
            <a:endParaRPr/>
          </a:p>
        </p:txBody>
      </p:sp>
      <p:sp>
        <p:nvSpPr>
          <p:cNvPr id="286" name="Google Shape;286;p26"/>
          <p:cNvSpPr txBox="1"/>
          <p:nvPr/>
        </p:nvSpPr>
        <p:spPr>
          <a:xfrm>
            <a:off x="866775" y="3871912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Always test reference population data for normality before calculating intervals.</a:t>
            </a:r>
            <a:endParaRPr/>
          </a:p>
        </p:txBody>
      </p:sp>
      <p:sp>
        <p:nvSpPr>
          <p:cNvPr id="287" name="Google Shape;287;p26"/>
          <p:cNvSpPr txBox="1"/>
          <p:nvPr/>
        </p:nvSpPr>
        <p:spPr>
          <a:xfrm>
            <a:off x="4645074" y="2700337"/>
            <a:ext cx="2901999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EA5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288" name="Google Shape;288;p26"/>
          <p:cNvSpPr txBox="1"/>
          <p:nvPr/>
        </p:nvSpPr>
        <p:spPr>
          <a:xfrm>
            <a:off x="4572524" y="3338512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Non-Parametric</a:t>
            </a:r>
            <a:endParaRPr/>
          </a:p>
        </p:txBody>
      </p:sp>
      <p:sp>
        <p:nvSpPr>
          <p:cNvPr id="289" name="Google Shape;289;p26"/>
          <p:cNvSpPr txBox="1"/>
          <p:nvPr/>
        </p:nvSpPr>
        <p:spPr>
          <a:xfrm>
            <a:off x="4645074" y="3871912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If data is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not normal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(and cannot be transformed), use non-parametric methods (percentiles) instead of Mean ± 2SD.</a:t>
            </a:r>
            <a:endParaRPr/>
          </a:p>
        </p:txBody>
      </p:sp>
      <p:sp>
        <p:nvSpPr>
          <p:cNvPr id="290" name="Google Shape;290;p26"/>
          <p:cNvSpPr txBox="1"/>
          <p:nvPr/>
        </p:nvSpPr>
        <p:spPr>
          <a:xfrm>
            <a:off x="8423374" y="2700337"/>
            <a:ext cx="2901999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EA5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291" name="Google Shape;291;p26"/>
          <p:cNvSpPr txBox="1"/>
          <p:nvPr/>
        </p:nvSpPr>
        <p:spPr>
          <a:xfrm>
            <a:off x="8350824" y="3338512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Transform</a:t>
            </a:r>
            <a:endParaRPr/>
          </a:p>
        </p:txBody>
      </p:sp>
      <p:sp>
        <p:nvSpPr>
          <p:cNvPr id="292" name="Google Shape;292;p26"/>
          <p:cNvSpPr txBox="1"/>
          <p:nvPr/>
        </p:nvSpPr>
        <p:spPr>
          <a:xfrm>
            <a:off x="8423374" y="3871912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Consider data transformation (e.g., Log10) to normalize skewed distributions like viral loads.</a:t>
            </a:r>
            <a:endParaRPr/>
          </a:p>
        </p:txBody>
      </p:sp>
      <p:sp>
        <p:nvSpPr>
          <p:cNvPr id="293" name="Google Shape;293;p26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Clinical Relevance: CLSI C28-A3</a:t>
            </a:r>
            <a:endParaRPr/>
          </a:p>
        </p:txBody>
      </p:sp>
      <p:sp>
        <p:nvSpPr>
          <p:cNvPr id="294" name="Google Shape;294;p26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7"/>
          <p:cNvSpPr txBox="1"/>
          <p:nvPr/>
        </p:nvSpPr>
        <p:spPr>
          <a:xfrm>
            <a:off x="571500" y="298608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Viral loads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are typically right-skewed. Log-transformation often normalizes them, allowing the use of parametric tests.</a:t>
            </a:r>
            <a:endParaRPr/>
          </a:p>
        </p:txBody>
      </p:sp>
      <p:pic>
        <p:nvPicPr>
          <p:cNvPr id="302" name="Google Shape;302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7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Log Transformation for Skewed Data</a:t>
            </a:r>
            <a:endParaRPr/>
          </a:p>
        </p:txBody>
      </p:sp>
      <p:sp>
        <p:nvSpPr>
          <p:cNvPr id="304" name="Google Shape;304;p27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7237" y="2026890"/>
            <a:ext cx="10677525" cy="280407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8"/>
          <p:cNvSpPr txBox="1"/>
          <p:nvPr/>
        </p:nvSpPr>
        <p:spPr>
          <a:xfrm>
            <a:off x="1110376" y="2617440"/>
            <a:ext cx="9971246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Part 2: T-Tests — Comparing Means</a:t>
            </a:r>
            <a:endParaRPr/>
          </a:p>
        </p:txBody>
      </p:sp>
      <p:sp>
        <p:nvSpPr>
          <p:cNvPr id="312" name="Google Shape;312;p28"/>
          <p:cNvSpPr txBox="1"/>
          <p:nvPr/>
        </p:nvSpPr>
        <p:spPr>
          <a:xfrm>
            <a:off x="1347787" y="3512790"/>
            <a:ext cx="94964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Statistical Comparisons in the Lab</a:t>
            </a:r>
            <a:endParaRPr/>
          </a:p>
        </p:txBody>
      </p:sp>
      <p:sp>
        <p:nvSpPr>
          <p:cNvPr id="313" name="Google Shape;313;p28"/>
          <p:cNvSpPr txBox="1"/>
          <p:nvPr/>
        </p:nvSpPr>
        <p:spPr>
          <a:xfrm>
            <a:off x="1347787" y="4068960"/>
            <a:ext cx="94964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Duration: 40 minutes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9" name="Google Shape;319;p29"/>
          <p:cNvGraphicFramePr/>
          <p:nvPr/>
        </p:nvGraphicFramePr>
        <p:xfrm>
          <a:off x="571500" y="2562373"/>
          <a:ext cx="11049000" cy="2971500"/>
        </p:xfrm>
        <a:graphic>
          <a:graphicData uri="http://schemas.openxmlformats.org/drawingml/2006/table">
            <a:tbl>
              <a:tblPr firstRow="1" bandRow="1">
                <a:noFill/>
                <a:tableStyleId>{E54D86CB-3F18-4DA1-9DA3-9E1FC2750E91}</a:tableStyleId>
              </a:tblPr>
              <a:tblGrid>
                <a:gridCol w="390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Courtroom Concept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Hypothesis Testing Equivalent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Innocent until proven guilty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H₀: No difference</a:t>
                      </a: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(Null Hypothesis is assumed true initially)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Evidence must be convincing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P-value</a:t>
                      </a: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measures the strength of evidence against H₀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"Beyond reasonable doubt"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 &lt; 0.05</a:t>
                      </a: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→ Reject H₀ (Statistically Significant)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"Not enough evidence" ≠ Innocent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 ≥ 0.05</a:t>
                      </a: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→ Fail to reject H₀ (Not proven equal, just no difference found)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0" name="Google Shape;320;p29"/>
          <p:cNvSpPr/>
          <p:nvPr/>
        </p:nvSpPr>
        <p:spPr>
          <a:xfrm>
            <a:off x="571500" y="3144291"/>
            <a:ext cx="39067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9"/>
          <p:cNvSpPr/>
          <p:nvPr/>
        </p:nvSpPr>
        <p:spPr>
          <a:xfrm>
            <a:off x="4478238" y="3144291"/>
            <a:ext cx="71422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9"/>
          <p:cNvSpPr/>
          <p:nvPr/>
        </p:nvSpPr>
        <p:spPr>
          <a:xfrm>
            <a:off x="571500" y="3740497"/>
            <a:ext cx="39067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9"/>
          <p:cNvSpPr/>
          <p:nvPr/>
        </p:nvSpPr>
        <p:spPr>
          <a:xfrm>
            <a:off x="4478238" y="3740497"/>
            <a:ext cx="71422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9"/>
          <p:cNvSpPr/>
          <p:nvPr/>
        </p:nvSpPr>
        <p:spPr>
          <a:xfrm>
            <a:off x="571500" y="4336702"/>
            <a:ext cx="39067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9"/>
          <p:cNvSpPr/>
          <p:nvPr/>
        </p:nvSpPr>
        <p:spPr>
          <a:xfrm>
            <a:off x="4478238" y="4336702"/>
            <a:ext cx="71422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9"/>
          <p:cNvSpPr/>
          <p:nvPr/>
        </p:nvSpPr>
        <p:spPr>
          <a:xfrm>
            <a:off x="571500" y="4932908"/>
            <a:ext cx="39067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9"/>
          <p:cNvSpPr/>
          <p:nvPr/>
        </p:nvSpPr>
        <p:spPr>
          <a:xfrm>
            <a:off x="4478238" y="4932908"/>
            <a:ext cx="71422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9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The Logic: A Courtroom Analogy</a:t>
            </a:r>
            <a:endParaRPr/>
          </a:p>
        </p:txBody>
      </p:sp>
      <p:sp>
        <p:nvSpPr>
          <p:cNvPr id="329" name="Google Shape;329;p29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47020"/>
            <a:ext cx="5286375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547020"/>
            <a:ext cx="5286375" cy="2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0"/>
          <p:cNvSpPr txBox="1"/>
          <p:nvPr/>
        </p:nvSpPr>
        <p:spPr>
          <a:xfrm>
            <a:off x="1809750" y="2320379"/>
            <a:ext cx="85725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"The probability of obtaining results at least as extreme as the observed results, </a:t>
            </a:r>
            <a:r>
              <a:rPr lang="en-US" sz="1800" b="0" i="1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assuming that the null hypothesis is correct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."</a:t>
            </a:r>
            <a:endParaRPr/>
          </a:p>
        </p:txBody>
      </p:sp>
      <p:sp>
        <p:nvSpPr>
          <p:cNvPr id="338" name="Google Shape;338;p30"/>
          <p:cNvSpPr txBox="1"/>
          <p:nvPr/>
        </p:nvSpPr>
        <p:spPr>
          <a:xfrm>
            <a:off x="749379" y="3842295"/>
            <a:ext cx="4930616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F4444"/>
                </a:solidFill>
                <a:latin typeface="Merriweather"/>
                <a:ea typeface="Merriweather"/>
                <a:cs typeface="Merriweather"/>
                <a:sym typeface="Merriweather"/>
              </a:rPr>
              <a:t>p &lt; 0.05</a:t>
            </a:r>
            <a:endParaRPr/>
          </a:p>
        </p:txBody>
      </p:sp>
      <p:sp>
        <p:nvSpPr>
          <p:cNvPr id="339" name="Google Shape;339;p30"/>
          <p:cNvSpPr txBox="1"/>
          <p:nvPr/>
        </p:nvSpPr>
        <p:spPr>
          <a:xfrm>
            <a:off x="866775" y="4604295"/>
            <a:ext cx="4695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Statistically Significant</a:t>
            </a:r>
            <a:endParaRPr/>
          </a:p>
        </p:txBody>
      </p:sp>
      <p:sp>
        <p:nvSpPr>
          <p:cNvPr id="340" name="Google Shape;340;p30"/>
          <p:cNvSpPr txBox="1"/>
          <p:nvPr/>
        </p:nvSpPr>
        <p:spPr>
          <a:xfrm>
            <a:off x="866775" y="5099595"/>
            <a:ext cx="4695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Strong evidence against H₀.</a:t>
            </a:r>
            <a:endParaRPr/>
          </a:p>
        </p:txBody>
      </p:sp>
      <p:sp>
        <p:nvSpPr>
          <p:cNvPr id="341" name="Google Shape;341;p30"/>
          <p:cNvSpPr txBox="1"/>
          <p:nvPr/>
        </p:nvSpPr>
        <p:spPr>
          <a:xfrm>
            <a:off x="6512004" y="3842295"/>
            <a:ext cx="4930616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B82F6"/>
                </a:solidFill>
                <a:latin typeface="Merriweather"/>
                <a:ea typeface="Merriweather"/>
                <a:cs typeface="Merriweather"/>
                <a:sym typeface="Merriweather"/>
              </a:rPr>
              <a:t>p ≥ 0.05</a:t>
            </a:r>
            <a:endParaRPr/>
          </a:p>
        </p:txBody>
      </p:sp>
      <p:sp>
        <p:nvSpPr>
          <p:cNvPr id="342" name="Google Shape;342;p30"/>
          <p:cNvSpPr txBox="1"/>
          <p:nvPr/>
        </p:nvSpPr>
        <p:spPr>
          <a:xfrm>
            <a:off x="6629400" y="4604295"/>
            <a:ext cx="4695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Not Significant</a:t>
            </a:r>
            <a:endParaRPr/>
          </a:p>
        </p:txBody>
      </p:sp>
      <p:sp>
        <p:nvSpPr>
          <p:cNvPr id="343" name="Google Shape;343;p30"/>
          <p:cNvSpPr txBox="1"/>
          <p:nvPr/>
        </p:nvSpPr>
        <p:spPr>
          <a:xfrm>
            <a:off x="6629400" y="5099595"/>
            <a:ext cx="4695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Insufficient evidence to reject H₀.</a:t>
            </a:r>
            <a:endParaRPr/>
          </a:p>
        </p:txBody>
      </p:sp>
      <p:sp>
        <p:nvSpPr>
          <p:cNvPr id="344" name="Google Shape;344;p30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Understanding the P-value</a:t>
            </a:r>
            <a:endParaRPr/>
          </a:p>
        </p:txBody>
      </p:sp>
      <p:sp>
        <p:nvSpPr>
          <p:cNvPr id="345" name="Google Shape;345;p30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1" name="Google Shape;351;p31"/>
          <p:cNvGraphicFramePr/>
          <p:nvPr/>
        </p:nvGraphicFramePr>
        <p:xfrm>
          <a:off x="571500" y="2846189"/>
          <a:ext cx="11049000" cy="2403900"/>
        </p:xfrm>
        <a:graphic>
          <a:graphicData uri="http://schemas.openxmlformats.org/drawingml/2006/table">
            <a:tbl>
              <a:tblPr firstRow="1" bandRow="1">
                <a:noFill/>
                <a:tableStyleId>{E54D86CB-3F18-4DA1-9DA3-9E1FC2750E91}</a:tableStyleId>
              </a:tblPr>
              <a:tblGrid>
                <a:gridCol w="561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9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2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Scenario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Test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 Function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Compare a sample mean to a </a:t>
                      </a: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known standard/target</a:t>
                      </a: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One-sample t-test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t.test(x, mu = value)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Compare </a:t>
                      </a: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same subjects</a:t>
                      </a: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under two conditions (e.g., Method A vs B).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Paired t-test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t.test(x, y, paired = TRUE)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Compare </a:t>
                      </a: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two independent groups</a:t>
                      </a: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(e.g., Delta vs Omicron patients).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Two-sample t-test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t.test(x, y)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2" name="Google Shape;352;p31"/>
          <p:cNvSpPr/>
          <p:nvPr/>
        </p:nvSpPr>
        <p:spPr>
          <a:xfrm>
            <a:off x="571500" y="3428107"/>
            <a:ext cx="56175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1"/>
          <p:cNvSpPr/>
          <p:nvPr/>
        </p:nvSpPr>
        <p:spPr>
          <a:xfrm>
            <a:off x="6189017" y="3428107"/>
            <a:ext cx="19490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1"/>
          <p:cNvSpPr/>
          <p:nvPr/>
        </p:nvSpPr>
        <p:spPr>
          <a:xfrm>
            <a:off x="8138070" y="3428107"/>
            <a:ext cx="34824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1"/>
          <p:cNvSpPr/>
          <p:nvPr/>
        </p:nvSpPr>
        <p:spPr>
          <a:xfrm>
            <a:off x="571500" y="4033837"/>
            <a:ext cx="56175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1"/>
          <p:cNvSpPr/>
          <p:nvPr/>
        </p:nvSpPr>
        <p:spPr>
          <a:xfrm>
            <a:off x="6189017" y="4033837"/>
            <a:ext cx="19490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1"/>
          <p:cNvSpPr/>
          <p:nvPr/>
        </p:nvSpPr>
        <p:spPr>
          <a:xfrm>
            <a:off x="8138070" y="4033837"/>
            <a:ext cx="34824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1"/>
          <p:cNvSpPr/>
          <p:nvPr/>
        </p:nvSpPr>
        <p:spPr>
          <a:xfrm>
            <a:off x="571500" y="4639567"/>
            <a:ext cx="56175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1"/>
          <p:cNvSpPr/>
          <p:nvPr/>
        </p:nvSpPr>
        <p:spPr>
          <a:xfrm>
            <a:off x="6189017" y="4639567"/>
            <a:ext cx="19490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1"/>
          <p:cNvSpPr/>
          <p:nvPr/>
        </p:nvSpPr>
        <p:spPr>
          <a:xfrm>
            <a:off x="8138070" y="4639567"/>
            <a:ext cx="34824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1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Which T-Test to Use?</a:t>
            </a:r>
            <a:endParaRPr/>
          </a:p>
        </p:txBody>
      </p:sp>
      <p:sp>
        <p:nvSpPr>
          <p:cNvPr id="362" name="Google Shape;362;p31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62250"/>
            <a:ext cx="5286375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686050"/>
            <a:ext cx="5286375" cy="253365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2"/>
          <p:cNvSpPr txBox="1"/>
          <p:nvPr/>
        </p:nvSpPr>
        <p:spPr>
          <a:xfrm>
            <a:off x="866775" y="3057525"/>
            <a:ext cx="493061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Clinical Scenario</a:t>
            </a:r>
            <a:endParaRPr/>
          </a:p>
        </p:txBody>
      </p:sp>
      <p:sp>
        <p:nvSpPr>
          <p:cNvPr id="371" name="Google Shape;371;p32"/>
          <p:cNvSpPr txBox="1"/>
          <p:nvPr/>
        </p:nvSpPr>
        <p:spPr>
          <a:xfrm>
            <a:off x="866775" y="3590925"/>
            <a:ext cx="4695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You receive a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new lot of QC material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372" name="Google Shape;372;p32"/>
          <p:cNvSpPr txBox="1"/>
          <p:nvPr/>
        </p:nvSpPr>
        <p:spPr>
          <a:xfrm>
            <a:off x="6629400" y="2981325"/>
            <a:ext cx="493061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The Question</a:t>
            </a:r>
            <a:endParaRPr/>
          </a:p>
        </p:txBody>
      </p:sp>
      <p:sp>
        <p:nvSpPr>
          <p:cNvPr id="373" name="Google Shape;373;p32"/>
          <p:cNvSpPr txBox="1"/>
          <p:nvPr/>
        </p:nvSpPr>
        <p:spPr>
          <a:xfrm>
            <a:off x="6629400" y="3514725"/>
            <a:ext cx="4695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Does your analyzer measure at the target?</a:t>
            </a:r>
            <a:endParaRPr/>
          </a:p>
        </p:txBody>
      </p:sp>
      <p:sp>
        <p:nvSpPr>
          <p:cNvPr id="374" name="Google Shape;374;p32"/>
          <p:cNvSpPr txBox="1"/>
          <p:nvPr/>
        </p:nvSpPr>
        <p:spPr>
          <a:xfrm>
            <a:off x="6629400" y="4010025"/>
            <a:ext cx="4695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H₀: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Mean = 100 mg/dL</a:t>
            </a:r>
            <a:endParaRPr/>
          </a:p>
        </p:txBody>
      </p:sp>
      <p:sp>
        <p:nvSpPr>
          <p:cNvPr id="375" name="Google Shape;375;p32"/>
          <p:cNvSpPr txBox="1"/>
          <p:nvPr/>
        </p:nvSpPr>
        <p:spPr>
          <a:xfrm>
            <a:off x="6629400" y="4505325"/>
            <a:ext cx="4695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H₁: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Mean ≠ 100 mg/dL</a:t>
            </a:r>
            <a:endParaRPr/>
          </a:p>
        </p:txBody>
      </p:sp>
      <p:sp>
        <p:nvSpPr>
          <p:cNvPr id="376" name="Google Shape;376;p32"/>
          <p:cNvSpPr txBox="1"/>
          <p:nvPr/>
        </p:nvSpPr>
        <p:spPr>
          <a:xfrm>
            <a:off x="942975" y="40100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77" name="Google Shape;377;p32"/>
          <p:cNvSpPr txBox="1"/>
          <p:nvPr/>
        </p:nvSpPr>
        <p:spPr>
          <a:xfrm>
            <a:off x="1057275" y="4010025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Manufacturer states target glucose =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100 mg/dL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378" name="Google Shape;378;p32"/>
          <p:cNvSpPr txBox="1"/>
          <p:nvPr/>
        </p:nvSpPr>
        <p:spPr>
          <a:xfrm>
            <a:off x="942975" y="44291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79" name="Google Shape;379;p32"/>
          <p:cNvSpPr txBox="1"/>
          <p:nvPr/>
        </p:nvSpPr>
        <p:spPr>
          <a:xfrm>
            <a:off x="1057275" y="4429125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You run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20 replicates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on your analyzer.</a:t>
            </a:r>
            <a:endParaRPr/>
          </a:p>
        </p:txBody>
      </p:sp>
      <p:sp>
        <p:nvSpPr>
          <p:cNvPr id="380" name="Google Shape;380;p3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Scenario 1: One-Sample T-Test</a:t>
            </a:r>
            <a:endParaRPr/>
          </a:p>
        </p:txBody>
      </p:sp>
      <p:sp>
        <p:nvSpPr>
          <p:cNvPr id="381" name="Google Shape;381;p32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3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One-Sample T-Test in R</a:t>
            </a:r>
            <a:endParaRPr/>
          </a:p>
        </p:txBody>
      </p:sp>
      <p:sp>
        <p:nvSpPr>
          <p:cNvPr id="388" name="Google Shape;388;p33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3"/>
          <p:cNvSpPr txBox="1"/>
          <p:nvPr/>
        </p:nvSpPr>
        <p:spPr>
          <a:xfrm>
            <a:off x="571500" y="3091102"/>
            <a:ext cx="11049000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qc_glucose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&lt;- c(101, 103, 99, 102, 100, 104, 98, 103, 101, 102, 100, 105, 99, 101, 103, 102, 100, 104, 101, 103) target &lt;- 100 # Perform t-test 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t.test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qc_glucose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mu = target) # Output: # t = 3.25, 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19, p-value = 0.004 # mean of x: 101.55 # 95% CI: [100.5, 102.3]</a:t>
            </a:r>
            <a:endParaRPr sz="3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79340"/>
            <a:ext cx="3492549" cy="2746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579340"/>
            <a:ext cx="3492549" cy="2746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579340"/>
            <a:ext cx="3492549" cy="274692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4"/>
          <p:cNvSpPr txBox="1"/>
          <p:nvPr/>
        </p:nvSpPr>
        <p:spPr>
          <a:xfrm>
            <a:off x="794225" y="2874615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P-value</a:t>
            </a:r>
            <a:endParaRPr/>
          </a:p>
        </p:txBody>
      </p:sp>
      <p:sp>
        <p:nvSpPr>
          <p:cNvPr id="399" name="Google Shape;399;p34"/>
          <p:cNvSpPr txBox="1"/>
          <p:nvPr/>
        </p:nvSpPr>
        <p:spPr>
          <a:xfrm>
            <a:off x="866775" y="3446115"/>
            <a:ext cx="2901999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0.004</a:t>
            </a:r>
            <a:endParaRPr/>
          </a:p>
        </p:txBody>
      </p:sp>
      <p:sp>
        <p:nvSpPr>
          <p:cNvPr id="400" name="Google Shape;400;p34"/>
          <p:cNvSpPr txBox="1"/>
          <p:nvPr/>
        </p:nvSpPr>
        <p:spPr>
          <a:xfrm>
            <a:off x="866775" y="400228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Since p &lt; 0.05, we reject H₀. There is a statistically significant difference.</a:t>
            </a:r>
            <a:endParaRPr/>
          </a:p>
        </p:txBody>
      </p:sp>
      <p:sp>
        <p:nvSpPr>
          <p:cNvPr id="401" name="Google Shape;401;p34"/>
          <p:cNvSpPr txBox="1"/>
          <p:nvPr/>
        </p:nvSpPr>
        <p:spPr>
          <a:xfrm>
            <a:off x="4572524" y="2874615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Mean Estimate</a:t>
            </a:r>
            <a:endParaRPr/>
          </a:p>
        </p:txBody>
      </p:sp>
      <p:sp>
        <p:nvSpPr>
          <p:cNvPr id="402" name="Google Shape;402;p34"/>
          <p:cNvSpPr txBox="1"/>
          <p:nvPr/>
        </p:nvSpPr>
        <p:spPr>
          <a:xfrm>
            <a:off x="4645074" y="3446115"/>
            <a:ext cx="2901999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101.55</a:t>
            </a:r>
            <a:endParaRPr/>
          </a:p>
        </p:txBody>
      </p:sp>
      <p:sp>
        <p:nvSpPr>
          <p:cNvPr id="403" name="Google Shape;403;p34"/>
          <p:cNvSpPr txBox="1"/>
          <p:nvPr/>
        </p:nvSpPr>
        <p:spPr>
          <a:xfrm>
            <a:off x="4645074" y="400228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Our measured mean is ~1.55 mg/dL higher than the target of 100.</a:t>
            </a:r>
            <a:endParaRPr/>
          </a:p>
        </p:txBody>
      </p:sp>
      <p:sp>
        <p:nvSpPr>
          <p:cNvPr id="404" name="Google Shape;404;p34"/>
          <p:cNvSpPr txBox="1"/>
          <p:nvPr/>
        </p:nvSpPr>
        <p:spPr>
          <a:xfrm>
            <a:off x="8350824" y="2874615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Decision</a:t>
            </a:r>
            <a:endParaRPr/>
          </a:p>
        </p:txBody>
      </p:sp>
      <p:sp>
        <p:nvSpPr>
          <p:cNvPr id="405" name="Google Shape;405;p34"/>
          <p:cNvSpPr txBox="1"/>
          <p:nvPr/>
        </p:nvSpPr>
        <p:spPr>
          <a:xfrm>
            <a:off x="8423374" y="3446115"/>
            <a:ext cx="2901999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Bias Detected</a:t>
            </a:r>
            <a:endParaRPr/>
          </a:p>
        </p:txBody>
      </p:sp>
      <p:sp>
        <p:nvSpPr>
          <p:cNvPr id="406" name="Google Shape;406;p34"/>
          <p:cNvSpPr txBox="1"/>
          <p:nvPr/>
        </p:nvSpPr>
        <p:spPr>
          <a:xfrm>
            <a:off x="8423374" y="4002285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analyzer has a significant positive bias.</a:t>
            </a:r>
            <a:endParaRPr/>
          </a:p>
        </p:txBody>
      </p:sp>
      <p:sp>
        <p:nvSpPr>
          <p:cNvPr id="407" name="Google Shape;407;p3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Interpreting the Output</a:t>
            </a:r>
            <a:endParaRPr/>
          </a:p>
        </p:txBody>
      </p:sp>
      <p:sp>
        <p:nvSpPr>
          <p:cNvPr id="408" name="Google Shape;408;p34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157537"/>
            <a:ext cx="5286375" cy="1781175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5"/>
          <p:cNvSpPr txBox="1"/>
          <p:nvPr/>
        </p:nvSpPr>
        <p:spPr>
          <a:xfrm>
            <a:off x="571500" y="2752725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The Setup</a:t>
            </a:r>
            <a:endParaRPr/>
          </a:p>
        </p:txBody>
      </p:sp>
      <p:sp>
        <p:nvSpPr>
          <p:cNvPr id="416" name="Google Shape;416;p35"/>
          <p:cNvSpPr txBox="1"/>
          <p:nvPr/>
        </p:nvSpPr>
        <p:spPr>
          <a:xfrm>
            <a:off x="571500" y="328612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Validating a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new reagent (Method B)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against the current one (Method A).</a:t>
            </a:r>
            <a:endParaRPr/>
          </a:p>
        </p:txBody>
      </p:sp>
      <p:sp>
        <p:nvSpPr>
          <p:cNvPr id="417" name="Google Shape;417;p35"/>
          <p:cNvSpPr txBox="1"/>
          <p:nvPr/>
        </p:nvSpPr>
        <p:spPr>
          <a:xfrm>
            <a:off x="6572250" y="3348037"/>
            <a:ext cx="510063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Why "Paired"?</a:t>
            </a:r>
            <a:endParaRPr/>
          </a:p>
        </p:txBody>
      </p:sp>
      <p:sp>
        <p:nvSpPr>
          <p:cNvPr id="418" name="Google Shape;418;p35"/>
          <p:cNvSpPr txBox="1"/>
          <p:nvPr/>
        </p:nvSpPr>
        <p:spPr>
          <a:xfrm>
            <a:off x="6572250" y="38338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We analyze the </a:t>
            </a:r>
            <a:r>
              <a:rPr lang="en-US" sz="1500" b="0" i="0" u="none" strike="noStrike" cap="none">
                <a:solidFill>
                  <a:srgbClr val="1E3A8A"/>
                </a:solidFill>
                <a:latin typeface="Lato Black"/>
                <a:ea typeface="Lato Black"/>
                <a:cs typeface="Lato Black"/>
                <a:sym typeface="Lato Black"/>
              </a:rPr>
              <a:t>differences</a:t>
            </a:r>
            <a:r>
              <a:rPr lang="en-US" sz="1500" b="0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 (A - B) for each patient.</a:t>
            </a:r>
            <a:endParaRPr/>
          </a:p>
        </p:txBody>
      </p:sp>
      <p:sp>
        <p:nvSpPr>
          <p:cNvPr id="419" name="Google Shape;419;p35"/>
          <p:cNvSpPr txBox="1"/>
          <p:nvPr/>
        </p:nvSpPr>
        <p:spPr>
          <a:xfrm>
            <a:off x="6572250" y="41386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If Mean Difference ≈ 0 → Methods are equivalent.</a:t>
            </a:r>
            <a:endParaRPr/>
          </a:p>
        </p:txBody>
      </p:sp>
      <p:sp>
        <p:nvSpPr>
          <p:cNvPr id="420" name="Google Shape;420;p35"/>
          <p:cNvSpPr txBox="1"/>
          <p:nvPr/>
        </p:nvSpPr>
        <p:spPr>
          <a:xfrm>
            <a:off x="6572250" y="44434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If Mean Difference ≠ 0 → Systematic bias exists.</a:t>
            </a:r>
            <a:endParaRPr/>
          </a:p>
        </p:txBody>
      </p:sp>
      <p:sp>
        <p:nvSpPr>
          <p:cNvPr id="421" name="Google Shape;421;p35"/>
          <p:cNvSpPr txBox="1"/>
          <p:nvPr/>
        </p:nvSpPr>
        <p:spPr>
          <a:xfrm>
            <a:off x="647700" y="40100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22" name="Google Shape;422;p35"/>
          <p:cNvSpPr txBox="1"/>
          <p:nvPr/>
        </p:nvSpPr>
        <p:spPr>
          <a:xfrm>
            <a:off x="762000" y="4010025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Measure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20 patients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with BOTH methods.</a:t>
            </a:r>
            <a:endParaRPr/>
          </a:p>
        </p:txBody>
      </p:sp>
      <p:sp>
        <p:nvSpPr>
          <p:cNvPr id="423" name="Google Shape;423;p35"/>
          <p:cNvSpPr txBox="1"/>
          <p:nvPr/>
        </p:nvSpPr>
        <p:spPr>
          <a:xfrm>
            <a:off x="647700" y="44291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24" name="Google Shape;424;p35"/>
          <p:cNvSpPr txBox="1"/>
          <p:nvPr/>
        </p:nvSpPr>
        <p:spPr>
          <a:xfrm>
            <a:off x="762000" y="4429125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Samples are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paired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because measurements come from the same patient.</a:t>
            </a:r>
            <a:endParaRPr/>
          </a:p>
        </p:txBody>
      </p:sp>
      <p:sp>
        <p:nvSpPr>
          <p:cNvPr id="425" name="Google Shape;425;p3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Scenario 2: Paired T-Test (Method Comparison)</a:t>
            </a:r>
            <a:endParaRPr/>
          </a:p>
        </p:txBody>
      </p:sp>
      <p:sp>
        <p:nvSpPr>
          <p:cNvPr id="426" name="Google Shape;426;p35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Google Shape;431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36"/>
          <p:cNvSpPr txBox="1"/>
          <p:nvPr/>
        </p:nvSpPr>
        <p:spPr>
          <a:xfrm>
            <a:off x="2905124" y="5086350"/>
            <a:ext cx="76104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Result: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statistically significant bias of 1.5 mg/dL exists between the methods.</a:t>
            </a:r>
            <a:endParaRPr dirty="0"/>
          </a:p>
        </p:txBody>
      </p:sp>
      <p:sp>
        <p:nvSpPr>
          <p:cNvPr id="433" name="Google Shape;433;p36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Paired T-Test in R</a:t>
            </a:r>
            <a:endParaRPr/>
          </a:p>
        </p:txBody>
      </p:sp>
      <p:sp>
        <p:nvSpPr>
          <p:cNvPr id="434" name="Google Shape;434;p36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37"/>
          <p:cNvSpPr txBox="1"/>
          <p:nvPr/>
        </p:nvSpPr>
        <p:spPr>
          <a:xfrm>
            <a:off x="571500" y="290512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Bland-Altman (Difference) plot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is the standard for method comparison.</a:t>
            </a:r>
            <a:endParaRPr/>
          </a:p>
        </p:txBody>
      </p:sp>
      <p:pic>
        <p:nvPicPr>
          <p:cNvPr id="442" name="Google Shape;442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7"/>
          <p:cNvSpPr txBox="1"/>
          <p:nvPr/>
        </p:nvSpPr>
        <p:spPr>
          <a:xfrm>
            <a:off x="647700" y="36290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44" name="Google Shape;444;p37"/>
          <p:cNvSpPr txBox="1"/>
          <p:nvPr/>
        </p:nvSpPr>
        <p:spPr>
          <a:xfrm>
            <a:off x="762000" y="3629025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X-axis: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Mean of the two methods ((A+B)/2).</a:t>
            </a:r>
            <a:endParaRPr/>
          </a:p>
        </p:txBody>
      </p:sp>
      <p:sp>
        <p:nvSpPr>
          <p:cNvPr id="445" name="Google Shape;445;p37"/>
          <p:cNvSpPr txBox="1"/>
          <p:nvPr/>
        </p:nvSpPr>
        <p:spPr>
          <a:xfrm>
            <a:off x="647700" y="40481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46" name="Google Shape;446;p37"/>
          <p:cNvSpPr txBox="1"/>
          <p:nvPr/>
        </p:nvSpPr>
        <p:spPr>
          <a:xfrm>
            <a:off x="762000" y="4048125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Y-axis: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Difference between methods (A-B).</a:t>
            </a:r>
            <a:endParaRPr/>
          </a:p>
        </p:txBody>
      </p:sp>
      <p:sp>
        <p:nvSpPr>
          <p:cNvPr id="447" name="Google Shape;447;p37"/>
          <p:cNvSpPr txBox="1"/>
          <p:nvPr/>
        </p:nvSpPr>
        <p:spPr>
          <a:xfrm>
            <a:off x="647700" y="44672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48" name="Google Shape;448;p37"/>
          <p:cNvSpPr txBox="1"/>
          <p:nvPr/>
        </p:nvSpPr>
        <p:spPr>
          <a:xfrm>
            <a:off x="762000" y="4467225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Horizontal Lines: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Mean Bias (solid) and 95% Limits of Agreement (dashed).</a:t>
            </a:r>
            <a:endParaRPr/>
          </a:p>
        </p:txBody>
      </p:sp>
      <p:sp>
        <p:nvSpPr>
          <p:cNvPr id="449" name="Google Shape;449;p37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Visualizing Difference: Bland-Altman Plot</a:t>
            </a:r>
            <a:endParaRPr/>
          </a:p>
        </p:txBody>
      </p:sp>
      <p:sp>
        <p:nvSpPr>
          <p:cNvPr id="450" name="Google Shape;450;p37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Google Shape;455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38"/>
          <p:cNvSpPr txBox="1"/>
          <p:nvPr/>
        </p:nvSpPr>
        <p:spPr>
          <a:xfrm>
            <a:off x="571500" y="571500"/>
            <a:ext cx="5200650" cy="1019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Statistical vs. Clinical Significance</a:t>
            </a:r>
            <a:endParaRPr/>
          </a:p>
        </p:txBody>
      </p:sp>
      <p:sp>
        <p:nvSpPr>
          <p:cNvPr id="457" name="Google Shape;457;p38"/>
          <p:cNvSpPr/>
          <p:nvPr/>
        </p:nvSpPr>
        <p:spPr>
          <a:xfrm>
            <a:off x="571500" y="1704975"/>
            <a:ext cx="4953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8" name="Google Shape;458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38"/>
          <p:cNvSpPr txBox="1"/>
          <p:nvPr/>
        </p:nvSpPr>
        <p:spPr>
          <a:xfrm>
            <a:off x="1985962" y="2624137"/>
            <a:ext cx="223027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F4444"/>
                </a:solidFill>
                <a:latin typeface="Merriweather"/>
                <a:ea typeface="Merriweather"/>
                <a:cs typeface="Merriweather"/>
                <a:sym typeface="Merriweather"/>
              </a:rPr>
              <a:t>Critical Concept!</a:t>
            </a:r>
            <a:endParaRPr/>
          </a:p>
        </p:txBody>
      </p:sp>
      <p:sp>
        <p:nvSpPr>
          <p:cNvPr id="460" name="Google Shape;460;p38"/>
          <p:cNvSpPr txBox="1"/>
          <p:nvPr/>
        </p:nvSpPr>
        <p:spPr>
          <a:xfrm>
            <a:off x="828675" y="3300412"/>
            <a:ext cx="44386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Even if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 &lt; 0.05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(statistically significant), you must ask:</a:t>
            </a:r>
            <a:endParaRPr/>
          </a:p>
        </p:txBody>
      </p:sp>
      <p:sp>
        <p:nvSpPr>
          <p:cNvPr id="461" name="Google Shape;461;p38"/>
          <p:cNvSpPr txBox="1"/>
          <p:nvPr/>
        </p:nvSpPr>
        <p:spPr>
          <a:xfrm>
            <a:off x="1143000" y="3986212"/>
            <a:ext cx="4000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1" u="none" strike="noStrike" cap="non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"Is the difference clinically meaningful?" </a:t>
            </a:r>
            <a:endParaRPr/>
          </a:p>
        </p:txBody>
      </p:sp>
      <p:sp>
        <p:nvSpPr>
          <p:cNvPr id="462" name="Google Shape;462;p38"/>
          <p:cNvSpPr/>
          <p:nvPr/>
        </p:nvSpPr>
        <p:spPr>
          <a:xfrm>
            <a:off x="952500" y="3986212"/>
            <a:ext cx="38100" cy="609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8"/>
          <p:cNvSpPr txBox="1"/>
          <p:nvPr/>
        </p:nvSpPr>
        <p:spPr>
          <a:xfrm>
            <a:off x="571500" y="505301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1.5 mg/dL bias in glucose might be statistically significant but is likely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clinically irrelevant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given biological variation.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8" name="Google Shape;468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81300"/>
            <a:ext cx="5286375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214562"/>
            <a:ext cx="5286375" cy="3476625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39"/>
          <p:cNvSpPr txBox="1"/>
          <p:nvPr/>
        </p:nvSpPr>
        <p:spPr>
          <a:xfrm>
            <a:off x="866775" y="3076575"/>
            <a:ext cx="493061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The Logic</a:t>
            </a:r>
            <a:endParaRPr/>
          </a:p>
        </p:txBody>
      </p:sp>
      <p:sp>
        <p:nvSpPr>
          <p:cNvPr id="472" name="Google Shape;472;p39"/>
          <p:cNvSpPr txBox="1"/>
          <p:nvPr/>
        </p:nvSpPr>
        <p:spPr>
          <a:xfrm>
            <a:off x="866775" y="3609975"/>
            <a:ext cx="46958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Compare the observed bias against 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Total Allowable Error (TAE)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specifications.</a:t>
            </a:r>
            <a:endParaRPr dirty="0"/>
          </a:p>
        </p:txBody>
      </p:sp>
      <p:sp>
        <p:nvSpPr>
          <p:cNvPr id="473" name="Google Shape;473;p39"/>
          <p:cNvSpPr txBox="1"/>
          <p:nvPr/>
        </p:nvSpPr>
        <p:spPr>
          <a:xfrm>
            <a:off x="866775" y="4410075"/>
            <a:ext cx="4695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For Glucose, TAE is typically ±6 mg/dL or 10%.</a:t>
            </a:r>
            <a:endParaRPr/>
          </a:p>
        </p:txBody>
      </p:sp>
      <p:sp>
        <p:nvSpPr>
          <p:cNvPr id="474" name="Google Shape;474;p39"/>
          <p:cNvSpPr txBox="1"/>
          <p:nvPr/>
        </p:nvSpPr>
        <p:spPr>
          <a:xfrm>
            <a:off x="6629400" y="2509837"/>
            <a:ext cx="493061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R Implementation</a:t>
            </a:r>
            <a:endParaRPr/>
          </a:p>
        </p:txBody>
      </p:sp>
      <p:sp>
        <p:nvSpPr>
          <p:cNvPr id="475" name="Google Shape;475;p39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Making a Clinical Decision</a:t>
            </a:r>
            <a:endParaRPr/>
          </a:p>
        </p:txBody>
      </p:sp>
      <p:sp>
        <p:nvSpPr>
          <p:cNvPr id="476" name="Google Shape;476;p39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" name="Google Shape;481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40"/>
          <p:cNvSpPr txBox="1"/>
          <p:nvPr/>
        </p:nvSpPr>
        <p:spPr>
          <a:xfrm>
            <a:off x="571500" y="2905125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Clinical Scenario</a:t>
            </a:r>
            <a:endParaRPr/>
          </a:p>
        </p:txBody>
      </p:sp>
      <p:sp>
        <p:nvSpPr>
          <p:cNvPr id="484" name="Google Shape;484;p40"/>
          <p:cNvSpPr txBox="1"/>
          <p:nvPr/>
        </p:nvSpPr>
        <p:spPr>
          <a:xfrm>
            <a:off x="571500" y="343852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 COVID-19 patients infected with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Delta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variant have different viral loads than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Omicron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?</a:t>
            </a:r>
            <a:endParaRPr/>
          </a:p>
        </p:txBody>
      </p:sp>
      <p:pic>
        <p:nvPicPr>
          <p:cNvPr id="485" name="Google Shape;485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40"/>
          <p:cNvSpPr txBox="1"/>
          <p:nvPr/>
        </p:nvSpPr>
        <p:spPr>
          <a:xfrm>
            <a:off x="647700" y="41624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87" name="Google Shape;487;p40"/>
          <p:cNvSpPr txBox="1"/>
          <p:nvPr/>
        </p:nvSpPr>
        <p:spPr>
          <a:xfrm>
            <a:off x="762000" y="4162425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Two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independent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groups of patients.</a:t>
            </a:r>
            <a:endParaRPr/>
          </a:p>
        </p:txBody>
      </p:sp>
      <p:sp>
        <p:nvSpPr>
          <p:cNvPr id="488" name="Google Shape;488;p40"/>
          <p:cNvSpPr txBox="1"/>
          <p:nvPr/>
        </p:nvSpPr>
        <p:spPr>
          <a:xfrm>
            <a:off x="647700" y="45815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89" name="Google Shape;489;p40"/>
          <p:cNvSpPr txBox="1"/>
          <p:nvPr/>
        </p:nvSpPr>
        <p:spPr>
          <a:xfrm>
            <a:off x="762000" y="4581525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Different sample sizes possible.</a:t>
            </a:r>
            <a:endParaRPr/>
          </a:p>
        </p:txBody>
      </p:sp>
      <p:sp>
        <p:nvSpPr>
          <p:cNvPr id="490" name="Google Shape;490;p40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Scenario 3: Two-Sample (Independent) T-Test</a:t>
            </a:r>
            <a:endParaRPr/>
          </a:p>
        </p:txBody>
      </p:sp>
      <p:sp>
        <p:nvSpPr>
          <p:cNvPr id="491" name="Google Shape;491;p40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Google Shape;496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28987"/>
            <a:ext cx="5286375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924175"/>
            <a:ext cx="5286375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1"/>
          <p:cNvSpPr txBox="1"/>
          <p:nvPr/>
        </p:nvSpPr>
        <p:spPr>
          <a:xfrm>
            <a:off x="866775" y="3624262"/>
            <a:ext cx="493061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</a:t>
            </a:r>
            <a:endParaRPr/>
          </a:p>
        </p:txBody>
      </p:sp>
      <p:sp>
        <p:nvSpPr>
          <p:cNvPr id="500" name="Google Shape;500;p41"/>
          <p:cNvSpPr txBox="1"/>
          <p:nvPr/>
        </p:nvSpPr>
        <p:spPr>
          <a:xfrm>
            <a:off x="6629400" y="3219450"/>
            <a:ext cx="493061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Interpretation</a:t>
            </a:r>
            <a:endParaRPr/>
          </a:p>
        </p:txBody>
      </p:sp>
      <p:sp>
        <p:nvSpPr>
          <p:cNvPr id="501" name="Google Shape;501;p41"/>
          <p:cNvSpPr txBox="1"/>
          <p:nvPr/>
        </p:nvSpPr>
        <p:spPr>
          <a:xfrm>
            <a:off x="6629400" y="3752850"/>
            <a:ext cx="4695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Recall that PCR Ct values are logarithmic.</a:t>
            </a:r>
            <a:endParaRPr/>
          </a:p>
        </p:txBody>
      </p:sp>
      <p:sp>
        <p:nvSpPr>
          <p:cNvPr id="502" name="Google Shape;502;p41"/>
          <p:cNvSpPr txBox="1"/>
          <p:nvPr/>
        </p:nvSpPr>
        <p:spPr>
          <a:xfrm>
            <a:off x="6629400" y="4248150"/>
            <a:ext cx="46958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difference of ~3.3 Ct represents a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10-fold difference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 viral copies.</a:t>
            </a:r>
            <a:endParaRPr/>
          </a:p>
        </p:txBody>
      </p:sp>
      <p:sp>
        <p:nvSpPr>
          <p:cNvPr id="503" name="Google Shape;503;p41"/>
          <p:cNvSpPr txBox="1"/>
          <p:nvPr/>
        </p:nvSpPr>
        <p:spPr>
          <a:xfrm>
            <a:off x="6629400" y="5048250"/>
            <a:ext cx="46958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Conclusion: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Delta patients had significantly higher viral loads (~10x).</a:t>
            </a:r>
            <a:endParaRPr/>
          </a:p>
        </p:txBody>
      </p:sp>
      <p:sp>
        <p:nvSpPr>
          <p:cNvPr id="504" name="Google Shape;504;p41"/>
          <p:cNvSpPr txBox="1"/>
          <p:nvPr/>
        </p:nvSpPr>
        <p:spPr>
          <a:xfrm>
            <a:off x="942975" y="41100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505" name="Google Shape;505;p41"/>
          <p:cNvSpPr txBox="1"/>
          <p:nvPr/>
        </p:nvSpPr>
        <p:spPr>
          <a:xfrm>
            <a:off x="1057275" y="4110037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Delta Mean Ct: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18.6</a:t>
            </a:r>
            <a:endParaRPr/>
          </a:p>
        </p:txBody>
      </p:sp>
      <p:sp>
        <p:nvSpPr>
          <p:cNvPr id="506" name="Google Shape;506;p41"/>
          <p:cNvSpPr txBox="1"/>
          <p:nvPr/>
        </p:nvSpPr>
        <p:spPr>
          <a:xfrm>
            <a:off x="942975" y="45291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507" name="Google Shape;507;p41"/>
          <p:cNvSpPr txBox="1"/>
          <p:nvPr/>
        </p:nvSpPr>
        <p:spPr>
          <a:xfrm>
            <a:off x="1057275" y="4529137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Omicron Mean Ct: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21.8</a:t>
            </a:r>
            <a:endParaRPr/>
          </a:p>
        </p:txBody>
      </p:sp>
      <p:sp>
        <p:nvSpPr>
          <p:cNvPr id="508" name="Google Shape;508;p41"/>
          <p:cNvSpPr txBox="1"/>
          <p:nvPr/>
        </p:nvSpPr>
        <p:spPr>
          <a:xfrm>
            <a:off x="942975" y="49482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509" name="Google Shape;509;p41"/>
          <p:cNvSpPr txBox="1"/>
          <p:nvPr/>
        </p:nvSpPr>
        <p:spPr>
          <a:xfrm>
            <a:off x="1057275" y="4948237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Difference: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3.2 cycles</a:t>
            </a:r>
            <a:endParaRPr/>
          </a:p>
        </p:txBody>
      </p:sp>
      <p:sp>
        <p:nvSpPr>
          <p:cNvPr id="510" name="Google Shape;510;p41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Interpreting Variant Comparison</a:t>
            </a:r>
            <a:endParaRPr/>
          </a:p>
        </p:txBody>
      </p:sp>
      <p:sp>
        <p:nvSpPr>
          <p:cNvPr id="511" name="Google Shape;511;p41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Google Shape;516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4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57462"/>
            <a:ext cx="3492549" cy="279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4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557462"/>
            <a:ext cx="3492549" cy="279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4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557462"/>
            <a:ext cx="3492549" cy="2790825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42"/>
          <p:cNvSpPr txBox="1"/>
          <p:nvPr/>
        </p:nvSpPr>
        <p:spPr>
          <a:xfrm>
            <a:off x="866775" y="2852737"/>
            <a:ext cx="2901999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EA5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521" name="Google Shape;521;p42"/>
          <p:cNvSpPr txBox="1"/>
          <p:nvPr/>
        </p:nvSpPr>
        <p:spPr>
          <a:xfrm>
            <a:off x="794225" y="3490912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Normality</a:t>
            </a:r>
            <a:endParaRPr/>
          </a:p>
        </p:txBody>
      </p:sp>
      <p:sp>
        <p:nvSpPr>
          <p:cNvPr id="522" name="Google Shape;522;p42"/>
          <p:cNvSpPr txBox="1"/>
          <p:nvPr/>
        </p:nvSpPr>
        <p:spPr>
          <a:xfrm>
            <a:off x="866775" y="4024312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Use Shapiro-Wilk or Q-Q plots. If failed, use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Wilcoxon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(non-parametric).</a:t>
            </a:r>
            <a:endParaRPr/>
          </a:p>
        </p:txBody>
      </p:sp>
      <p:sp>
        <p:nvSpPr>
          <p:cNvPr id="523" name="Google Shape;523;p42"/>
          <p:cNvSpPr txBox="1"/>
          <p:nvPr/>
        </p:nvSpPr>
        <p:spPr>
          <a:xfrm>
            <a:off x="4645074" y="2852737"/>
            <a:ext cx="2901999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EA5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24" name="Google Shape;524;p42"/>
          <p:cNvSpPr txBox="1"/>
          <p:nvPr/>
        </p:nvSpPr>
        <p:spPr>
          <a:xfrm>
            <a:off x="4572524" y="3490912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Independence</a:t>
            </a:r>
            <a:endParaRPr/>
          </a:p>
        </p:txBody>
      </p:sp>
      <p:sp>
        <p:nvSpPr>
          <p:cNvPr id="525" name="Google Shape;525;p42"/>
          <p:cNvSpPr txBox="1"/>
          <p:nvPr/>
        </p:nvSpPr>
        <p:spPr>
          <a:xfrm>
            <a:off x="4645074" y="4024312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Samples must be independent (or properly paired for paired tests).</a:t>
            </a:r>
            <a:endParaRPr/>
          </a:p>
        </p:txBody>
      </p:sp>
      <p:sp>
        <p:nvSpPr>
          <p:cNvPr id="526" name="Google Shape;526;p42"/>
          <p:cNvSpPr txBox="1"/>
          <p:nvPr/>
        </p:nvSpPr>
        <p:spPr>
          <a:xfrm>
            <a:off x="8423374" y="2852737"/>
            <a:ext cx="2901999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EA5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527" name="Google Shape;527;p42"/>
          <p:cNvSpPr txBox="1"/>
          <p:nvPr/>
        </p:nvSpPr>
        <p:spPr>
          <a:xfrm>
            <a:off x="8350824" y="3490912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Variance</a:t>
            </a:r>
            <a:endParaRPr/>
          </a:p>
        </p:txBody>
      </p:sp>
      <p:sp>
        <p:nvSpPr>
          <p:cNvPr id="528" name="Google Shape;528;p42"/>
          <p:cNvSpPr txBox="1"/>
          <p:nvPr/>
        </p:nvSpPr>
        <p:spPr>
          <a:xfrm>
            <a:off x="8423374" y="4024312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For two-sample tests, check equal variance. If unequal, use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Welch's t-test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(default in R).</a:t>
            </a:r>
            <a:endParaRPr/>
          </a:p>
        </p:txBody>
      </p:sp>
      <p:sp>
        <p:nvSpPr>
          <p:cNvPr id="529" name="Google Shape;529;p4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Before ANY T-Test: Check Assumptions</a:t>
            </a:r>
            <a:endParaRPr/>
          </a:p>
        </p:txBody>
      </p:sp>
      <p:sp>
        <p:nvSpPr>
          <p:cNvPr id="530" name="Google Shape;530;p42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6" name="Google Shape;536;p43"/>
          <p:cNvGraphicFramePr/>
          <p:nvPr/>
        </p:nvGraphicFramePr>
        <p:xfrm>
          <a:off x="571500" y="2555676"/>
          <a:ext cx="11049000" cy="2375300"/>
        </p:xfrm>
        <a:graphic>
          <a:graphicData uri="http://schemas.openxmlformats.org/drawingml/2006/table">
            <a:tbl>
              <a:tblPr firstRow="1" bandRow="1">
                <a:noFill/>
                <a:tableStyleId>{E54D86CB-3F18-4DA1-9DA3-9E1FC2750E91}</a:tableStyleId>
              </a:tblPr>
              <a:tblGrid>
                <a:gridCol w="455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3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3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Scenario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Key Assumption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Sample vs. Known Value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One-sample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Sample is normal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Same subjects, 2 conditions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Paired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Differences are normal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Two independent groups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Two-sample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Both groups normal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7" name="Google Shape;537;p43"/>
          <p:cNvSpPr txBox="1"/>
          <p:nvPr/>
        </p:nvSpPr>
        <p:spPr>
          <a:xfrm>
            <a:off x="4852987" y="5121473"/>
            <a:ext cx="29428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Always: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Check normality first!</a:t>
            </a:r>
            <a:endParaRPr dirty="0"/>
          </a:p>
        </p:txBody>
      </p:sp>
      <p:sp>
        <p:nvSpPr>
          <p:cNvPr id="538" name="Google Shape;538;p43"/>
          <p:cNvSpPr/>
          <p:nvPr/>
        </p:nvSpPr>
        <p:spPr>
          <a:xfrm>
            <a:off x="571500" y="3137594"/>
            <a:ext cx="45507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43"/>
          <p:cNvSpPr/>
          <p:nvPr/>
        </p:nvSpPr>
        <p:spPr>
          <a:xfrm>
            <a:off x="5122217" y="3137594"/>
            <a:ext cx="25644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43"/>
          <p:cNvSpPr/>
          <p:nvPr/>
        </p:nvSpPr>
        <p:spPr>
          <a:xfrm>
            <a:off x="7686675" y="3137594"/>
            <a:ext cx="39338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43"/>
          <p:cNvSpPr/>
          <p:nvPr/>
        </p:nvSpPr>
        <p:spPr>
          <a:xfrm>
            <a:off x="571500" y="3733800"/>
            <a:ext cx="45507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43"/>
          <p:cNvSpPr/>
          <p:nvPr/>
        </p:nvSpPr>
        <p:spPr>
          <a:xfrm>
            <a:off x="5122217" y="3733800"/>
            <a:ext cx="25644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43"/>
          <p:cNvSpPr/>
          <p:nvPr/>
        </p:nvSpPr>
        <p:spPr>
          <a:xfrm>
            <a:off x="7686675" y="3733800"/>
            <a:ext cx="39338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43"/>
          <p:cNvSpPr/>
          <p:nvPr/>
        </p:nvSpPr>
        <p:spPr>
          <a:xfrm>
            <a:off x="571500" y="4330005"/>
            <a:ext cx="45507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43"/>
          <p:cNvSpPr/>
          <p:nvPr/>
        </p:nvSpPr>
        <p:spPr>
          <a:xfrm>
            <a:off x="5122217" y="4330005"/>
            <a:ext cx="25644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43"/>
          <p:cNvSpPr/>
          <p:nvPr/>
        </p:nvSpPr>
        <p:spPr>
          <a:xfrm>
            <a:off x="7686675" y="4330005"/>
            <a:ext cx="39338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43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Summary: Which T-Test?</a:t>
            </a:r>
            <a:endParaRPr/>
          </a:p>
        </p:txBody>
      </p:sp>
      <p:sp>
        <p:nvSpPr>
          <p:cNvPr id="548" name="Google Shape;548;p43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Google Shape;553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00400" y="2026890"/>
            <a:ext cx="5791200" cy="2804070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44"/>
          <p:cNvSpPr txBox="1"/>
          <p:nvPr/>
        </p:nvSpPr>
        <p:spPr>
          <a:xfrm>
            <a:off x="3675697" y="2617440"/>
            <a:ext cx="4840605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Tutorial 5</a:t>
            </a:r>
            <a:endParaRPr/>
          </a:p>
        </p:txBody>
      </p:sp>
      <p:sp>
        <p:nvSpPr>
          <p:cNvPr id="556" name="Google Shape;556;p44"/>
          <p:cNvSpPr txBox="1"/>
          <p:nvPr/>
        </p:nvSpPr>
        <p:spPr>
          <a:xfrm>
            <a:off x="3790950" y="3512790"/>
            <a:ext cx="46101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Method Validation Study: Practical Application</a:t>
            </a:r>
            <a:endParaRPr/>
          </a:p>
        </p:txBody>
      </p:sp>
      <p:sp>
        <p:nvSpPr>
          <p:cNvPr id="557" name="Google Shape;557;p44"/>
          <p:cNvSpPr txBox="1"/>
          <p:nvPr/>
        </p:nvSpPr>
        <p:spPr>
          <a:xfrm>
            <a:off x="3790949" y="4502714"/>
            <a:ext cx="46101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 your R environment</a:t>
            </a:r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4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28950"/>
            <a:ext cx="5286375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4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481262"/>
            <a:ext cx="5286375" cy="2943225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5"/>
          <p:cNvSpPr txBox="1"/>
          <p:nvPr/>
        </p:nvSpPr>
        <p:spPr>
          <a:xfrm>
            <a:off x="866775" y="3324225"/>
            <a:ext cx="493061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Role</a:t>
            </a:r>
            <a:endParaRPr/>
          </a:p>
        </p:txBody>
      </p:sp>
      <p:sp>
        <p:nvSpPr>
          <p:cNvPr id="566" name="Google Shape;566;p45"/>
          <p:cNvSpPr txBox="1"/>
          <p:nvPr/>
        </p:nvSpPr>
        <p:spPr>
          <a:xfrm>
            <a:off x="866775" y="3857625"/>
            <a:ext cx="46958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You are a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Medical Laboratory Technologist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validating a new glucose reagent lot.</a:t>
            </a:r>
            <a:endParaRPr/>
          </a:p>
        </p:txBody>
      </p:sp>
      <p:sp>
        <p:nvSpPr>
          <p:cNvPr id="567" name="Google Shape;567;p45"/>
          <p:cNvSpPr txBox="1"/>
          <p:nvPr/>
        </p:nvSpPr>
        <p:spPr>
          <a:xfrm>
            <a:off x="6629400" y="2776537"/>
            <a:ext cx="493061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Task</a:t>
            </a:r>
            <a:endParaRPr/>
          </a:p>
        </p:txBody>
      </p:sp>
      <p:sp>
        <p:nvSpPr>
          <p:cNvPr id="568" name="Google Shape;568;p45"/>
          <p:cNvSpPr txBox="1"/>
          <p:nvPr/>
        </p:nvSpPr>
        <p:spPr>
          <a:xfrm>
            <a:off x="6705600" y="32623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569" name="Google Shape;569;p45"/>
          <p:cNvSpPr txBox="1"/>
          <p:nvPr/>
        </p:nvSpPr>
        <p:spPr>
          <a:xfrm>
            <a:off x="6819900" y="3262312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20 patient samples measured by Method A (Current) and Method B (New).</a:t>
            </a:r>
            <a:endParaRPr/>
          </a:p>
        </p:txBody>
      </p:sp>
      <p:sp>
        <p:nvSpPr>
          <p:cNvPr id="570" name="Google Shape;570;p45"/>
          <p:cNvSpPr txBox="1"/>
          <p:nvPr/>
        </p:nvSpPr>
        <p:spPr>
          <a:xfrm>
            <a:off x="6705600" y="39862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571" name="Google Shape;571;p45"/>
          <p:cNvSpPr txBox="1"/>
          <p:nvPr/>
        </p:nvSpPr>
        <p:spPr>
          <a:xfrm>
            <a:off x="6819900" y="3986212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Goal: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Determine if there is systematic bias.</a:t>
            </a:r>
            <a:endParaRPr/>
          </a:p>
        </p:txBody>
      </p:sp>
      <p:sp>
        <p:nvSpPr>
          <p:cNvPr id="572" name="Google Shape;572;p45"/>
          <p:cNvSpPr txBox="1"/>
          <p:nvPr/>
        </p:nvSpPr>
        <p:spPr>
          <a:xfrm>
            <a:off x="6705600" y="44053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573" name="Google Shape;573;p45"/>
          <p:cNvSpPr txBox="1"/>
          <p:nvPr/>
        </p:nvSpPr>
        <p:spPr>
          <a:xfrm>
            <a:off x="6819900" y="4405312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Question: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"Is the new lot statistically and clinically equivalent?"</a:t>
            </a:r>
            <a:endParaRPr/>
          </a:p>
        </p:txBody>
      </p:sp>
      <p:sp>
        <p:nvSpPr>
          <p:cNvPr id="574" name="Google Shape;574;p4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Tutorial Scenario</a:t>
            </a:r>
            <a:endParaRPr/>
          </a:p>
        </p:txBody>
      </p:sp>
      <p:sp>
        <p:nvSpPr>
          <p:cNvPr id="575" name="Google Shape;575;p45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4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28950"/>
            <a:ext cx="2547937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4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3028950"/>
            <a:ext cx="2547937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4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3028950"/>
            <a:ext cx="2547937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4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72562" y="3028950"/>
            <a:ext cx="2547937" cy="18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6"/>
          <p:cNvSpPr txBox="1"/>
          <p:nvPr/>
        </p:nvSpPr>
        <p:spPr>
          <a:xfrm>
            <a:off x="817840" y="3324225"/>
            <a:ext cx="205525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Steps 1-2</a:t>
            </a:r>
            <a:endParaRPr/>
          </a:p>
        </p:txBody>
      </p:sp>
      <p:sp>
        <p:nvSpPr>
          <p:cNvPr id="586" name="Google Shape;586;p46"/>
          <p:cNvSpPr txBox="1"/>
          <p:nvPr/>
        </p:nvSpPr>
        <p:spPr>
          <a:xfrm>
            <a:off x="866775" y="3857625"/>
            <a:ext cx="195738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Load Data &amp; Calculate Differences</a:t>
            </a:r>
            <a:endParaRPr/>
          </a:p>
        </p:txBody>
      </p:sp>
      <p:sp>
        <p:nvSpPr>
          <p:cNvPr id="587" name="Google Shape;587;p46"/>
          <p:cNvSpPr txBox="1"/>
          <p:nvPr/>
        </p:nvSpPr>
        <p:spPr>
          <a:xfrm>
            <a:off x="3651527" y="3324225"/>
            <a:ext cx="205525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Step 3</a:t>
            </a:r>
            <a:endParaRPr/>
          </a:p>
        </p:txBody>
      </p:sp>
      <p:sp>
        <p:nvSpPr>
          <p:cNvPr id="588" name="Google Shape;588;p46"/>
          <p:cNvSpPr txBox="1"/>
          <p:nvPr/>
        </p:nvSpPr>
        <p:spPr>
          <a:xfrm>
            <a:off x="3700462" y="3857625"/>
            <a:ext cx="195738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Test Normality (Histogram/Shapiro)</a:t>
            </a:r>
            <a:endParaRPr/>
          </a:p>
        </p:txBody>
      </p:sp>
      <p:sp>
        <p:nvSpPr>
          <p:cNvPr id="589" name="Google Shape;589;p46"/>
          <p:cNvSpPr txBox="1"/>
          <p:nvPr/>
        </p:nvSpPr>
        <p:spPr>
          <a:xfrm>
            <a:off x="6485215" y="3324225"/>
            <a:ext cx="205525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Step 4</a:t>
            </a:r>
            <a:endParaRPr/>
          </a:p>
        </p:txBody>
      </p:sp>
      <p:sp>
        <p:nvSpPr>
          <p:cNvPr id="590" name="Google Shape;590;p46"/>
          <p:cNvSpPr txBox="1"/>
          <p:nvPr/>
        </p:nvSpPr>
        <p:spPr>
          <a:xfrm>
            <a:off x="6534150" y="3857625"/>
            <a:ext cx="19573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Perform Paired T-Test</a:t>
            </a:r>
            <a:endParaRPr/>
          </a:p>
        </p:txBody>
      </p:sp>
      <p:sp>
        <p:nvSpPr>
          <p:cNvPr id="591" name="Google Shape;591;p46"/>
          <p:cNvSpPr txBox="1"/>
          <p:nvPr/>
        </p:nvSpPr>
        <p:spPr>
          <a:xfrm>
            <a:off x="9318902" y="3324225"/>
            <a:ext cx="205525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Step 5-6</a:t>
            </a:r>
            <a:endParaRPr/>
          </a:p>
        </p:txBody>
      </p:sp>
      <p:sp>
        <p:nvSpPr>
          <p:cNvPr id="592" name="Google Shape;592;p46"/>
          <p:cNvSpPr txBox="1"/>
          <p:nvPr/>
        </p:nvSpPr>
        <p:spPr>
          <a:xfrm>
            <a:off x="9367837" y="3857625"/>
            <a:ext cx="195738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Clinical Significance &amp; Bland-Altman Plot</a:t>
            </a:r>
            <a:endParaRPr/>
          </a:p>
        </p:txBody>
      </p:sp>
      <p:sp>
        <p:nvSpPr>
          <p:cNvPr id="593" name="Google Shape;593;p46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What You'll Practice</a:t>
            </a:r>
            <a:endParaRPr/>
          </a:p>
        </p:txBody>
      </p:sp>
      <p:sp>
        <p:nvSpPr>
          <p:cNvPr id="594" name="Google Shape;594;p46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9" name="Google Shape;599;p4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47"/>
          <p:cNvSpPr txBox="1"/>
          <p:nvPr/>
        </p:nvSpPr>
        <p:spPr>
          <a:xfrm>
            <a:off x="571500" y="3009900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Load Data</a:t>
            </a:r>
            <a:endParaRPr/>
          </a:p>
        </p:txBody>
      </p:sp>
      <p:sp>
        <p:nvSpPr>
          <p:cNvPr id="601" name="Google Shape;601;p47"/>
          <p:cNvSpPr txBox="1"/>
          <p:nvPr/>
        </p:nvSpPr>
        <p:spPr>
          <a:xfrm>
            <a:off x="6334125" y="2909887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Calculate Differences</a:t>
            </a:r>
            <a:endParaRPr/>
          </a:p>
        </p:txBody>
      </p:sp>
      <p:sp>
        <p:nvSpPr>
          <p:cNvPr id="602" name="Google Shape;602;p47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Step 1 &amp; 2: Load and Difference</a:t>
            </a:r>
            <a:endParaRPr/>
          </a:p>
        </p:txBody>
      </p:sp>
      <p:sp>
        <p:nvSpPr>
          <p:cNvPr id="603" name="Google Shape;603;p47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8" name="Google Shape;608;p4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48"/>
          <p:cNvSpPr txBox="1"/>
          <p:nvPr/>
        </p:nvSpPr>
        <p:spPr>
          <a:xfrm>
            <a:off x="3411781" y="2754712"/>
            <a:ext cx="53684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Before the t-test, verify the 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differences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are normal.</a:t>
            </a:r>
            <a:endParaRPr dirty="0"/>
          </a:p>
        </p:txBody>
      </p:sp>
      <p:sp>
        <p:nvSpPr>
          <p:cNvPr id="610" name="Google Shape;610;p48"/>
          <p:cNvSpPr txBox="1"/>
          <p:nvPr/>
        </p:nvSpPr>
        <p:spPr>
          <a:xfrm>
            <a:off x="2943225" y="4891087"/>
            <a:ext cx="70448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Rule: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If p ≥ 0.05, the data is normal, and we can proceed with the paired t-test.</a:t>
            </a:r>
            <a:endParaRPr dirty="0"/>
          </a:p>
        </p:txBody>
      </p:sp>
      <p:sp>
        <p:nvSpPr>
          <p:cNvPr id="611" name="Google Shape;611;p48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Step 3: Test Normality</a:t>
            </a:r>
            <a:endParaRPr/>
          </a:p>
        </p:txBody>
      </p:sp>
      <p:sp>
        <p:nvSpPr>
          <p:cNvPr id="612" name="Google Shape;612;p48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7" name="Google Shape;617;p4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4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38537" y="3224212"/>
            <a:ext cx="5114925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49"/>
          <p:cNvSpPr txBox="1"/>
          <p:nvPr/>
        </p:nvSpPr>
        <p:spPr>
          <a:xfrm>
            <a:off x="3776662" y="3414712"/>
            <a:ext cx="492061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Find these values in output:</a:t>
            </a:r>
            <a:endParaRPr/>
          </a:p>
        </p:txBody>
      </p:sp>
      <p:sp>
        <p:nvSpPr>
          <p:cNvPr id="620" name="Google Shape;620;p49"/>
          <p:cNvSpPr txBox="1"/>
          <p:nvPr/>
        </p:nvSpPr>
        <p:spPr>
          <a:xfrm>
            <a:off x="3852862" y="39004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621" name="Google Shape;621;p49"/>
          <p:cNvSpPr txBox="1"/>
          <p:nvPr/>
        </p:nvSpPr>
        <p:spPr>
          <a:xfrm>
            <a:off x="3967162" y="3900487"/>
            <a:ext cx="520028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 statistic: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Magnitude of difference relative to variance.</a:t>
            </a:r>
            <a:endParaRPr dirty="0"/>
          </a:p>
        </p:txBody>
      </p:sp>
      <p:sp>
        <p:nvSpPr>
          <p:cNvPr id="622" name="Google Shape;622;p49"/>
          <p:cNvSpPr txBox="1"/>
          <p:nvPr/>
        </p:nvSpPr>
        <p:spPr>
          <a:xfrm>
            <a:off x="3852862" y="43195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623" name="Google Shape;623;p49"/>
          <p:cNvSpPr txBox="1"/>
          <p:nvPr/>
        </p:nvSpPr>
        <p:spPr>
          <a:xfrm>
            <a:off x="3967161" y="4319587"/>
            <a:ext cx="52940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p-value: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Significance of the difference.</a:t>
            </a:r>
            <a:endParaRPr dirty="0"/>
          </a:p>
        </p:txBody>
      </p:sp>
      <p:sp>
        <p:nvSpPr>
          <p:cNvPr id="624" name="Google Shape;624;p49"/>
          <p:cNvSpPr txBox="1"/>
          <p:nvPr/>
        </p:nvSpPr>
        <p:spPr>
          <a:xfrm>
            <a:off x="3852862" y="47386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625" name="Google Shape;625;p49"/>
          <p:cNvSpPr txBox="1"/>
          <p:nvPr/>
        </p:nvSpPr>
        <p:spPr>
          <a:xfrm>
            <a:off x="3967162" y="4738687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95% CI: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range of the true bias.</a:t>
            </a:r>
            <a:endParaRPr/>
          </a:p>
        </p:txBody>
      </p:sp>
      <p:sp>
        <p:nvSpPr>
          <p:cNvPr id="626" name="Google Shape;626;p49"/>
          <p:cNvSpPr txBox="1"/>
          <p:nvPr/>
        </p:nvSpPr>
        <p:spPr>
          <a:xfrm>
            <a:off x="3852862" y="51577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627" name="Google Shape;627;p49"/>
          <p:cNvSpPr txBox="1"/>
          <p:nvPr/>
        </p:nvSpPr>
        <p:spPr>
          <a:xfrm>
            <a:off x="3967162" y="5157787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mean of differences: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observed bias.</a:t>
            </a:r>
            <a:endParaRPr/>
          </a:p>
        </p:txBody>
      </p:sp>
      <p:sp>
        <p:nvSpPr>
          <p:cNvPr id="628" name="Google Shape;628;p49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Step 4: Perform Paired T-Test</a:t>
            </a:r>
            <a:endParaRPr/>
          </a:p>
        </p:txBody>
      </p:sp>
      <p:sp>
        <p:nvSpPr>
          <p:cNvPr id="629" name="Google Shape;629;p49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Google Shape;634;p5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50"/>
          <p:cNvSpPr txBox="1"/>
          <p:nvPr/>
        </p:nvSpPr>
        <p:spPr>
          <a:xfrm>
            <a:off x="571500" y="2909887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Check Clinical Limits</a:t>
            </a:r>
            <a:endParaRPr/>
          </a:p>
        </p:txBody>
      </p:sp>
      <p:sp>
        <p:nvSpPr>
          <p:cNvPr id="636" name="Google Shape;636;p50"/>
          <p:cNvSpPr txBox="1"/>
          <p:nvPr/>
        </p:nvSpPr>
        <p:spPr>
          <a:xfrm>
            <a:off x="6334125" y="3209925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Bland-Altman Plot</a:t>
            </a:r>
            <a:endParaRPr/>
          </a:p>
        </p:txBody>
      </p:sp>
      <p:sp>
        <p:nvSpPr>
          <p:cNvPr id="637" name="Google Shape;637;p50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Step 5 &amp; 6: Significance &amp; Plot</a:t>
            </a:r>
            <a:endParaRPr/>
          </a:p>
        </p:txBody>
      </p:sp>
      <p:sp>
        <p:nvSpPr>
          <p:cNvPr id="638" name="Google Shape;638;p50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5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5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28950" y="2209800"/>
            <a:ext cx="6134100" cy="3486150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51"/>
          <p:cNvSpPr txBox="1"/>
          <p:nvPr/>
        </p:nvSpPr>
        <p:spPr>
          <a:xfrm>
            <a:off x="3285648" y="2600325"/>
            <a:ext cx="562070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Write a 3-5 sentence summary including:</a:t>
            </a:r>
            <a:endParaRPr/>
          </a:p>
        </p:txBody>
      </p:sp>
      <p:sp>
        <p:nvSpPr>
          <p:cNvPr id="646" name="Google Shape;646;p51"/>
          <p:cNvSpPr txBox="1"/>
          <p:nvPr/>
        </p:nvSpPr>
        <p:spPr>
          <a:xfrm>
            <a:off x="3648075" y="3133725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647" name="Google Shape;647;p51"/>
          <p:cNvSpPr txBox="1"/>
          <p:nvPr/>
        </p:nvSpPr>
        <p:spPr>
          <a:xfrm>
            <a:off x="3800475" y="3133725"/>
            <a:ext cx="49720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Number of samples compared (n=20).</a:t>
            </a:r>
            <a:endParaRPr dirty="0"/>
          </a:p>
        </p:txBody>
      </p:sp>
      <p:sp>
        <p:nvSpPr>
          <p:cNvPr id="648" name="Google Shape;648;p51"/>
          <p:cNvSpPr txBox="1"/>
          <p:nvPr/>
        </p:nvSpPr>
        <p:spPr>
          <a:xfrm>
            <a:off x="3648075" y="3552825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649" name="Google Shape;649;p51"/>
          <p:cNvSpPr txBox="1"/>
          <p:nvPr/>
        </p:nvSpPr>
        <p:spPr>
          <a:xfrm>
            <a:off x="3800475" y="3552825"/>
            <a:ext cx="49720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Mean bias and direction (Method A vs B).</a:t>
            </a:r>
            <a:endParaRPr/>
          </a:p>
        </p:txBody>
      </p:sp>
      <p:sp>
        <p:nvSpPr>
          <p:cNvPr id="650" name="Google Shape;650;p51"/>
          <p:cNvSpPr txBox="1"/>
          <p:nvPr/>
        </p:nvSpPr>
        <p:spPr>
          <a:xfrm>
            <a:off x="3648075" y="3971925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/>
          </a:p>
        </p:txBody>
      </p:sp>
      <p:sp>
        <p:nvSpPr>
          <p:cNvPr id="651" name="Google Shape;651;p51"/>
          <p:cNvSpPr txBox="1"/>
          <p:nvPr/>
        </p:nvSpPr>
        <p:spPr>
          <a:xfrm>
            <a:off x="3800475" y="3971925"/>
            <a:ext cx="49720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Statistical significance (p-value).</a:t>
            </a:r>
            <a:endParaRPr/>
          </a:p>
        </p:txBody>
      </p:sp>
      <p:sp>
        <p:nvSpPr>
          <p:cNvPr id="652" name="Google Shape;652;p51"/>
          <p:cNvSpPr txBox="1"/>
          <p:nvPr/>
        </p:nvSpPr>
        <p:spPr>
          <a:xfrm>
            <a:off x="3648075" y="4391025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4.</a:t>
            </a:r>
            <a:endParaRPr/>
          </a:p>
        </p:txBody>
      </p:sp>
      <p:sp>
        <p:nvSpPr>
          <p:cNvPr id="653" name="Google Shape;653;p51"/>
          <p:cNvSpPr txBox="1"/>
          <p:nvPr/>
        </p:nvSpPr>
        <p:spPr>
          <a:xfrm>
            <a:off x="3800475" y="4391025"/>
            <a:ext cx="49720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Clinical acceptability (vs. ±6 mg/dL).</a:t>
            </a:r>
            <a:endParaRPr/>
          </a:p>
        </p:txBody>
      </p:sp>
      <p:sp>
        <p:nvSpPr>
          <p:cNvPr id="654" name="Google Shape;654;p51"/>
          <p:cNvSpPr txBox="1"/>
          <p:nvPr/>
        </p:nvSpPr>
        <p:spPr>
          <a:xfrm>
            <a:off x="3648075" y="4810125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5.</a:t>
            </a:r>
            <a:endParaRPr/>
          </a:p>
        </p:txBody>
      </p:sp>
      <p:sp>
        <p:nvSpPr>
          <p:cNvPr id="655" name="Google Shape;655;p51"/>
          <p:cNvSpPr txBox="1"/>
          <p:nvPr/>
        </p:nvSpPr>
        <p:spPr>
          <a:xfrm>
            <a:off x="3800475" y="4810125"/>
            <a:ext cx="49720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Final Recommendation: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Approve or Reject?</a:t>
            </a:r>
            <a:endParaRPr/>
          </a:p>
        </p:txBody>
      </p:sp>
      <p:sp>
        <p:nvSpPr>
          <p:cNvPr id="656" name="Google Shape;656;p51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Challenge: Validation Report</a:t>
            </a:r>
            <a:endParaRPr/>
          </a:p>
        </p:txBody>
      </p:sp>
      <p:sp>
        <p:nvSpPr>
          <p:cNvPr id="657" name="Google Shape;657;p51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1856</Words>
  <Application>Microsoft Macintosh PowerPoint</Application>
  <PresentationFormat>Widescreen</PresentationFormat>
  <Paragraphs>289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8" baseType="lpstr">
      <vt:lpstr>Lato</vt:lpstr>
      <vt:lpstr>Arial</vt:lpstr>
      <vt:lpstr>Times New Roman</vt:lpstr>
      <vt:lpstr>Lato Light</vt:lpstr>
      <vt:lpstr>Lato Black</vt:lpstr>
      <vt:lpstr>Merriweather</vt:lpstr>
      <vt:lpstr>Fira Code SemiBold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Haogao Gu</cp:lastModifiedBy>
  <cp:revision>7</cp:revision>
  <dcterms:modified xsi:type="dcterms:W3CDTF">2026-01-12T12:19:15Z</dcterms:modified>
</cp:coreProperties>
</file>